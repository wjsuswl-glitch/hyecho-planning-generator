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80" r:id="rId2"/>
    <p:sldId id="295" r:id="rId3"/>
    <p:sldId id="298" r:id="rId4"/>
    <p:sldId id="292" r:id="rId5"/>
    <p:sldId id="299" r:id="rId6"/>
    <p:sldId id="277" r:id="rId7"/>
    <p:sldId id="290" r:id="rId8"/>
  </p:sldIdLst>
  <p:sldSz cx="6858000" cy="9144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B7B953-1DF4-8E25-2FD7-461A6661F625}" name="user" initials="u" userId="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2"/>
    <a:srgbClr val="3C6C5A"/>
    <a:srgbClr val="FC4628"/>
    <a:srgbClr val="AB3A0D"/>
    <a:srgbClr val="FD917F"/>
    <a:srgbClr val="FD6D55"/>
    <a:srgbClr val="FFAF7D"/>
    <a:srgbClr val="FFF9E7"/>
    <a:srgbClr val="FFF6DD"/>
    <a:srgbClr val="F493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93972" autoAdjust="0"/>
  </p:normalViewPr>
  <p:slideViewPr>
    <p:cSldViewPr snapToGrid="0">
      <p:cViewPr>
        <p:scale>
          <a:sx n="100" d="100"/>
          <a:sy n="100" d="100"/>
        </p:scale>
        <p:origin x="2964" y="-942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E36EE-C169-4738-8BBD-EDF835D4DC0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1241425"/>
            <a:ext cx="25114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E627D-DE72-45C0-85BA-85712F07E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421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AE627D-DE72-45C0-85BA-85712F07E3A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048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E627D-DE72-45C0-85BA-85712F07E3A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269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AE627D-DE72-45C0-85BA-85712F07E3A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89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AE627D-DE72-45C0-85BA-85712F07E3A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209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AE627D-DE72-45C0-85BA-85712F07E3A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307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77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38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186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34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465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063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8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54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08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96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21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34935-3693-449D-89EB-408E2F1F230A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29397-BED7-4328-99AF-AEF774719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102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19CCB4-6339-DE16-9BC1-94F39C78FBF3}"/>
              </a:ext>
            </a:extLst>
          </p:cNvPr>
          <p:cNvSpPr/>
          <p:nvPr/>
        </p:nvSpPr>
        <p:spPr>
          <a:xfrm>
            <a:off x="0" y="-23681"/>
            <a:ext cx="6858000" cy="13657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endParaRPr lang="ko-KR" altLang="en-US" sz="2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C7D33C-BD4B-57FF-BC3A-0541C20EA232}"/>
              </a:ext>
            </a:extLst>
          </p:cNvPr>
          <p:cNvSpPr txBox="1"/>
          <p:nvPr/>
        </p:nvSpPr>
        <p:spPr>
          <a:xfrm>
            <a:off x="269168" y="230022"/>
            <a:ext cx="62828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92D050"/>
                </a:solidFill>
              </a:rPr>
              <a:t>꼭 한 번은 만나야 할 곳</a:t>
            </a:r>
            <a:endParaRPr lang="en-US" altLang="ko-KR" sz="1400" b="1" dirty="0">
              <a:solidFill>
                <a:srgbClr val="92D050"/>
              </a:solidFill>
            </a:endParaRPr>
          </a:p>
          <a:p>
            <a:pPr algn="ctr"/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[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하이킹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네팔 히말라야 자연기행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일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54CBB1-7D8A-78B5-C1F8-B0101EA09FF3}"/>
              </a:ext>
            </a:extLst>
          </p:cNvPr>
          <p:cNvSpPr/>
          <p:nvPr/>
        </p:nvSpPr>
        <p:spPr>
          <a:xfrm>
            <a:off x="4957685" y="2087563"/>
            <a:ext cx="1661555" cy="269452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지도 제작 </a:t>
            </a:r>
            <a:r>
              <a:rPr lang="en-US" altLang="ko-KR" sz="800" dirty="0">
                <a:solidFill>
                  <a:schemeClr val="tx1"/>
                </a:solidFill>
              </a:rPr>
              <a:t>– 7p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B54CBB1-7D8A-78B5-C1F8-B0101EA09FF3}"/>
              </a:ext>
            </a:extLst>
          </p:cNvPr>
          <p:cNvSpPr/>
          <p:nvPr/>
        </p:nvSpPr>
        <p:spPr>
          <a:xfrm>
            <a:off x="4685618" y="744109"/>
            <a:ext cx="2101119" cy="36003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메인 이미지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B888DF-B612-1B0F-A351-8B6CEDE4C823}"/>
              </a:ext>
            </a:extLst>
          </p:cNvPr>
          <p:cNvSpPr/>
          <p:nvPr/>
        </p:nvSpPr>
        <p:spPr>
          <a:xfrm>
            <a:off x="67937" y="1359662"/>
            <a:ext cx="6722125" cy="360336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B19E04A-F0E5-3247-766E-C82BF8C3670E}"/>
              </a:ext>
            </a:extLst>
          </p:cNvPr>
          <p:cNvSpPr/>
          <p:nvPr/>
        </p:nvSpPr>
        <p:spPr>
          <a:xfrm>
            <a:off x="-3139231" y="-33612"/>
            <a:ext cx="2768522" cy="43926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Design Direction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just"/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200" dirty="0">
                <a:solidFill>
                  <a:schemeClr val="tx1"/>
                </a:solidFill>
              </a:rPr>
              <a:t>안녕하세요</a:t>
            </a:r>
            <a:r>
              <a:rPr lang="en-US" altLang="ko-KR" sz="1200" dirty="0">
                <a:solidFill>
                  <a:schemeClr val="tx1"/>
                </a:solidFill>
              </a:rPr>
              <a:t>. </a:t>
            </a:r>
            <a:r>
              <a:rPr lang="ko-KR" altLang="en-US" sz="1200" dirty="0">
                <a:solidFill>
                  <a:schemeClr val="tx1"/>
                </a:solidFill>
              </a:rPr>
              <a:t>네팔 히말라야 자연기행 디자인 건입니다</a:t>
            </a:r>
            <a:r>
              <a:rPr lang="en-US" altLang="ko-KR" sz="1200" dirty="0">
                <a:solidFill>
                  <a:schemeClr val="tx1"/>
                </a:solidFill>
              </a:rPr>
              <a:t>..</a:t>
            </a:r>
          </a:p>
          <a:p>
            <a:pPr marL="171450" indent="-171450" algn="just">
              <a:buFontTx/>
              <a:buChar char="-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200" b="1" dirty="0" err="1">
                <a:solidFill>
                  <a:schemeClr val="tx1"/>
                </a:solidFill>
              </a:rPr>
              <a:t>톤앤매너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푸른 자연과 </a:t>
            </a:r>
            <a:r>
              <a:rPr lang="ko-KR" altLang="en-US" sz="1200" dirty="0" err="1">
                <a:solidFill>
                  <a:schemeClr val="tx1"/>
                </a:solidFill>
              </a:rPr>
              <a:t>힐링느낌을</a:t>
            </a:r>
            <a:r>
              <a:rPr lang="ko-KR" altLang="en-US" sz="1200" dirty="0">
                <a:solidFill>
                  <a:schemeClr val="tx1"/>
                </a:solidFill>
              </a:rPr>
              <a:t> 강조해 주세요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 algn="just">
              <a:buFontTx/>
              <a:buChar char="-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</a:rPr>
              <a:t>색상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푸른색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초록색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71450" indent="-171450" algn="just">
              <a:buFontTx/>
              <a:buChar char="-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200" b="1" dirty="0">
                <a:solidFill>
                  <a:schemeClr val="tx1"/>
                </a:solidFill>
              </a:rPr>
              <a:t>키워드 </a:t>
            </a:r>
            <a:r>
              <a:rPr lang="en-US" altLang="ko-KR" sz="1200" b="1" dirty="0">
                <a:solidFill>
                  <a:schemeClr val="tx1"/>
                </a:solidFill>
              </a:rPr>
              <a:t>: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자연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휴식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힐링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아름다운 자연풍광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히말라야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감사합니다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810169" y="1285104"/>
            <a:ext cx="3562670" cy="586288"/>
          </a:xfrm>
          <a:prstGeom prst="rect">
            <a:avLst/>
          </a:prstGeom>
          <a:solidFill>
            <a:srgbClr val="3C6C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가볍게 즐기는 하이킹 코스에</a:t>
            </a:r>
            <a:endParaRPr lang="en-US" altLang="ko-KR" sz="11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히말라야 뷰 숙박이 더해져 탄생한</a:t>
            </a:r>
            <a:endParaRPr lang="en-US" altLang="ko-KR" sz="11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가장 아름다운 네팔 여행</a:t>
            </a:r>
            <a:endParaRPr lang="en-US" altLang="ko-KR" sz="1100" b="1" dirty="0">
              <a:solidFill>
                <a:schemeClr val="bg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C4CE16-9CFB-47B4-9CBE-38E81B904B39}"/>
              </a:ext>
            </a:extLst>
          </p:cNvPr>
          <p:cNvSpPr/>
          <p:nvPr/>
        </p:nvSpPr>
        <p:spPr>
          <a:xfrm>
            <a:off x="64612" y="5030281"/>
            <a:ext cx="6722125" cy="148481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BFDB8D-A9B9-4C9C-A863-25FB94FDD830}"/>
              </a:ext>
            </a:extLst>
          </p:cNvPr>
          <p:cNvSpPr txBox="1"/>
          <p:nvPr/>
        </p:nvSpPr>
        <p:spPr>
          <a:xfrm>
            <a:off x="1511569" y="5034817"/>
            <a:ext cx="3828209" cy="307777"/>
          </a:xfrm>
          <a:prstGeom prst="rect">
            <a:avLst/>
          </a:prstGeom>
          <a:solidFill>
            <a:srgbClr val="3C6C5A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한 눈에 보는 네팔 히말라야 하이킹 여정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B0D972-7685-4E1B-BA2D-180D33EEDDC4}"/>
              </a:ext>
            </a:extLst>
          </p:cNvPr>
          <p:cNvSpPr txBox="1"/>
          <p:nvPr/>
        </p:nvSpPr>
        <p:spPr>
          <a:xfrm>
            <a:off x="945414" y="5325643"/>
            <a:ext cx="830427" cy="2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>
                <a:solidFill>
                  <a:schemeClr val="accent1"/>
                </a:solidFill>
              </a:rPr>
              <a:t>치트완</a:t>
            </a:r>
            <a:endParaRPr lang="en-US" altLang="ko-KR" sz="1050" b="1" dirty="0">
              <a:solidFill>
                <a:schemeClr val="accent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01DDB8A-D7BF-4E0A-BD76-F8C2B96518BD}"/>
              </a:ext>
            </a:extLst>
          </p:cNvPr>
          <p:cNvSpPr/>
          <p:nvPr/>
        </p:nvSpPr>
        <p:spPr>
          <a:xfrm>
            <a:off x="523916" y="5544548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32FB48E-CF39-41C2-A843-5DD7F0EE89FD}"/>
              </a:ext>
            </a:extLst>
          </p:cNvPr>
          <p:cNvSpPr/>
          <p:nvPr/>
        </p:nvSpPr>
        <p:spPr>
          <a:xfrm>
            <a:off x="67937" y="1848151"/>
            <a:ext cx="4862595" cy="3162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ko-KR" sz="1050" dirty="0"/>
              <a:t>네팔 히말라야를 즐기는 방법은 다양하지만</a:t>
            </a:r>
            <a:endParaRPr lang="en-US" altLang="ko-KR" sz="1050" dirty="0"/>
          </a:p>
          <a:p>
            <a:pPr latinLnBrk="1"/>
            <a:r>
              <a:rPr lang="ko-KR" altLang="en-US" sz="1050" dirty="0"/>
              <a:t>혜초의 이번 여정은 </a:t>
            </a:r>
            <a:r>
              <a:rPr lang="ko-KR" altLang="ko-KR" sz="1050" dirty="0"/>
              <a:t>엄선된 하이킹 코스를 가볍게 걸으며</a:t>
            </a:r>
            <a:endParaRPr lang="en-US" altLang="ko-KR" sz="1050" dirty="0"/>
          </a:p>
          <a:p>
            <a:pPr latinLnBrk="1"/>
            <a:r>
              <a:rPr lang="ko-KR" altLang="ko-KR" sz="1050" dirty="0"/>
              <a:t>히말라야의 풍광을 깊게 감상하는 것에 집중하였습니다</a:t>
            </a:r>
            <a:r>
              <a:rPr lang="en-US" altLang="ko-KR" sz="1050" dirty="0"/>
              <a:t>.</a:t>
            </a:r>
            <a:endParaRPr lang="ko-KR" altLang="ko-KR" sz="1050" dirty="0"/>
          </a:p>
          <a:p>
            <a:pPr latinLnBrk="1"/>
            <a:r>
              <a:rPr lang="en-US" altLang="ko-KR" sz="1050" dirty="0"/>
              <a:t> </a:t>
            </a:r>
            <a:endParaRPr lang="ko-KR" altLang="ko-KR" sz="1050" dirty="0"/>
          </a:p>
          <a:p>
            <a:pPr latinLnBrk="1"/>
            <a:r>
              <a:rPr lang="ko-KR" altLang="ko-KR" sz="1050" dirty="0" err="1"/>
              <a:t>담푸스</a:t>
            </a:r>
            <a:r>
              <a:rPr lang="ko-KR" altLang="en-US" sz="1050" dirty="0" err="1"/>
              <a:t>부터</a:t>
            </a:r>
            <a:r>
              <a:rPr lang="en-US" altLang="ko-KR" sz="1050" dirty="0"/>
              <a:t> </a:t>
            </a:r>
            <a:r>
              <a:rPr lang="ko-KR" altLang="ko-KR" sz="1050" dirty="0" err="1"/>
              <a:t>사랑콧</a:t>
            </a:r>
            <a:r>
              <a:rPr lang="en-US" altLang="ko-KR" sz="1050" dirty="0"/>
              <a:t>, </a:t>
            </a:r>
            <a:r>
              <a:rPr lang="ko-KR" altLang="ko-KR" sz="1050" dirty="0" err="1"/>
              <a:t>나가르콧</a:t>
            </a:r>
            <a:r>
              <a:rPr lang="ko-KR" altLang="en-US" sz="1050" dirty="0" err="1"/>
              <a:t>까지</a:t>
            </a:r>
            <a:endParaRPr lang="en-US" altLang="ko-KR" sz="1050" dirty="0"/>
          </a:p>
          <a:p>
            <a:pPr latinLnBrk="1"/>
            <a:r>
              <a:rPr lang="ko-KR" altLang="ko-KR" sz="1050" dirty="0"/>
              <a:t>히말라야 </a:t>
            </a:r>
            <a:r>
              <a:rPr lang="ko-KR" altLang="ko-KR" sz="1050" dirty="0" err="1"/>
              <a:t>산군을</a:t>
            </a:r>
            <a:r>
              <a:rPr lang="ko-KR" altLang="ko-KR" sz="1050" dirty="0"/>
              <a:t> 정면에서 마주하는 특별한 장소</a:t>
            </a:r>
            <a:r>
              <a:rPr lang="ko-KR" altLang="en-US" sz="1050" dirty="0"/>
              <a:t>를</a:t>
            </a:r>
            <a:endParaRPr lang="en-US" altLang="ko-KR" sz="1050" dirty="0"/>
          </a:p>
          <a:p>
            <a:pPr latinLnBrk="1"/>
            <a:r>
              <a:rPr lang="ko-KR" altLang="ko-KR" sz="1050" dirty="0"/>
              <a:t>단순히 </a:t>
            </a:r>
            <a:r>
              <a:rPr lang="en-US" altLang="ko-KR" sz="1050" dirty="0"/>
              <a:t>‘</a:t>
            </a:r>
            <a:r>
              <a:rPr lang="ko-KR" altLang="ko-KR" sz="1050" dirty="0"/>
              <a:t>지나가는 </a:t>
            </a:r>
            <a:r>
              <a:rPr lang="ko-KR" altLang="ko-KR" sz="1050" dirty="0" err="1"/>
              <a:t>방문지’가</a:t>
            </a:r>
            <a:r>
              <a:rPr lang="ko-KR" altLang="ko-KR" sz="1050" dirty="0"/>
              <a:t> 아니라</a:t>
            </a:r>
            <a:endParaRPr lang="en-US" altLang="ko-KR" sz="1050" dirty="0"/>
          </a:p>
          <a:p>
            <a:pPr latinLnBrk="1"/>
            <a:r>
              <a:rPr lang="ko-KR" altLang="en-US" sz="1050" dirty="0"/>
              <a:t>가볍게 걷고 온전히 머물며</a:t>
            </a:r>
            <a:endParaRPr lang="en-US" altLang="ko-KR" sz="1050" dirty="0"/>
          </a:p>
          <a:p>
            <a:pPr latinLnBrk="1"/>
            <a:r>
              <a:rPr lang="ko-KR" altLang="ko-KR" sz="1050" dirty="0"/>
              <a:t>천천히 바라보는 방식으로 구</a:t>
            </a:r>
            <a:r>
              <a:rPr lang="ko-KR" altLang="en-US" sz="1050" dirty="0"/>
              <a:t>성했습니다</a:t>
            </a:r>
            <a:r>
              <a:rPr lang="en-US" altLang="ko-KR" sz="1050" dirty="0"/>
              <a:t>.</a:t>
            </a:r>
          </a:p>
          <a:p>
            <a:pPr latinLnBrk="1"/>
            <a:r>
              <a:rPr lang="en-US" altLang="ko-KR" sz="1050" dirty="0"/>
              <a:t> </a:t>
            </a:r>
            <a:endParaRPr lang="ko-KR" altLang="ko-KR" sz="1050" dirty="0"/>
          </a:p>
          <a:p>
            <a:pPr latinLnBrk="1"/>
            <a:r>
              <a:rPr lang="ko-KR" altLang="ko-KR" sz="1050" dirty="0" err="1"/>
              <a:t>안나푸르나</a:t>
            </a:r>
            <a:r>
              <a:rPr lang="en-US" altLang="ko-KR" sz="1050" dirty="0"/>
              <a:t>, </a:t>
            </a:r>
            <a:r>
              <a:rPr lang="ko-KR" altLang="ko-KR" sz="1050" dirty="0" err="1"/>
              <a:t>마차푸차레</a:t>
            </a:r>
            <a:r>
              <a:rPr lang="en-US" altLang="ko-KR" sz="1050" dirty="0"/>
              <a:t>, </a:t>
            </a:r>
            <a:r>
              <a:rPr lang="ko-KR" altLang="ko-KR" sz="1050" dirty="0"/>
              <a:t>에베레스트 등</a:t>
            </a:r>
            <a:endParaRPr lang="en-US" altLang="ko-KR" sz="1050" dirty="0"/>
          </a:p>
          <a:p>
            <a:pPr latinLnBrk="1"/>
            <a:r>
              <a:rPr lang="ko-KR" altLang="ko-KR" sz="1050" dirty="0"/>
              <a:t>히말라야 </a:t>
            </a:r>
            <a:r>
              <a:rPr lang="ko-KR" altLang="ko-KR" sz="1050" dirty="0" err="1"/>
              <a:t>산군의</a:t>
            </a:r>
            <a:r>
              <a:rPr lang="ko-KR" altLang="ko-KR" sz="1050" dirty="0"/>
              <a:t> 파노라마 뷰가 펼쳐지는</a:t>
            </a:r>
            <a:endParaRPr lang="en-US" altLang="ko-KR" sz="1050" dirty="0"/>
          </a:p>
          <a:p>
            <a:pPr latinLnBrk="1"/>
            <a:r>
              <a:rPr lang="ko-KR" altLang="ko-KR" sz="1050" dirty="0"/>
              <a:t>프리미엄 히말라야 호텔에서 숙박하며</a:t>
            </a:r>
            <a:endParaRPr lang="en-US" altLang="ko-KR" sz="1050" dirty="0"/>
          </a:p>
          <a:p>
            <a:pPr latinLnBrk="1"/>
            <a:r>
              <a:rPr lang="ko-KR" altLang="ko-KR" sz="1050" dirty="0"/>
              <a:t>일출과 일몰</a:t>
            </a:r>
            <a:r>
              <a:rPr lang="en-US" altLang="ko-KR" sz="1050" dirty="0"/>
              <a:t> </a:t>
            </a:r>
            <a:r>
              <a:rPr lang="ko-KR" altLang="ko-KR" sz="1050" dirty="0"/>
              <a:t>그리고 밤하늘의 별빛 아래</a:t>
            </a:r>
            <a:endParaRPr lang="en-US" altLang="ko-KR" sz="1050" dirty="0"/>
          </a:p>
          <a:p>
            <a:pPr latinLnBrk="1"/>
            <a:r>
              <a:rPr lang="ko-KR" altLang="ko-KR" sz="1050" dirty="0"/>
              <a:t>설산이 빚어내는 풍경을 온전히 감상</a:t>
            </a:r>
            <a:r>
              <a:rPr lang="ko-KR" altLang="en-US" sz="1050" dirty="0"/>
              <a:t>해 보세요</a:t>
            </a:r>
            <a:r>
              <a:rPr lang="en-US" altLang="ko-KR" sz="1050" dirty="0"/>
              <a:t>.</a:t>
            </a:r>
          </a:p>
          <a:p>
            <a:pPr latinLnBrk="1"/>
            <a:r>
              <a:rPr lang="en-US" altLang="ko-KR" sz="1050" dirty="0"/>
              <a:t>  </a:t>
            </a:r>
            <a:endParaRPr lang="ko-KR" altLang="ko-KR" sz="1050" dirty="0"/>
          </a:p>
          <a:p>
            <a:pPr latinLnBrk="1"/>
            <a:r>
              <a:rPr lang="ko-KR" altLang="ko-KR" sz="1050" dirty="0"/>
              <a:t>히말라야의 가장 아름다운 순간을</a:t>
            </a:r>
            <a:endParaRPr lang="en-US" altLang="ko-KR" sz="1050" dirty="0"/>
          </a:p>
          <a:p>
            <a:pPr latinLnBrk="1"/>
            <a:r>
              <a:rPr lang="ko-KR" altLang="ko-KR" sz="1050" dirty="0"/>
              <a:t>가장 좋은 자리에서 만나는 여행</a:t>
            </a:r>
            <a:r>
              <a:rPr lang="en-US" altLang="ko-KR" sz="1050" dirty="0"/>
              <a:t>,</a:t>
            </a:r>
            <a:endParaRPr lang="ko-KR" altLang="ko-KR" sz="1050" dirty="0"/>
          </a:p>
          <a:p>
            <a:pPr latinLnBrk="1"/>
            <a:r>
              <a:rPr lang="ko-KR" altLang="ko-KR" sz="1050" dirty="0"/>
              <a:t>혜초와 함께 떠나보세요</a:t>
            </a:r>
            <a:r>
              <a:rPr lang="en-US" altLang="ko-KR" sz="1050" dirty="0"/>
              <a:t>.</a:t>
            </a:r>
            <a:endParaRPr lang="ko-KR" altLang="ko-KR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C2E699-E6E1-48CF-817C-D7C30BC545B2}"/>
              </a:ext>
            </a:extLst>
          </p:cNvPr>
          <p:cNvSpPr txBox="1"/>
          <p:nvPr/>
        </p:nvSpPr>
        <p:spPr>
          <a:xfrm>
            <a:off x="2291230" y="5325643"/>
            <a:ext cx="830427" cy="2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accent1"/>
                </a:solidFill>
              </a:rPr>
              <a:t>반디푸르</a:t>
            </a:r>
            <a:endParaRPr lang="en-US" altLang="ko-KR" sz="1050" b="1" dirty="0">
              <a:solidFill>
                <a:schemeClr val="accent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3CA34C-E0A0-4A75-BFF6-1FD9A509E307}"/>
              </a:ext>
            </a:extLst>
          </p:cNvPr>
          <p:cNvSpPr/>
          <p:nvPr/>
        </p:nvSpPr>
        <p:spPr>
          <a:xfrm>
            <a:off x="1955695" y="5544548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6E450E-2E17-411B-A3DE-8169C3122144}"/>
              </a:ext>
            </a:extLst>
          </p:cNvPr>
          <p:cNvSpPr txBox="1"/>
          <p:nvPr/>
        </p:nvSpPr>
        <p:spPr>
          <a:xfrm>
            <a:off x="3837546" y="5325643"/>
            <a:ext cx="830427" cy="2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accent1"/>
                </a:solidFill>
              </a:rPr>
              <a:t>포카라</a:t>
            </a:r>
            <a:endParaRPr lang="en-US" altLang="ko-KR" sz="1050" b="1" dirty="0">
              <a:solidFill>
                <a:schemeClr val="accent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978208C-09AC-4565-8D9B-27F89C4A78FD}"/>
              </a:ext>
            </a:extLst>
          </p:cNvPr>
          <p:cNvSpPr/>
          <p:nvPr/>
        </p:nvSpPr>
        <p:spPr>
          <a:xfrm>
            <a:off x="3416048" y="5544548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82E45D-FD86-42F7-8B6B-20DB349FE131}"/>
              </a:ext>
            </a:extLst>
          </p:cNvPr>
          <p:cNvSpPr txBox="1"/>
          <p:nvPr/>
        </p:nvSpPr>
        <p:spPr>
          <a:xfrm>
            <a:off x="5269325" y="5325643"/>
            <a:ext cx="830427" cy="2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accent1"/>
                </a:solidFill>
              </a:rPr>
              <a:t>담푸스</a:t>
            </a:r>
            <a:endParaRPr lang="en-US" altLang="ko-KR" sz="1050" b="1" dirty="0">
              <a:solidFill>
                <a:schemeClr val="accent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1137D5D-3B04-4C4C-A173-52066F5FB6F3}"/>
              </a:ext>
            </a:extLst>
          </p:cNvPr>
          <p:cNvSpPr/>
          <p:nvPr/>
        </p:nvSpPr>
        <p:spPr>
          <a:xfrm>
            <a:off x="4847827" y="5544548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C7CE5D-B1C1-4DAB-BC16-0D1F141011F9}"/>
              </a:ext>
            </a:extLst>
          </p:cNvPr>
          <p:cNvSpPr txBox="1"/>
          <p:nvPr/>
        </p:nvSpPr>
        <p:spPr>
          <a:xfrm>
            <a:off x="938358" y="5853786"/>
            <a:ext cx="830427" cy="2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accent1"/>
                </a:solidFill>
              </a:rPr>
              <a:t>사랑콧</a:t>
            </a:r>
            <a:endParaRPr lang="en-US" altLang="ko-KR" sz="1050" b="1" dirty="0">
              <a:solidFill>
                <a:schemeClr val="accent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9788491-FA0C-4DC8-921D-0751E5DB712A}"/>
              </a:ext>
            </a:extLst>
          </p:cNvPr>
          <p:cNvSpPr/>
          <p:nvPr/>
        </p:nvSpPr>
        <p:spPr>
          <a:xfrm>
            <a:off x="516860" y="6148891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AA683A-F9B9-4747-8B2F-2F95FCA54EEB}"/>
              </a:ext>
            </a:extLst>
          </p:cNvPr>
          <p:cNvSpPr txBox="1"/>
          <p:nvPr/>
        </p:nvSpPr>
        <p:spPr>
          <a:xfrm>
            <a:off x="2370137" y="5853786"/>
            <a:ext cx="830427" cy="2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accent1"/>
                </a:solidFill>
              </a:rPr>
              <a:t>나가르콧</a:t>
            </a:r>
            <a:endParaRPr lang="en-US" altLang="ko-KR" sz="1050" b="1" dirty="0">
              <a:solidFill>
                <a:schemeClr val="accent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0A8C4C3-60ED-4587-935E-2C08A52BC470}"/>
              </a:ext>
            </a:extLst>
          </p:cNvPr>
          <p:cNvSpPr/>
          <p:nvPr/>
        </p:nvSpPr>
        <p:spPr>
          <a:xfrm>
            <a:off x="1948639" y="6148891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AE35EE-2D10-4C8C-A8D3-7882A7505C0C}"/>
              </a:ext>
            </a:extLst>
          </p:cNvPr>
          <p:cNvSpPr txBox="1"/>
          <p:nvPr/>
        </p:nvSpPr>
        <p:spPr>
          <a:xfrm>
            <a:off x="3830490" y="5853786"/>
            <a:ext cx="830427" cy="2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 err="1">
                <a:solidFill>
                  <a:schemeClr val="accent1"/>
                </a:solidFill>
              </a:rPr>
              <a:t>나모부다</a:t>
            </a:r>
            <a:endParaRPr lang="en-US" altLang="ko-KR" sz="1050" b="1" dirty="0">
              <a:solidFill>
                <a:schemeClr val="accent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85E86AC-109D-432D-8380-01C1EADDB6FD}"/>
              </a:ext>
            </a:extLst>
          </p:cNvPr>
          <p:cNvSpPr/>
          <p:nvPr/>
        </p:nvSpPr>
        <p:spPr>
          <a:xfrm>
            <a:off x="3408992" y="6148891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4E65FD-B9B6-4D0E-9E3B-5BEF193BD823}"/>
              </a:ext>
            </a:extLst>
          </p:cNvPr>
          <p:cNvSpPr txBox="1"/>
          <p:nvPr/>
        </p:nvSpPr>
        <p:spPr>
          <a:xfrm>
            <a:off x="5262269" y="5853786"/>
            <a:ext cx="830427" cy="261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>
                <a:solidFill>
                  <a:schemeClr val="accent1"/>
                </a:solidFill>
              </a:rPr>
              <a:t>카트만두</a:t>
            </a:r>
            <a:endParaRPr lang="en-US" altLang="ko-KR" sz="1050" b="1" dirty="0">
              <a:solidFill>
                <a:schemeClr val="accent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AA15694-B09F-46A5-A5E7-AEBC54BDB952}"/>
              </a:ext>
            </a:extLst>
          </p:cNvPr>
          <p:cNvSpPr/>
          <p:nvPr/>
        </p:nvSpPr>
        <p:spPr>
          <a:xfrm>
            <a:off x="4840771" y="6148891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52321D2-385F-4352-B7EE-F12187F704DB}"/>
              </a:ext>
            </a:extLst>
          </p:cNvPr>
          <p:cNvSpPr/>
          <p:nvPr/>
        </p:nvSpPr>
        <p:spPr>
          <a:xfrm>
            <a:off x="64612" y="6607974"/>
            <a:ext cx="6722125" cy="242172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2A3A12-4CF8-48D9-9092-2458421B251D}"/>
              </a:ext>
            </a:extLst>
          </p:cNvPr>
          <p:cNvSpPr txBox="1"/>
          <p:nvPr/>
        </p:nvSpPr>
        <p:spPr>
          <a:xfrm>
            <a:off x="1511569" y="6612510"/>
            <a:ext cx="3828209" cy="492443"/>
          </a:xfrm>
          <a:prstGeom prst="rect">
            <a:avLst/>
          </a:prstGeom>
          <a:solidFill>
            <a:srgbClr val="3C6C5A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여정에서 드러나는 경험의 차이</a:t>
            </a:r>
            <a:r>
              <a:rPr lang="en-US" altLang="ko-KR" sz="1100" b="1" dirty="0">
                <a:solidFill>
                  <a:schemeClr val="bg1"/>
                </a:solidFill>
              </a:rPr>
              <a:t>!</a:t>
            </a: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혜초와 함께하는 네팔여행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7621EA1-B36A-40DA-AB50-F2091F421215}"/>
              </a:ext>
            </a:extLst>
          </p:cNvPr>
          <p:cNvSpPr/>
          <p:nvPr/>
        </p:nvSpPr>
        <p:spPr>
          <a:xfrm>
            <a:off x="46019" y="7170792"/>
            <a:ext cx="670343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1050" dirty="0" err="1"/>
              <a:t>혜초여행은</a:t>
            </a:r>
            <a:r>
              <a:rPr lang="ko-KR" altLang="en-US" sz="1050" dirty="0"/>
              <a:t> </a:t>
            </a:r>
            <a:r>
              <a:rPr lang="en-US" altLang="ko-KR" sz="1050" dirty="0"/>
              <a:t>1992</a:t>
            </a:r>
            <a:r>
              <a:rPr lang="ko-KR" altLang="en-US" sz="1050" dirty="0"/>
              <a:t>년부터 히말라야</a:t>
            </a:r>
            <a:r>
              <a:rPr lang="en-US" altLang="ko-KR" sz="1050" dirty="0"/>
              <a:t>, </a:t>
            </a:r>
            <a:r>
              <a:rPr lang="ko-KR" altLang="en-US" sz="1050" dirty="0"/>
              <a:t>네팔</a:t>
            </a:r>
            <a:r>
              <a:rPr lang="en-US" altLang="ko-KR" sz="1050" dirty="0"/>
              <a:t>, </a:t>
            </a:r>
            <a:r>
              <a:rPr lang="ko-KR" altLang="en-US" sz="1050" dirty="0"/>
              <a:t>티벳</a:t>
            </a:r>
            <a:r>
              <a:rPr lang="en-US" altLang="ko-KR" sz="1050" dirty="0"/>
              <a:t>, </a:t>
            </a:r>
            <a:r>
              <a:rPr lang="ko-KR" altLang="en-US" sz="1050" dirty="0"/>
              <a:t>인도 지역을 전문으로 가장 많은 인원을 송출한 여행사입니다</a:t>
            </a:r>
            <a:r>
              <a:rPr lang="en-US" altLang="ko-KR" sz="1050" dirty="0"/>
              <a:t>.</a:t>
            </a:r>
          </a:p>
          <a:p>
            <a:pPr algn="ctr" latinLnBrk="1"/>
            <a:r>
              <a:rPr lang="ko-KR" altLang="en-US" sz="1050" dirty="0"/>
              <a:t>또한 풍부한 경험을 바탕으로 안전을 최우선으로 세심하고 꼼꼼하게 일정을 준비합니다</a:t>
            </a:r>
            <a:r>
              <a:rPr lang="en-US" altLang="ko-KR" sz="1050" dirty="0"/>
              <a:t>.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DA27992-7E66-4AE5-8AC7-BF149E8BA9C3}"/>
              </a:ext>
            </a:extLst>
          </p:cNvPr>
          <p:cNvSpPr/>
          <p:nvPr/>
        </p:nvSpPr>
        <p:spPr>
          <a:xfrm>
            <a:off x="454725" y="7707677"/>
            <a:ext cx="283340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050" b="1" dirty="0"/>
              <a:t>01 </a:t>
            </a:r>
            <a:r>
              <a:rPr lang="ko-KR" altLang="en-US" sz="1050" b="1" dirty="0"/>
              <a:t>가볍게 즐기는 하이킹</a:t>
            </a:r>
            <a:endParaRPr lang="en-US" altLang="ko-KR" sz="105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F8721-C3FB-46FC-B42E-443E320BC217}"/>
              </a:ext>
            </a:extLst>
          </p:cNvPr>
          <p:cNvSpPr txBox="1"/>
          <p:nvPr/>
        </p:nvSpPr>
        <p:spPr>
          <a:xfrm>
            <a:off x="387901" y="7927277"/>
            <a:ext cx="306280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꼭 한번은 떠나고 싶었던 히말라야</a:t>
            </a:r>
            <a:r>
              <a:rPr lang="en-US" altLang="ko-KR" sz="1050" dirty="0"/>
              <a:t>, </a:t>
            </a:r>
            <a:r>
              <a:rPr lang="ko-KR" altLang="en-US" sz="1050" dirty="0"/>
              <a:t>트레킹은 부담스러웠다면</a:t>
            </a:r>
            <a:r>
              <a:rPr lang="en-US" altLang="ko-KR" sz="1050" dirty="0"/>
              <a:t>? </a:t>
            </a:r>
            <a:r>
              <a:rPr lang="ko-KR" altLang="en-US" sz="1050" dirty="0"/>
              <a:t>가벼운 난이도의 하이킹과 관광이 적절하게 조화된 히말라야 여행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07B6E9F-4612-48BA-B7C7-981D9F1468C0}"/>
              </a:ext>
            </a:extLst>
          </p:cNvPr>
          <p:cNvSpPr/>
          <p:nvPr/>
        </p:nvSpPr>
        <p:spPr>
          <a:xfrm>
            <a:off x="3662990" y="7679164"/>
            <a:ext cx="288906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050" b="1" dirty="0"/>
              <a:t>02 </a:t>
            </a:r>
            <a:r>
              <a:rPr lang="ko-KR" altLang="en-US" sz="1050" b="1" dirty="0"/>
              <a:t>네팔의 문화와 역사를 함께</a:t>
            </a:r>
            <a:endParaRPr lang="en-US" altLang="ko-KR" sz="105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738CD5-BD66-4C04-A1D0-18CDE7ECDE06}"/>
              </a:ext>
            </a:extLst>
          </p:cNvPr>
          <p:cNvSpPr txBox="1"/>
          <p:nvPr/>
        </p:nvSpPr>
        <p:spPr>
          <a:xfrm>
            <a:off x="3662991" y="7910005"/>
            <a:ext cx="306280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네팔의 문화도시 카트만두</a:t>
            </a:r>
            <a:r>
              <a:rPr lang="en-US" altLang="ko-KR" sz="1050" dirty="0"/>
              <a:t>, </a:t>
            </a:r>
            <a:r>
              <a:rPr lang="ko-KR" altLang="en-US" sz="1050" dirty="0"/>
              <a:t>파탄과</a:t>
            </a:r>
            <a:r>
              <a:rPr lang="en-US" altLang="ko-KR" sz="1050" dirty="0"/>
              <a:t> </a:t>
            </a:r>
            <a:r>
              <a:rPr lang="ko-KR" altLang="en-US" sz="1050" dirty="0"/>
              <a:t>다양한 자연풍광을 볼 수 있는 </a:t>
            </a:r>
            <a:r>
              <a:rPr lang="ko-KR" altLang="en-US" sz="1050" dirty="0" err="1"/>
              <a:t>치트완</a:t>
            </a:r>
            <a:r>
              <a:rPr lang="ko-KR" altLang="en-US" sz="1050" dirty="0"/>
              <a:t> 국립공원</a:t>
            </a:r>
            <a:r>
              <a:rPr lang="en-US" altLang="ko-KR" sz="1050" dirty="0"/>
              <a:t>, </a:t>
            </a:r>
            <a:r>
              <a:rPr lang="ko-KR" altLang="en-US" sz="1050" dirty="0"/>
              <a:t>현지인의 생활상까지 함께 만나는 기회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69A3F3E-A888-4359-9A3D-80A1AB3E7D4D}"/>
              </a:ext>
            </a:extLst>
          </p:cNvPr>
          <p:cNvSpPr/>
          <p:nvPr/>
        </p:nvSpPr>
        <p:spPr>
          <a:xfrm>
            <a:off x="470439" y="8583680"/>
            <a:ext cx="2651218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F40472D-8316-4B23-AC25-84100EF30181}"/>
              </a:ext>
            </a:extLst>
          </p:cNvPr>
          <p:cNvSpPr/>
          <p:nvPr/>
        </p:nvSpPr>
        <p:spPr>
          <a:xfrm>
            <a:off x="3736345" y="8553398"/>
            <a:ext cx="2651218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45051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ED1BC0BC-4D09-401B-95EF-7E02937E8465}"/>
              </a:ext>
            </a:extLst>
          </p:cNvPr>
          <p:cNvSpPr/>
          <p:nvPr/>
        </p:nvSpPr>
        <p:spPr>
          <a:xfrm>
            <a:off x="42508" y="2006460"/>
            <a:ext cx="6722125" cy="387864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A7AAFF4-EEB1-4B86-9EFD-DD58E6A5B2EF}"/>
              </a:ext>
            </a:extLst>
          </p:cNvPr>
          <p:cNvSpPr/>
          <p:nvPr/>
        </p:nvSpPr>
        <p:spPr>
          <a:xfrm>
            <a:off x="38136" y="3984597"/>
            <a:ext cx="3344380" cy="978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이게 가능할까 할 정도로 </a:t>
            </a:r>
            <a:r>
              <a:rPr lang="en-US" altLang="ko-KR" sz="1050" dirty="0">
                <a:solidFill>
                  <a:schemeClr val="tx1"/>
                </a:solidFill>
              </a:rPr>
              <a:t>7</a:t>
            </a:r>
            <a:r>
              <a:rPr lang="ko-KR" altLang="en-US" sz="1050" dirty="0">
                <a:solidFill>
                  <a:schemeClr val="tx1"/>
                </a:solidFill>
              </a:rPr>
              <a:t>일간 열대 정글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히말라야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고대 도시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현재 인간의 삶의 현장 모두를 다 보게 되었다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F2309E2-DF34-4CCE-9F0D-11CA88B29318}"/>
              </a:ext>
            </a:extLst>
          </p:cNvPr>
          <p:cNvSpPr/>
          <p:nvPr/>
        </p:nvSpPr>
        <p:spPr>
          <a:xfrm>
            <a:off x="3424627" y="3984597"/>
            <a:ext cx="3344380" cy="978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담푸스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 err="1">
                <a:solidFill>
                  <a:schemeClr val="tx1"/>
                </a:solidFill>
              </a:rPr>
              <a:t>사랑콧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 err="1">
                <a:solidFill>
                  <a:schemeClr val="tx1"/>
                </a:solidFill>
              </a:rPr>
              <a:t>나가르콧에서</a:t>
            </a:r>
            <a:r>
              <a:rPr lang="ko-KR" altLang="en-US" sz="1050" dirty="0">
                <a:solidFill>
                  <a:schemeClr val="tx1"/>
                </a:solidFill>
              </a:rPr>
              <a:t> 히말라야의 </a:t>
            </a:r>
            <a:r>
              <a:rPr lang="ko-KR" altLang="en-US" sz="1050" dirty="0" err="1">
                <a:solidFill>
                  <a:schemeClr val="tx1"/>
                </a:solidFill>
              </a:rPr>
              <a:t>안나푸르나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 err="1">
                <a:solidFill>
                  <a:schemeClr val="tx1"/>
                </a:solidFill>
              </a:rPr>
              <a:t>마차푸차레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에베레스트를 위시한 여러 </a:t>
            </a:r>
            <a:r>
              <a:rPr lang="ko-KR" altLang="en-US" sz="1050" dirty="0" err="1">
                <a:solidFill>
                  <a:schemeClr val="tx1"/>
                </a:solidFill>
              </a:rPr>
              <a:t>산군에</a:t>
            </a:r>
            <a:r>
              <a:rPr lang="ko-KR" altLang="en-US" sz="1050" dirty="0">
                <a:solidFill>
                  <a:schemeClr val="tx1"/>
                </a:solidFill>
              </a:rPr>
              <a:t> 둘러싸인 환상적인 숙소에서 자고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먹고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보고 꿈 같은 일정을 보낸 듯하다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525EFC0-8A0F-42B3-A879-137346D798E1}"/>
              </a:ext>
            </a:extLst>
          </p:cNvPr>
          <p:cNvSpPr/>
          <p:nvPr/>
        </p:nvSpPr>
        <p:spPr>
          <a:xfrm>
            <a:off x="33762" y="4994271"/>
            <a:ext cx="3344380" cy="7814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담푸스</a:t>
            </a:r>
            <a:r>
              <a:rPr lang="ko-KR" altLang="en-US" sz="1050" dirty="0">
                <a:solidFill>
                  <a:schemeClr val="tx1"/>
                </a:solidFill>
              </a:rPr>
              <a:t> 마운틴 호텔에서 본 일몰과 일출 그리고 다음날 </a:t>
            </a:r>
            <a:r>
              <a:rPr lang="ko-KR" altLang="en-US" sz="1050" dirty="0" err="1">
                <a:solidFill>
                  <a:schemeClr val="tx1"/>
                </a:solidFill>
              </a:rPr>
              <a:t>사랑콧</a:t>
            </a:r>
            <a:r>
              <a:rPr lang="ko-KR" altLang="en-US" sz="1050" dirty="0">
                <a:solidFill>
                  <a:schemeClr val="tx1"/>
                </a:solidFill>
              </a:rPr>
              <a:t> 마운틴 호텔에서 본 히말라야 풍광은 잊을 수가 없다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33A3AC8-3067-42A4-BE10-59E7DBFEF5A3}"/>
              </a:ext>
            </a:extLst>
          </p:cNvPr>
          <p:cNvSpPr/>
          <p:nvPr/>
        </p:nvSpPr>
        <p:spPr>
          <a:xfrm>
            <a:off x="3420253" y="4994271"/>
            <a:ext cx="3344380" cy="7814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여행하면서 숙박한 모든 호텔이 히말라야 뷰를 가장 잘 볼 수 있는 최고급 호텔로 숙식 모두 큰 만족을 주었다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9890366-C896-4781-9CF4-7C7C07E93FE9}"/>
              </a:ext>
            </a:extLst>
          </p:cNvPr>
          <p:cNvSpPr/>
          <p:nvPr/>
        </p:nvSpPr>
        <p:spPr>
          <a:xfrm>
            <a:off x="42509" y="5932107"/>
            <a:ext cx="6722125" cy="3089141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8AF2CB-D1A3-4A10-A36F-D40433071B88}"/>
              </a:ext>
            </a:extLst>
          </p:cNvPr>
          <p:cNvSpPr txBox="1"/>
          <p:nvPr/>
        </p:nvSpPr>
        <p:spPr>
          <a:xfrm>
            <a:off x="1442649" y="5905739"/>
            <a:ext cx="4095201" cy="307777"/>
          </a:xfrm>
          <a:prstGeom prst="rect">
            <a:avLst/>
          </a:prstGeom>
          <a:solidFill>
            <a:srgbClr val="3C6C5A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히말라야 뷰를 가장 아름답게 바라볼 수 있는 숙박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144104E-C42A-4A11-BB06-E3EF6B55C966}"/>
              </a:ext>
            </a:extLst>
          </p:cNvPr>
          <p:cNvSpPr/>
          <p:nvPr/>
        </p:nvSpPr>
        <p:spPr>
          <a:xfrm>
            <a:off x="79794" y="7241187"/>
            <a:ext cx="363257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1"/>
            <a:r>
              <a:rPr lang="ko-KR" altLang="ko-KR" sz="1050" b="1" dirty="0" err="1"/>
              <a:t>치트완</a:t>
            </a:r>
            <a:endParaRPr lang="en-US" altLang="ko-KR" sz="1050" b="1" dirty="0"/>
          </a:p>
          <a:p>
            <a:pPr lvl="0" latinLnBrk="1"/>
            <a:r>
              <a:rPr lang="en-US" altLang="ko-KR" sz="1050" b="1" dirty="0"/>
              <a:t>BANBAS RESORT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CHITWAN</a:t>
            </a:r>
            <a:endParaRPr lang="ko-KR" altLang="ko-KR" sz="105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66013A3-1334-4C54-9A9D-81E580E42150}"/>
              </a:ext>
            </a:extLst>
          </p:cNvPr>
          <p:cNvSpPr/>
          <p:nvPr/>
        </p:nvSpPr>
        <p:spPr>
          <a:xfrm>
            <a:off x="2439571" y="7239908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13-1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FFA9068-0B03-452C-8C17-32DE60CB899C}"/>
              </a:ext>
            </a:extLst>
          </p:cNvPr>
          <p:cNvSpPr/>
          <p:nvPr/>
        </p:nvSpPr>
        <p:spPr>
          <a:xfrm>
            <a:off x="3871350" y="7239908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13-2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363B7DD-0285-4B26-AB98-7BF2C5C8D5CB}"/>
              </a:ext>
            </a:extLst>
          </p:cNvPr>
          <p:cNvSpPr/>
          <p:nvPr/>
        </p:nvSpPr>
        <p:spPr>
          <a:xfrm>
            <a:off x="79794" y="7586876"/>
            <a:ext cx="363257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1"/>
            <a:r>
              <a:rPr lang="ko-KR" altLang="ko-KR" sz="1050" b="1" dirty="0" err="1"/>
              <a:t>포카라</a:t>
            </a:r>
            <a:endParaRPr lang="en-US" altLang="ko-KR" sz="1050" b="1" dirty="0"/>
          </a:p>
          <a:p>
            <a:pPr lvl="0" latinLnBrk="1"/>
            <a:r>
              <a:rPr lang="en-US" altLang="ko-KR" sz="1050" b="1" dirty="0"/>
              <a:t>FISHTAIL LODGE</a:t>
            </a:r>
            <a:endParaRPr lang="ko-KR" altLang="ko-KR" sz="1050" b="1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2F8A245-F624-4FCF-9868-F07C1807703E}"/>
              </a:ext>
            </a:extLst>
          </p:cNvPr>
          <p:cNvSpPr/>
          <p:nvPr/>
        </p:nvSpPr>
        <p:spPr>
          <a:xfrm>
            <a:off x="2439571" y="7585597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14-1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28D360D-D28E-4A18-94C0-BEA645986337}"/>
              </a:ext>
            </a:extLst>
          </p:cNvPr>
          <p:cNvSpPr/>
          <p:nvPr/>
        </p:nvSpPr>
        <p:spPr>
          <a:xfrm>
            <a:off x="3871350" y="7585597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14-2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6594169-B809-43C4-96EA-D570F19FEAEF}"/>
              </a:ext>
            </a:extLst>
          </p:cNvPr>
          <p:cNvSpPr/>
          <p:nvPr/>
        </p:nvSpPr>
        <p:spPr>
          <a:xfrm>
            <a:off x="79794" y="7911538"/>
            <a:ext cx="363257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1"/>
            <a:r>
              <a:rPr lang="ko-KR" altLang="ko-KR" sz="1050" b="1" dirty="0" err="1"/>
              <a:t>담푸스</a:t>
            </a:r>
            <a:endParaRPr lang="en-US" altLang="ko-KR" sz="1050" b="1" dirty="0"/>
          </a:p>
          <a:p>
            <a:pPr lvl="0" latinLnBrk="1"/>
            <a:r>
              <a:rPr lang="en-US" altLang="ko-KR" sz="1050" b="1" dirty="0"/>
              <a:t>MOUNTAIN LODGES OF NEPAL DHAMPUS </a:t>
            </a:r>
            <a:endParaRPr lang="ko-KR" altLang="ko-KR" sz="1050" b="1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3C2CF65-0AAD-4853-9DF2-C70B76507F66}"/>
              </a:ext>
            </a:extLst>
          </p:cNvPr>
          <p:cNvSpPr/>
          <p:nvPr/>
        </p:nvSpPr>
        <p:spPr>
          <a:xfrm>
            <a:off x="2449225" y="7909376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15-1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F705E26-B9E0-4E54-8879-3414DB0606F6}"/>
              </a:ext>
            </a:extLst>
          </p:cNvPr>
          <p:cNvSpPr/>
          <p:nvPr/>
        </p:nvSpPr>
        <p:spPr>
          <a:xfrm>
            <a:off x="3881004" y="7909376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15-2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786BA0C-8B61-4B79-8D1A-60AD3DDB7496}"/>
              </a:ext>
            </a:extLst>
          </p:cNvPr>
          <p:cNvSpPr/>
          <p:nvPr/>
        </p:nvSpPr>
        <p:spPr>
          <a:xfrm>
            <a:off x="89448" y="8245362"/>
            <a:ext cx="363257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1"/>
            <a:r>
              <a:rPr lang="ko-KR" altLang="ko-KR" sz="1050" b="1" dirty="0" err="1"/>
              <a:t>사랑콧</a:t>
            </a:r>
            <a:endParaRPr lang="en-US" altLang="ko-KR" sz="1050" b="1" dirty="0"/>
          </a:p>
          <a:p>
            <a:pPr lvl="0" latinLnBrk="1"/>
            <a:r>
              <a:rPr lang="en-US" altLang="ko-KR" sz="1050" b="1" dirty="0"/>
              <a:t>SARANKOT MOUNTAIN LODGE</a:t>
            </a:r>
            <a:endParaRPr lang="ko-KR" altLang="ko-KR" sz="1050" b="1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F199308-1931-4593-A7A3-6B1D648664B3}"/>
              </a:ext>
            </a:extLst>
          </p:cNvPr>
          <p:cNvSpPr/>
          <p:nvPr/>
        </p:nvSpPr>
        <p:spPr>
          <a:xfrm>
            <a:off x="2449225" y="8244083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16-1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7FB2A21D-C7E5-4CCE-923B-A2B84B75D591}"/>
              </a:ext>
            </a:extLst>
          </p:cNvPr>
          <p:cNvSpPr/>
          <p:nvPr/>
        </p:nvSpPr>
        <p:spPr>
          <a:xfrm>
            <a:off x="3881004" y="8244083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 16-2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CB07B3C-20FD-43AE-A02E-A9C4267C0B40}"/>
              </a:ext>
            </a:extLst>
          </p:cNvPr>
          <p:cNvSpPr/>
          <p:nvPr/>
        </p:nvSpPr>
        <p:spPr>
          <a:xfrm>
            <a:off x="80052" y="8626291"/>
            <a:ext cx="363257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1"/>
            <a:r>
              <a:rPr lang="ko-KR" altLang="ko-KR" sz="1050" b="1" dirty="0" err="1"/>
              <a:t>나가르콧</a:t>
            </a:r>
            <a:endParaRPr lang="en-US" altLang="ko-KR" sz="1050" b="1" dirty="0"/>
          </a:p>
          <a:p>
            <a:pPr lvl="0" latinLnBrk="1"/>
            <a:r>
              <a:rPr lang="en-US" altLang="ko-KR" sz="1050" b="1" dirty="0"/>
              <a:t> HOTEL MYSTIC MOUNTAIN</a:t>
            </a:r>
            <a:endParaRPr lang="ko-KR" altLang="ko-KR" sz="1050" b="1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A4B57693-444E-44AF-B7B3-8234A84504D6}"/>
              </a:ext>
            </a:extLst>
          </p:cNvPr>
          <p:cNvSpPr/>
          <p:nvPr/>
        </p:nvSpPr>
        <p:spPr>
          <a:xfrm>
            <a:off x="2439829" y="8625012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17-1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73FAF31-7ECF-49C2-884B-4CE8959842B4}"/>
              </a:ext>
            </a:extLst>
          </p:cNvPr>
          <p:cNvSpPr/>
          <p:nvPr/>
        </p:nvSpPr>
        <p:spPr>
          <a:xfrm>
            <a:off x="3871608" y="8625012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17-2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8B092D8-D13D-4FB2-828C-89D32E6AC310}"/>
              </a:ext>
            </a:extLst>
          </p:cNvPr>
          <p:cNvSpPr/>
          <p:nvPr/>
        </p:nvSpPr>
        <p:spPr>
          <a:xfrm>
            <a:off x="1103" y="6234147"/>
            <a:ext cx="6703433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1050" dirty="0"/>
              <a:t>혜초 네팔 자연기행 상품은 좋은 시설을 갖춘 것은 물론 지역 특유의 분위기를 느낄 수 있는 곳으로 호텔을 선정했습니다</a:t>
            </a:r>
            <a:r>
              <a:rPr lang="en-US" altLang="ko-KR" sz="1050" dirty="0"/>
              <a:t>. </a:t>
            </a:r>
            <a:r>
              <a:rPr lang="ko-KR" altLang="en-US" sz="1050" dirty="0"/>
              <a:t>호텔에서 단순히 잠만 자는 것이 아니라 네팔 히말라야의 풍광을 충분히 감상해 보세요</a:t>
            </a:r>
            <a:r>
              <a:rPr lang="en-US" altLang="ko-KR" sz="1050" dirty="0"/>
              <a:t>.</a:t>
            </a:r>
          </a:p>
          <a:p>
            <a:pPr algn="ctr" latinLnBrk="1"/>
            <a:endParaRPr lang="en-US" altLang="ko-KR" sz="1050" dirty="0"/>
          </a:p>
          <a:p>
            <a:pPr algn="ctr" latinLnBrk="1"/>
            <a:r>
              <a:rPr lang="ko-KR" altLang="en-US" sz="1050" dirty="0"/>
              <a:t>특히 </a:t>
            </a:r>
            <a:r>
              <a:rPr lang="ko-KR" altLang="en-US" sz="1050" dirty="0" err="1"/>
              <a:t>포카라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나가르콧에서는</a:t>
            </a:r>
            <a:r>
              <a:rPr lang="ko-KR" altLang="en-US" sz="1050" dirty="0"/>
              <a:t> 히말라야를 편안히 감상할 수 있는 호텔에서 </a:t>
            </a:r>
            <a:r>
              <a:rPr lang="ko-KR" altLang="en-US" sz="1050" dirty="0" err="1"/>
              <a:t>연박하며</a:t>
            </a:r>
            <a:r>
              <a:rPr lang="en-US" altLang="ko-KR" sz="1050" dirty="0"/>
              <a:t>,</a:t>
            </a:r>
          </a:p>
          <a:p>
            <a:pPr algn="ctr" latinLnBrk="1"/>
            <a:r>
              <a:rPr lang="ko-KR" altLang="en-US" sz="1050" dirty="0"/>
              <a:t>객실 발코니에서 멋진 파노라마와 밤하늘을 감상할 수 있습니다</a:t>
            </a:r>
            <a:r>
              <a:rPr lang="en-US" altLang="ko-KR" sz="1050" dirty="0"/>
              <a:t>.</a:t>
            </a:r>
            <a:endParaRPr lang="ko-KR" altLang="ko-KR" sz="105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C06E4E6-927C-4862-94C9-78DE093C935E}"/>
              </a:ext>
            </a:extLst>
          </p:cNvPr>
          <p:cNvSpPr/>
          <p:nvPr/>
        </p:nvSpPr>
        <p:spPr>
          <a:xfrm>
            <a:off x="5303129" y="7239908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13-3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6C55D919-AFE9-4982-B049-FE46D6354AF7}"/>
              </a:ext>
            </a:extLst>
          </p:cNvPr>
          <p:cNvSpPr/>
          <p:nvPr/>
        </p:nvSpPr>
        <p:spPr>
          <a:xfrm>
            <a:off x="5303129" y="7585597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14-3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660C62D-9C69-41C2-89F0-FAA6E69BAAAD}"/>
              </a:ext>
            </a:extLst>
          </p:cNvPr>
          <p:cNvSpPr/>
          <p:nvPr/>
        </p:nvSpPr>
        <p:spPr>
          <a:xfrm>
            <a:off x="5312783" y="7909376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15-3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D7581B8-0EF4-400B-8A10-759CEE98F0D1}"/>
              </a:ext>
            </a:extLst>
          </p:cNvPr>
          <p:cNvSpPr/>
          <p:nvPr/>
        </p:nvSpPr>
        <p:spPr>
          <a:xfrm>
            <a:off x="5312783" y="8244083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 16-3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F1D16CE4-B2C3-4799-8595-F85615F22FA3}"/>
              </a:ext>
            </a:extLst>
          </p:cNvPr>
          <p:cNvSpPr/>
          <p:nvPr/>
        </p:nvSpPr>
        <p:spPr>
          <a:xfrm>
            <a:off x="5303387" y="8625012"/>
            <a:ext cx="1401407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17-3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4798D6F-63BA-4445-A40E-A7CD33B5E9F1}"/>
              </a:ext>
            </a:extLst>
          </p:cNvPr>
          <p:cNvSpPr txBox="1"/>
          <p:nvPr/>
        </p:nvSpPr>
        <p:spPr>
          <a:xfrm>
            <a:off x="1386962" y="2006461"/>
            <a:ext cx="3828209" cy="307777"/>
          </a:xfrm>
          <a:prstGeom prst="rect">
            <a:avLst/>
          </a:prstGeom>
          <a:solidFill>
            <a:srgbClr val="3C6C5A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고객님이 직접 경험한 히말라야의 순간들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FE1549B-243E-4151-B509-F17D45AEC671}"/>
              </a:ext>
            </a:extLst>
          </p:cNvPr>
          <p:cNvSpPr/>
          <p:nvPr/>
        </p:nvSpPr>
        <p:spPr>
          <a:xfrm>
            <a:off x="1102" y="2418996"/>
            <a:ext cx="6703433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1050" dirty="0"/>
              <a:t>★ ★ ★ ★ ★ </a:t>
            </a:r>
            <a:endParaRPr lang="en-US" altLang="ko-KR" sz="1050" dirty="0"/>
          </a:p>
          <a:p>
            <a:pPr algn="ctr" latinLnBrk="1"/>
            <a:r>
              <a:rPr lang="ko-KR" altLang="en-US" sz="1050" dirty="0"/>
              <a:t> 직접 걷고 머무르며 경험한 히말라야의 감동</a:t>
            </a:r>
            <a:endParaRPr lang="en-US" altLang="ko-KR" sz="1050" dirty="0"/>
          </a:p>
          <a:p>
            <a:pPr algn="ctr" latinLnBrk="1"/>
            <a:r>
              <a:rPr lang="ko-KR" altLang="en-US" sz="1050" dirty="0"/>
              <a:t>고객님의 진솔한 후기로 미리 만나 보세요</a:t>
            </a:r>
            <a:r>
              <a:rPr lang="en-US" altLang="ko-KR" sz="1050" dirty="0"/>
              <a:t>!</a:t>
            </a:r>
            <a:r>
              <a:rPr lang="ko-KR" altLang="en-US" sz="1050" dirty="0"/>
              <a:t> </a:t>
            </a:r>
            <a:endParaRPr lang="ko-KR" altLang="ko-KR" sz="1050" dirty="0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E1CC9BF1-0975-4B7B-9E4F-871FC7F37C41}"/>
              </a:ext>
            </a:extLst>
          </p:cNvPr>
          <p:cNvSpPr/>
          <p:nvPr/>
        </p:nvSpPr>
        <p:spPr>
          <a:xfrm>
            <a:off x="33762" y="3100835"/>
            <a:ext cx="3344380" cy="8229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히말라야 트레킹을 계획하다 체력 등 여러가지 걱정으로 자연 및 문화를 경험하면서 설산을 보면서 하이킹 하는 자연기행 상품으로 예약을 했는데 만족도는 </a:t>
            </a:r>
            <a:r>
              <a:rPr lang="en-US" altLang="ko-KR" sz="1050" dirty="0">
                <a:solidFill>
                  <a:schemeClr val="tx1"/>
                </a:solidFill>
              </a:rPr>
              <a:t>100% </a:t>
            </a:r>
            <a:r>
              <a:rPr lang="ko-KR" altLang="en-US" sz="1050" dirty="0">
                <a:solidFill>
                  <a:schemeClr val="tx1"/>
                </a:solidFill>
              </a:rPr>
              <a:t>이상이었다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748DCD6B-3B0A-49CA-89FE-C47FCAE2034E}"/>
              </a:ext>
            </a:extLst>
          </p:cNvPr>
          <p:cNvSpPr/>
          <p:nvPr/>
        </p:nvSpPr>
        <p:spPr>
          <a:xfrm>
            <a:off x="3420253" y="3100835"/>
            <a:ext cx="3344380" cy="8229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치트완</a:t>
            </a:r>
            <a:r>
              <a:rPr lang="ko-KR" altLang="en-US" sz="1050" dirty="0">
                <a:solidFill>
                  <a:schemeClr val="tx1"/>
                </a:solidFill>
              </a:rPr>
              <a:t> 국립공원에서의 카누 </a:t>
            </a:r>
            <a:r>
              <a:rPr lang="ko-KR" altLang="en-US" sz="1050" dirty="0" err="1">
                <a:solidFill>
                  <a:schemeClr val="tx1"/>
                </a:solidFill>
              </a:rPr>
              <a:t>보팅과</a:t>
            </a:r>
            <a:r>
              <a:rPr lang="ko-KR" altLang="en-US" sz="1050" dirty="0">
                <a:solidFill>
                  <a:schemeClr val="tx1"/>
                </a:solidFill>
              </a:rPr>
              <a:t> 사바나 지역의 사파리 투어는 완전한 힐링이었으며 히말라야 </a:t>
            </a:r>
            <a:r>
              <a:rPr lang="ko-KR" altLang="en-US" sz="1050" dirty="0" err="1">
                <a:solidFill>
                  <a:schemeClr val="tx1"/>
                </a:solidFill>
              </a:rPr>
              <a:t>산군은</a:t>
            </a:r>
            <a:r>
              <a:rPr lang="ko-KR" altLang="en-US" sz="1050" dirty="0">
                <a:solidFill>
                  <a:schemeClr val="tx1"/>
                </a:solidFill>
              </a:rPr>
              <a:t> 너무도 아름다운 풍광이었다</a:t>
            </a:r>
            <a:r>
              <a:rPr lang="en-US" altLang="ko-KR" sz="1050" dirty="0">
                <a:solidFill>
                  <a:schemeClr val="tx1"/>
                </a:solidFill>
              </a:rPr>
              <a:t>. </a:t>
            </a:r>
            <a:r>
              <a:rPr lang="ko-KR" altLang="en-US" sz="1050" dirty="0">
                <a:solidFill>
                  <a:schemeClr val="tx1"/>
                </a:solidFill>
              </a:rPr>
              <a:t>시골마을 </a:t>
            </a:r>
            <a:r>
              <a:rPr lang="ko-KR" altLang="en-US" sz="1050" dirty="0" err="1">
                <a:solidFill>
                  <a:schemeClr val="tx1"/>
                </a:solidFill>
              </a:rPr>
              <a:t>반디푸르에서</a:t>
            </a:r>
            <a:r>
              <a:rPr lang="ko-KR" altLang="en-US" sz="1050" dirty="0">
                <a:solidFill>
                  <a:schemeClr val="tx1"/>
                </a:solidFill>
              </a:rPr>
              <a:t> 바라본 히말라야는 일행 모두의 탄성을 자아냈다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F519E345-7AED-4AFD-9C58-85F8B70DBCA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85796" y="3013071"/>
            <a:ext cx="3094355" cy="1981200"/>
          </a:xfrm>
          <a:prstGeom prst="rect">
            <a:avLst/>
          </a:prstGeo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A6B44B2-8AAF-427C-AC85-A78BACAF4A52}"/>
              </a:ext>
            </a:extLst>
          </p:cNvPr>
          <p:cNvSpPr/>
          <p:nvPr/>
        </p:nvSpPr>
        <p:spPr>
          <a:xfrm>
            <a:off x="90232" y="65214"/>
            <a:ext cx="6722125" cy="125922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4B08A8A-6CB0-463F-B328-3D7292BF5417}"/>
              </a:ext>
            </a:extLst>
          </p:cNvPr>
          <p:cNvSpPr/>
          <p:nvPr/>
        </p:nvSpPr>
        <p:spPr>
          <a:xfrm>
            <a:off x="260450" y="175746"/>
            <a:ext cx="283340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050" b="1" dirty="0"/>
              <a:t>03 </a:t>
            </a:r>
            <a:r>
              <a:rPr lang="ko-KR" altLang="en-US" sz="1050" b="1" dirty="0"/>
              <a:t>숙소 밖은 히말라야</a:t>
            </a:r>
            <a:endParaRPr lang="en-US" altLang="ko-KR" sz="1050" b="1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8C6694E-1BD4-46B3-A5DA-AED73C2B1F4D}"/>
              </a:ext>
            </a:extLst>
          </p:cNvPr>
          <p:cNvSpPr txBox="1"/>
          <p:nvPr/>
        </p:nvSpPr>
        <p:spPr>
          <a:xfrm>
            <a:off x="193626" y="395346"/>
            <a:ext cx="288906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히말라야가 눈 앞에 보이는 쾌적한 </a:t>
            </a:r>
            <a:r>
              <a:rPr lang="ko-KR" altLang="en-US" sz="1050" dirty="0" err="1"/>
              <a:t>롯지에</a:t>
            </a:r>
            <a:r>
              <a:rPr lang="ko-KR" altLang="en-US" sz="1050" dirty="0"/>
              <a:t> 숙박하며 밤낮으로 히말라야의 아름답고 웅장한 뷰를 감상 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89877F2-8F6C-46D2-AB6E-BB2A1B549C4E}"/>
              </a:ext>
            </a:extLst>
          </p:cNvPr>
          <p:cNvSpPr/>
          <p:nvPr/>
        </p:nvSpPr>
        <p:spPr>
          <a:xfrm>
            <a:off x="3591935" y="142640"/>
            <a:ext cx="288906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ko-KR" sz="1050" b="1" dirty="0"/>
              <a:t>04 </a:t>
            </a:r>
            <a:r>
              <a:rPr lang="ko-KR" altLang="en-US" sz="1050" b="1" dirty="0"/>
              <a:t>다양하고 맛있는 네팔 음식 경험</a:t>
            </a:r>
            <a:r>
              <a:rPr lang="en-US" altLang="ko-KR" sz="1050" b="1" dirty="0"/>
              <a:t> 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3F992B6-5D11-4600-AF1D-357CFA63074C}"/>
              </a:ext>
            </a:extLst>
          </p:cNvPr>
          <p:cNvSpPr txBox="1"/>
          <p:nvPr/>
        </p:nvSpPr>
        <p:spPr>
          <a:xfrm>
            <a:off x="3591936" y="373481"/>
            <a:ext cx="306280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네팔의 국민음식이자 주식인 </a:t>
            </a:r>
            <a:r>
              <a:rPr lang="ko-KR" altLang="en-US" sz="1050" dirty="0" err="1"/>
              <a:t>달밧부터</a:t>
            </a:r>
            <a:r>
              <a:rPr lang="en-US" altLang="ko-KR" sz="1050" dirty="0"/>
              <a:t>, </a:t>
            </a:r>
            <a:r>
              <a:rPr lang="ko-KR" altLang="en-US" sz="1050" dirty="0"/>
              <a:t>만두와 유사한 음식 모모까지</a:t>
            </a:r>
            <a:r>
              <a:rPr lang="en-US" altLang="ko-KR" sz="1050" dirty="0"/>
              <a:t> </a:t>
            </a:r>
            <a:r>
              <a:rPr lang="ko-KR" altLang="en-US" sz="1050" dirty="0"/>
              <a:t>다채롭고 맛있는 네팔 음식 문화 체험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6F33DF7-9FF0-4A43-BAC3-A12C04B0D5F6}"/>
              </a:ext>
            </a:extLst>
          </p:cNvPr>
          <p:cNvSpPr/>
          <p:nvPr/>
        </p:nvSpPr>
        <p:spPr>
          <a:xfrm>
            <a:off x="400945" y="1041610"/>
            <a:ext cx="2651218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74801B1E-94B4-441C-9A57-EA23467D2366}"/>
              </a:ext>
            </a:extLst>
          </p:cNvPr>
          <p:cNvSpPr/>
          <p:nvPr/>
        </p:nvSpPr>
        <p:spPr>
          <a:xfrm>
            <a:off x="3666851" y="1011328"/>
            <a:ext cx="2651218" cy="26166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3E5162-0BFE-491E-9F67-596B74E28D2E}"/>
              </a:ext>
            </a:extLst>
          </p:cNvPr>
          <p:cNvSpPr/>
          <p:nvPr/>
        </p:nvSpPr>
        <p:spPr>
          <a:xfrm>
            <a:off x="2314550" y="7424657"/>
            <a:ext cx="156645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ⓒ</a:t>
            </a:r>
            <a:r>
              <a:rPr lang="en-US" altLang="ko-KR" sz="900" dirty="0"/>
              <a:t>BANBAS RESORT</a:t>
            </a:r>
            <a:r>
              <a:rPr lang="ko-KR" altLang="en-US" sz="900" dirty="0"/>
              <a:t> </a:t>
            </a:r>
            <a:r>
              <a:rPr lang="en-US" altLang="ko-KR" sz="900" dirty="0"/>
              <a:t>CHITWAN</a:t>
            </a:r>
            <a:endParaRPr lang="ko-KR" altLang="ko-KR" sz="9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1476DCE-6157-4F20-8E74-2F96ED814F77}"/>
              </a:ext>
            </a:extLst>
          </p:cNvPr>
          <p:cNvSpPr/>
          <p:nvPr/>
        </p:nvSpPr>
        <p:spPr>
          <a:xfrm>
            <a:off x="2304896" y="7782938"/>
            <a:ext cx="107112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ⓒ</a:t>
            </a:r>
            <a:r>
              <a:rPr lang="en-US" altLang="ko-KR" sz="900" dirty="0"/>
              <a:t>FISHTAIL LODGE</a:t>
            </a:r>
            <a:endParaRPr lang="ko-KR" altLang="ko-KR" sz="9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D3961A1-8200-4321-8F8D-C23DF475AABC}"/>
              </a:ext>
            </a:extLst>
          </p:cNvPr>
          <p:cNvSpPr/>
          <p:nvPr/>
        </p:nvSpPr>
        <p:spPr>
          <a:xfrm>
            <a:off x="2439571" y="8093875"/>
            <a:ext cx="228460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ⓒ</a:t>
            </a:r>
            <a:r>
              <a:rPr lang="en-US" altLang="ko-KR" sz="900" dirty="0"/>
              <a:t>MOUNTAIN LODGES OF NEPAL DHAMPUS </a:t>
            </a:r>
            <a:endParaRPr lang="ko-KR" altLang="ko-KR" sz="9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B3D93B4-6D47-4FF4-B982-9971804C1C13}"/>
              </a:ext>
            </a:extLst>
          </p:cNvPr>
          <p:cNvSpPr/>
          <p:nvPr/>
        </p:nvSpPr>
        <p:spPr>
          <a:xfrm>
            <a:off x="2347949" y="8451084"/>
            <a:ext cx="1779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ⓒ</a:t>
            </a:r>
            <a:r>
              <a:rPr lang="en-US" altLang="ko-KR" sz="900" dirty="0"/>
              <a:t>SARANKOT MOUNTAIN LODGE</a:t>
            </a:r>
            <a:endParaRPr lang="ko-KR" altLang="ko-KR" sz="900" dirty="0"/>
          </a:p>
          <a:p>
            <a:endParaRPr lang="ko-KR" altLang="ko-KR" sz="9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86AF85-20CD-4004-88D4-41DEB64A6352}"/>
              </a:ext>
            </a:extLst>
          </p:cNvPr>
          <p:cNvSpPr/>
          <p:nvPr/>
        </p:nvSpPr>
        <p:spPr>
          <a:xfrm>
            <a:off x="2304896" y="8816694"/>
            <a:ext cx="1617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/>
              <a:t>ⓒ</a:t>
            </a:r>
            <a:r>
              <a:rPr lang="en-US" altLang="ko-KR" sz="900" dirty="0"/>
              <a:t>HOTEL MYSTIC MOUNTAIN</a:t>
            </a:r>
            <a:endParaRPr lang="ko-KR" altLang="ko-KR" sz="900" dirty="0"/>
          </a:p>
          <a:p>
            <a:endParaRPr lang="ko-KR" altLang="ko-KR" sz="9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3AB7D3-46AF-4204-B2ED-9D8869BAA4BF}"/>
              </a:ext>
            </a:extLst>
          </p:cNvPr>
          <p:cNvSpPr/>
          <p:nvPr/>
        </p:nvSpPr>
        <p:spPr>
          <a:xfrm>
            <a:off x="-2105025" y="7067550"/>
            <a:ext cx="1974799" cy="10263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해당 섹션 사진들은 호텔제공 사진들로</a:t>
            </a:r>
            <a:endParaRPr lang="en-US" altLang="ko-KR" sz="1000" dirty="0"/>
          </a:p>
          <a:p>
            <a:pPr algn="ctr"/>
            <a:r>
              <a:rPr lang="ko-KR" altLang="en-US" sz="1000" dirty="0"/>
              <a:t>아래에 작게 저작권표시 넣어주세요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06339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5917DF7-819C-4E37-8815-A6C44BD6A711}"/>
              </a:ext>
            </a:extLst>
          </p:cNvPr>
          <p:cNvCxnSpPr/>
          <p:nvPr/>
        </p:nvCxnSpPr>
        <p:spPr>
          <a:xfrm>
            <a:off x="297919" y="4984455"/>
            <a:ext cx="61255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5E3240D-8506-469E-82C2-52ECD396769A}"/>
              </a:ext>
            </a:extLst>
          </p:cNvPr>
          <p:cNvSpPr/>
          <p:nvPr/>
        </p:nvSpPr>
        <p:spPr>
          <a:xfrm>
            <a:off x="43766" y="1427953"/>
            <a:ext cx="6722125" cy="738921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B91E31-0F4B-41AE-B980-7117C2D30478}"/>
              </a:ext>
            </a:extLst>
          </p:cNvPr>
          <p:cNvSpPr txBox="1"/>
          <p:nvPr/>
        </p:nvSpPr>
        <p:spPr>
          <a:xfrm>
            <a:off x="47767" y="5641480"/>
            <a:ext cx="678702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ko-KR" sz="1050" dirty="0" err="1"/>
              <a:t>월드피스</a:t>
            </a:r>
            <a:r>
              <a:rPr lang="ko-KR" altLang="ko-KR" sz="1050" dirty="0"/>
              <a:t> 파고다 하이킹은 </a:t>
            </a:r>
            <a:r>
              <a:rPr lang="ko-KR" altLang="ko-KR" sz="1050" dirty="0" err="1"/>
              <a:t>포카라에서</a:t>
            </a:r>
            <a:r>
              <a:rPr lang="ko-KR" altLang="ko-KR" sz="1050" dirty="0"/>
              <a:t> 가장 대중적이면서도 전망이 탁월한 코스로</a:t>
            </a:r>
            <a:r>
              <a:rPr lang="en-US" altLang="ko-KR" sz="1050" dirty="0"/>
              <a:t>, </a:t>
            </a:r>
            <a:r>
              <a:rPr lang="ko-KR" altLang="ko-KR" sz="1050" dirty="0" err="1"/>
              <a:t>페와</a:t>
            </a:r>
            <a:r>
              <a:rPr lang="ko-KR" altLang="ko-KR" sz="1050" dirty="0"/>
              <a:t> 호수와 </a:t>
            </a:r>
            <a:r>
              <a:rPr lang="ko-KR" altLang="ko-KR" sz="1050" dirty="0" err="1"/>
              <a:t>포카라</a:t>
            </a:r>
            <a:r>
              <a:rPr lang="ko-KR" altLang="ko-KR" sz="1050" dirty="0"/>
              <a:t> 시내 전경 및 </a:t>
            </a:r>
            <a:r>
              <a:rPr lang="ko-KR" altLang="ko-KR" sz="1050" dirty="0" err="1"/>
              <a:t>마차푸차레</a:t>
            </a:r>
            <a:r>
              <a:rPr lang="en-US" altLang="ko-KR" sz="1050" dirty="0"/>
              <a:t>, </a:t>
            </a:r>
            <a:r>
              <a:rPr lang="ko-KR" altLang="ko-KR" sz="1050" dirty="0" err="1"/>
              <a:t>안나푸르나</a:t>
            </a:r>
            <a:r>
              <a:rPr lang="ko-KR" altLang="ko-KR" sz="1050" dirty="0"/>
              <a:t> </a:t>
            </a:r>
            <a:r>
              <a:rPr lang="ko-KR" altLang="ko-KR" sz="1050" dirty="0" err="1"/>
              <a:t>산군을</a:t>
            </a:r>
            <a:r>
              <a:rPr lang="ko-KR" altLang="ko-KR" sz="1050" dirty="0"/>
              <a:t> 동시에 바라볼 수 있는 것이 가장 큰 매력입니다</a:t>
            </a:r>
            <a:r>
              <a:rPr lang="en-US" altLang="ko-KR" sz="1050" dirty="0"/>
              <a:t>. </a:t>
            </a:r>
            <a:endParaRPr lang="ko-KR" altLang="ko-KR" sz="105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2C0FB25-6866-4905-ABCE-361270E6D854}"/>
              </a:ext>
            </a:extLst>
          </p:cNvPr>
          <p:cNvSpPr txBox="1"/>
          <p:nvPr/>
        </p:nvSpPr>
        <p:spPr>
          <a:xfrm>
            <a:off x="1720908" y="4719895"/>
            <a:ext cx="3499111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latinLnBrk="1"/>
            <a:r>
              <a:rPr lang="ko-KR" altLang="ko-KR" sz="1050" b="1" dirty="0" err="1"/>
              <a:t>월드피스</a:t>
            </a:r>
            <a:r>
              <a:rPr lang="ko-KR" altLang="ko-KR" sz="1050" b="1" dirty="0"/>
              <a:t> 파고다 하이킹</a:t>
            </a:r>
            <a:endParaRPr lang="ko-KR" altLang="ko-KR" sz="700" b="1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C7EE230-4786-40E9-BCE2-211D75B1BAA4}"/>
              </a:ext>
            </a:extLst>
          </p:cNvPr>
          <p:cNvSpPr/>
          <p:nvPr/>
        </p:nvSpPr>
        <p:spPr>
          <a:xfrm>
            <a:off x="94690" y="5305428"/>
            <a:ext cx="6444618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20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719E448D-3B5F-4F65-80BA-EC66574E6EC7}"/>
              </a:ext>
            </a:extLst>
          </p:cNvPr>
          <p:cNvCxnSpPr/>
          <p:nvPr/>
        </p:nvCxnSpPr>
        <p:spPr>
          <a:xfrm>
            <a:off x="428791" y="1900500"/>
            <a:ext cx="61255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93BB94C4-6B15-4A31-A72F-8115F0B1CA42}"/>
              </a:ext>
            </a:extLst>
          </p:cNvPr>
          <p:cNvSpPr txBox="1"/>
          <p:nvPr/>
        </p:nvSpPr>
        <p:spPr>
          <a:xfrm>
            <a:off x="1716527" y="1762001"/>
            <a:ext cx="3499111" cy="384721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700" b="1" dirty="0">
                <a:solidFill>
                  <a:schemeClr val="bg1"/>
                </a:solidFill>
              </a:rPr>
              <a:t>유네스코 세계자연유산</a:t>
            </a:r>
            <a:endParaRPr lang="en-US" altLang="ko-KR" sz="700" b="1" dirty="0">
              <a:solidFill>
                <a:schemeClr val="bg1"/>
              </a:solidFill>
            </a:endParaRPr>
          </a:p>
          <a:p>
            <a:pPr algn="ctr" latinLnBrk="1"/>
            <a:r>
              <a:rPr lang="ko-KR" altLang="en-US" sz="1200" b="1" dirty="0" err="1">
                <a:solidFill>
                  <a:schemeClr val="bg1"/>
                </a:solidFill>
              </a:rPr>
              <a:t>치트완</a:t>
            </a:r>
            <a:r>
              <a:rPr lang="ko-KR" altLang="en-US" sz="1200" b="1" dirty="0">
                <a:solidFill>
                  <a:schemeClr val="bg1"/>
                </a:solidFill>
              </a:rPr>
              <a:t> 국립공원</a:t>
            </a:r>
            <a:endParaRPr lang="ko-KR" altLang="ko-KR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1FEB8F-CABA-4E6A-8067-4517648AB624}"/>
              </a:ext>
            </a:extLst>
          </p:cNvPr>
          <p:cNvSpPr txBox="1"/>
          <p:nvPr/>
        </p:nvSpPr>
        <p:spPr>
          <a:xfrm>
            <a:off x="55425" y="2515847"/>
            <a:ext cx="4320433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50" dirty="0"/>
              <a:t>네팔 남부에 위치한 </a:t>
            </a:r>
            <a:r>
              <a:rPr lang="ko-KR" altLang="en-US" sz="1050" dirty="0" err="1"/>
              <a:t>치트완</a:t>
            </a:r>
            <a:r>
              <a:rPr lang="ko-KR" altLang="en-US" sz="1050" dirty="0"/>
              <a:t> 국립공원은 정글을 보호하기 위해 설치된 자연 보호 공원으로</a:t>
            </a:r>
            <a:r>
              <a:rPr lang="en-US" altLang="ko-KR" sz="1050" dirty="0"/>
              <a:t>, </a:t>
            </a:r>
            <a:r>
              <a:rPr lang="ko-KR" altLang="en-US" sz="1050" dirty="0"/>
              <a:t>유네스코 세계자연유산에 등록되어 있습니다</a:t>
            </a:r>
            <a:r>
              <a:rPr lang="en-US" altLang="ko-KR" sz="1050" dirty="0"/>
              <a:t>. </a:t>
            </a:r>
          </a:p>
          <a:p>
            <a:pPr latinLnBrk="1"/>
            <a:r>
              <a:rPr lang="ko-KR" altLang="en-US" sz="1050" dirty="0"/>
              <a:t>해발 </a:t>
            </a:r>
            <a:r>
              <a:rPr lang="en-US" altLang="ko-KR" sz="1050" dirty="0"/>
              <a:t>50m~200m </a:t>
            </a:r>
            <a:r>
              <a:rPr lang="ko-KR" altLang="en-US" sz="1050" dirty="0"/>
              <a:t>정도로 아열대 기후에 속하며 공원내에는 </a:t>
            </a:r>
            <a:r>
              <a:rPr lang="en-US" altLang="ko-KR" sz="1050" dirty="0"/>
              <a:t>40</a:t>
            </a:r>
            <a:r>
              <a:rPr lang="ko-KR" altLang="en-US" sz="1050" dirty="0"/>
              <a:t>종이 넘는 포유동물과 </a:t>
            </a:r>
            <a:r>
              <a:rPr lang="en-US" altLang="ko-KR" sz="1050" dirty="0"/>
              <a:t>450</a:t>
            </a:r>
            <a:r>
              <a:rPr lang="ko-KR" altLang="en-US" sz="1050" dirty="0"/>
              <a:t>여 종의 조류가 살고 있습니다</a:t>
            </a:r>
            <a:r>
              <a:rPr lang="en-US" altLang="ko-KR" sz="1050" dirty="0"/>
              <a:t>. </a:t>
            </a:r>
            <a:r>
              <a:rPr lang="ko-KR" altLang="en-US" sz="1050" dirty="0" err="1"/>
              <a:t>치트완</a:t>
            </a:r>
            <a:r>
              <a:rPr lang="ko-KR" altLang="en-US" sz="1050" dirty="0"/>
              <a:t> 국립공원에서 지프차를 타고 정글 사파리 투어를 하고 카누를 타는 시간이 기다립니다</a:t>
            </a:r>
            <a:r>
              <a:rPr lang="en-US" altLang="ko-KR" sz="1050" dirty="0"/>
              <a:t>. </a:t>
            </a:r>
          </a:p>
          <a:p>
            <a:pPr latinLnBrk="1"/>
            <a:endParaRPr lang="en-US" altLang="ko-KR" sz="1050" dirty="0"/>
          </a:p>
          <a:p>
            <a:pPr latinLnBrk="1"/>
            <a:endParaRPr lang="en-US" altLang="ko-KR" sz="1050" dirty="0" err="1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FB495B7-BC2D-4D80-854B-A678A5836A58}"/>
              </a:ext>
            </a:extLst>
          </p:cNvPr>
          <p:cNvSpPr/>
          <p:nvPr/>
        </p:nvSpPr>
        <p:spPr>
          <a:xfrm>
            <a:off x="134707" y="2184623"/>
            <a:ext cx="6444618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FAEBE2-A87A-4C5A-A8FB-BCA5BDD2DF7F}"/>
              </a:ext>
            </a:extLst>
          </p:cNvPr>
          <p:cNvSpPr txBox="1"/>
          <p:nvPr/>
        </p:nvSpPr>
        <p:spPr>
          <a:xfrm>
            <a:off x="2309396" y="4993387"/>
            <a:ext cx="21355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000" dirty="0"/>
              <a:t>거리 </a:t>
            </a:r>
            <a:r>
              <a:rPr lang="en-US" altLang="ko-KR" sz="1000" dirty="0"/>
              <a:t>: </a:t>
            </a:r>
            <a:r>
              <a:rPr lang="ko-KR" altLang="en-US" sz="1000" dirty="0"/>
              <a:t>약 </a:t>
            </a:r>
            <a:r>
              <a:rPr lang="en-US" altLang="ko-KR" sz="1000" dirty="0"/>
              <a:t>2km  / </a:t>
            </a:r>
            <a:r>
              <a:rPr lang="ko-KR" altLang="ko-KR" sz="1000" dirty="0"/>
              <a:t>소요시간 </a:t>
            </a:r>
            <a:r>
              <a:rPr lang="en-US" altLang="ko-KR" sz="1000" dirty="0"/>
              <a:t>: </a:t>
            </a:r>
            <a:r>
              <a:rPr lang="ko-KR" altLang="ko-KR" sz="1000" dirty="0"/>
              <a:t>약</a:t>
            </a:r>
            <a:r>
              <a:rPr lang="en-US" altLang="ko-KR" sz="1000" dirty="0"/>
              <a:t> 1</a:t>
            </a:r>
            <a:r>
              <a:rPr lang="ko-KR" altLang="ko-KR" sz="1000" dirty="0"/>
              <a:t>시간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0EA16E1-5180-4624-A4A3-8585EC6DB500}"/>
              </a:ext>
            </a:extLst>
          </p:cNvPr>
          <p:cNvCxnSpPr/>
          <p:nvPr/>
        </p:nvCxnSpPr>
        <p:spPr>
          <a:xfrm>
            <a:off x="373366" y="3556847"/>
            <a:ext cx="61255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0E70A6B-0274-4F05-AC0F-6EF86830015E}"/>
              </a:ext>
            </a:extLst>
          </p:cNvPr>
          <p:cNvSpPr txBox="1"/>
          <p:nvPr/>
        </p:nvSpPr>
        <p:spPr>
          <a:xfrm>
            <a:off x="1661102" y="3418348"/>
            <a:ext cx="3499111" cy="384721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700" b="1" dirty="0">
                <a:solidFill>
                  <a:schemeClr val="bg1"/>
                </a:solidFill>
              </a:rPr>
              <a:t>히말라야의 관문</a:t>
            </a:r>
            <a:endParaRPr lang="en-US" altLang="ko-KR" sz="700" b="1" dirty="0">
              <a:solidFill>
                <a:schemeClr val="bg1"/>
              </a:solidFill>
            </a:endParaRPr>
          </a:p>
          <a:p>
            <a:pPr algn="ctr" latinLnBrk="1"/>
            <a:r>
              <a:rPr lang="ko-KR" altLang="en-US" sz="1200" b="1" dirty="0" err="1">
                <a:solidFill>
                  <a:schemeClr val="bg1"/>
                </a:solidFill>
              </a:rPr>
              <a:t>포카라</a:t>
            </a:r>
            <a:endParaRPr lang="ko-KR" altLang="ko-KR" sz="12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4E6456-AD52-41D4-B1A7-3F43B07B6132}"/>
              </a:ext>
            </a:extLst>
          </p:cNvPr>
          <p:cNvSpPr txBox="1"/>
          <p:nvPr/>
        </p:nvSpPr>
        <p:spPr>
          <a:xfrm>
            <a:off x="0" y="4172194"/>
            <a:ext cx="678702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dirty="0" err="1"/>
              <a:t>포카라는</a:t>
            </a:r>
            <a:r>
              <a:rPr lang="ko-KR" altLang="ko-KR" sz="1050" dirty="0"/>
              <a:t> 네팔의 수도 카트만두에서 서쪽으로 약</a:t>
            </a:r>
            <a:r>
              <a:rPr lang="en-US" altLang="ko-KR" sz="1050" dirty="0"/>
              <a:t> 200 km </a:t>
            </a:r>
            <a:r>
              <a:rPr lang="ko-KR" altLang="ko-KR" sz="1050" dirty="0"/>
              <a:t>떨어진 곳으로 히말라야 </a:t>
            </a:r>
            <a:r>
              <a:rPr lang="ko-KR" altLang="ko-KR" sz="1050" dirty="0" err="1"/>
              <a:t>산군과</a:t>
            </a:r>
            <a:r>
              <a:rPr lang="ko-KR" altLang="ko-KR" sz="1050" dirty="0"/>
              <a:t> 맑은 호수</a:t>
            </a:r>
            <a:r>
              <a:rPr lang="en-US" altLang="ko-KR" sz="1050" dirty="0"/>
              <a:t>, </a:t>
            </a:r>
            <a:r>
              <a:rPr lang="ko-KR" altLang="ko-KR" sz="1050" dirty="0"/>
              <a:t>평온한 계곡이 어우러진 도시로 </a:t>
            </a:r>
            <a:r>
              <a:rPr lang="ko-KR" altLang="ko-KR" sz="1050" dirty="0" err="1"/>
              <a:t>안나푸르나</a:t>
            </a:r>
            <a:r>
              <a:rPr lang="ko-KR" altLang="ko-KR" sz="1050" dirty="0"/>
              <a:t> 트레킹을 위한 관문임과 동시에 네팔의 대표적인 휴양 명소입니다</a:t>
            </a:r>
            <a:r>
              <a:rPr lang="en-US" altLang="ko-KR" sz="1050" dirty="0"/>
              <a:t>. </a:t>
            </a:r>
            <a:r>
              <a:rPr lang="ko-KR" altLang="ko-KR" sz="1050" dirty="0"/>
              <a:t>여유로움이 가득한 </a:t>
            </a:r>
            <a:r>
              <a:rPr lang="ko-KR" altLang="ko-KR" sz="1050" dirty="0" err="1"/>
              <a:t>포카라에서</a:t>
            </a:r>
            <a:r>
              <a:rPr lang="ko-KR" altLang="ko-KR" sz="1050" dirty="0"/>
              <a:t> 나룻배도 타고</a:t>
            </a:r>
            <a:r>
              <a:rPr lang="en-US" altLang="ko-KR" sz="1050" dirty="0"/>
              <a:t>, </a:t>
            </a:r>
            <a:r>
              <a:rPr lang="ko-KR" altLang="ko-KR" sz="1050" dirty="0"/>
              <a:t>시원한 전망이 펼쳐지는 하이킹도 즐겨보세요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17C1667-30AC-4C61-8D86-50089C2C15F9}"/>
              </a:ext>
            </a:extLst>
          </p:cNvPr>
          <p:cNvSpPr/>
          <p:nvPr/>
        </p:nvSpPr>
        <p:spPr>
          <a:xfrm>
            <a:off x="79282" y="3840970"/>
            <a:ext cx="6444618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0A97D6-A9F3-4606-922F-E3AB9C226237}"/>
              </a:ext>
            </a:extLst>
          </p:cNvPr>
          <p:cNvSpPr txBox="1"/>
          <p:nvPr/>
        </p:nvSpPr>
        <p:spPr>
          <a:xfrm>
            <a:off x="1490723" y="1437231"/>
            <a:ext cx="3828209" cy="261610"/>
          </a:xfrm>
          <a:prstGeom prst="rect">
            <a:avLst/>
          </a:prstGeom>
          <a:solidFill>
            <a:srgbClr val="3C6C5A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히말라야의 아름다운 대자연으로  떠나요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DBAC3A-CF59-4D2E-A258-AEE111C8C12B}"/>
              </a:ext>
            </a:extLst>
          </p:cNvPr>
          <p:cNvSpPr/>
          <p:nvPr/>
        </p:nvSpPr>
        <p:spPr>
          <a:xfrm>
            <a:off x="4471107" y="2553338"/>
            <a:ext cx="2108217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18-1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7701FBA-A5D5-4F8F-A539-7C2A8A9C18CA}"/>
              </a:ext>
            </a:extLst>
          </p:cNvPr>
          <p:cNvCxnSpPr/>
          <p:nvPr/>
        </p:nvCxnSpPr>
        <p:spPr>
          <a:xfrm>
            <a:off x="344718" y="7583061"/>
            <a:ext cx="61255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06A3A4D-5639-4078-9B6F-677CED99E642}"/>
              </a:ext>
            </a:extLst>
          </p:cNvPr>
          <p:cNvSpPr txBox="1"/>
          <p:nvPr/>
        </p:nvSpPr>
        <p:spPr>
          <a:xfrm>
            <a:off x="94566" y="8240086"/>
            <a:ext cx="678702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ko-KR" sz="1050" dirty="0"/>
              <a:t>오스트레일리안 캠프 하이킹</a:t>
            </a:r>
            <a:r>
              <a:rPr lang="ko-KR" altLang="en-US" sz="1050" dirty="0"/>
              <a:t>에서는 </a:t>
            </a:r>
            <a:r>
              <a:rPr lang="ko-KR" altLang="ko-KR" sz="1050" dirty="0" err="1"/>
              <a:t>마차푸차레와</a:t>
            </a:r>
            <a:r>
              <a:rPr lang="ko-KR" altLang="ko-KR" sz="1050" dirty="0"/>
              <a:t> </a:t>
            </a:r>
            <a:r>
              <a:rPr lang="ko-KR" altLang="ko-KR" sz="1050" dirty="0" err="1"/>
              <a:t>안나푸르나의</a:t>
            </a:r>
            <a:r>
              <a:rPr lang="ko-KR" altLang="ko-KR" sz="1050" dirty="0"/>
              <a:t> </a:t>
            </a:r>
            <a:r>
              <a:rPr lang="ko-KR" altLang="ko-KR" sz="1050" dirty="0" err="1"/>
              <a:t>남봉</a:t>
            </a:r>
            <a:r>
              <a:rPr lang="en-US" altLang="ko-KR" sz="1050" dirty="0"/>
              <a:t>, </a:t>
            </a:r>
            <a:r>
              <a:rPr lang="ko-KR" altLang="ko-KR" sz="1050" dirty="0" err="1"/>
              <a:t>강가푸르나</a:t>
            </a:r>
            <a:r>
              <a:rPr lang="ko-KR" altLang="ko-KR" sz="1050" dirty="0"/>
              <a:t> 등 히말라야 설산의 파노라마 풍광을 보며 </a:t>
            </a:r>
            <a:r>
              <a:rPr lang="ko-KR" altLang="en-US" sz="1050" dirty="0"/>
              <a:t>걷습니다</a:t>
            </a:r>
            <a:r>
              <a:rPr lang="en-US" altLang="ko-KR" sz="1050" dirty="0"/>
              <a:t>.</a:t>
            </a:r>
            <a:r>
              <a:rPr lang="ko-KR" altLang="ko-KR" sz="1050" dirty="0"/>
              <a:t> 웅장한 산맥의 풍광은 물론 산간에 있는 작고 소</a:t>
            </a:r>
            <a:r>
              <a:rPr lang="ko-KR" altLang="en-US" sz="1050" dirty="0"/>
              <a:t>박</a:t>
            </a:r>
            <a:r>
              <a:rPr lang="ko-KR" altLang="ko-KR" sz="1050" dirty="0"/>
              <a:t>한 마을과 너른</a:t>
            </a:r>
            <a:r>
              <a:rPr lang="en-US" altLang="ko-KR" sz="1050" dirty="0"/>
              <a:t> </a:t>
            </a:r>
            <a:r>
              <a:rPr lang="ko-KR" altLang="ko-KR" sz="1050" dirty="0"/>
              <a:t>들판</a:t>
            </a:r>
            <a:r>
              <a:rPr lang="en-US" altLang="ko-KR" sz="1050" dirty="0"/>
              <a:t>, </a:t>
            </a:r>
            <a:r>
              <a:rPr lang="ko-KR" altLang="ko-KR" sz="1050" dirty="0"/>
              <a:t>예쁜 꽃과 해맑은 표정으로 웃고있는 아이들 및 짐을 싣고 가는 당나귀 등 아기자기한 풍광도 같이 볼 수 있습니다</a:t>
            </a:r>
            <a:r>
              <a:rPr lang="en-US" altLang="ko-KR" sz="1050" dirty="0"/>
              <a:t>. </a:t>
            </a:r>
            <a:endParaRPr lang="ko-KR" altLang="ko-KR" sz="10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BFF4C7-F7FD-4234-8DB8-D85BBE4CA1FC}"/>
              </a:ext>
            </a:extLst>
          </p:cNvPr>
          <p:cNvSpPr txBox="1"/>
          <p:nvPr/>
        </p:nvSpPr>
        <p:spPr>
          <a:xfrm>
            <a:off x="1767707" y="7318501"/>
            <a:ext cx="3499111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latinLnBrk="1"/>
            <a:r>
              <a:rPr lang="ko-KR" altLang="ko-KR" sz="1050" b="1" dirty="0"/>
              <a:t>오스트레일리안 캠프 하이킹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987FC2C-18D5-4567-91AE-BA4A08607858}"/>
              </a:ext>
            </a:extLst>
          </p:cNvPr>
          <p:cNvSpPr/>
          <p:nvPr/>
        </p:nvSpPr>
        <p:spPr>
          <a:xfrm>
            <a:off x="141489" y="7904034"/>
            <a:ext cx="6444618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AD2F1-3557-4C68-BE6D-EB554E438831}"/>
              </a:ext>
            </a:extLst>
          </p:cNvPr>
          <p:cNvSpPr txBox="1"/>
          <p:nvPr/>
        </p:nvSpPr>
        <p:spPr>
          <a:xfrm>
            <a:off x="2356195" y="7591993"/>
            <a:ext cx="21066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000" dirty="0"/>
              <a:t>거리 </a:t>
            </a:r>
            <a:r>
              <a:rPr lang="en-US" altLang="ko-KR" sz="1000" dirty="0"/>
              <a:t>: </a:t>
            </a:r>
            <a:r>
              <a:rPr lang="ko-KR" altLang="en-US" sz="1000" dirty="0"/>
              <a:t>약 </a:t>
            </a:r>
            <a:r>
              <a:rPr lang="en-US" altLang="ko-KR" sz="1000" dirty="0"/>
              <a:t>6km  / </a:t>
            </a:r>
            <a:r>
              <a:rPr lang="ko-KR" altLang="ko-KR" sz="1000" dirty="0"/>
              <a:t>소요시간 </a:t>
            </a:r>
            <a:r>
              <a:rPr lang="en-US" altLang="ko-KR" sz="1000" dirty="0"/>
              <a:t>: </a:t>
            </a:r>
            <a:r>
              <a:rPr lang="ko-KR" altLang="ko-KR" sz="1000" dirty="0"/>
              <a:t>약</a:t>
            </a:r>
            <a:r>
              <a:rPr lang="en-US" altLang="ko-KR" sz="1000" dirty="0"/>
              <a:t>3</a:t>
            </a:r>
            <a:r>
              <a:rPr lang="ko-KR" altLang="ko-KR" sz="1000" dirty="0"/>
              <a:t>시간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51FB594-08C6-4E23-8566-F5869C6FE1D7}"/>
              </a:ext>
            </a:extLst>
          </p:cNvPr>
          <p:cNvCxnSpPr/>
          <p:nvPr/>
        </p:nvCxnSpPr>
        <p:spPr>
          <a:xfrm>
            <a:off x="373366" y="6183740"/>
            <a:ext cx="61255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59D7DE9-652A-406D-AFD0-2E7236ADE89C}"/>
              </a:ext>
            </a:extLst>
          </p:cNvPr>
          <p:cNvSpPr txBox="1"/>
          <p:nvPr/>
        </p:nvSpPr>
        <p:spPr>
          <a:xfrm>
            <a:off x="1661102" y="6045241"/>
            <a:ext cx="3499111" cy="384721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 latinLnBrk="1"/>
            <a:r>
              <a:rPr lang="ko-KR" altLang="ko-KR" sz="700" b="1" dirty="0">
                <a:solidFill>
                  <a:schemeClr val="bg1"/>
                </a:solidFill>
              </a:rPr>
              <a:t>히말라야 파노라마를 보며 걷는 시간</a:t>
            </a:r>
            <a:endParaRPr lang="en-US" altLang="ko-KR" sz="700" b="1" dirty="0">
              <a:solidFill>
                <a:schemeClr val="bg1"/>
              </a:solidFill>
            </a:endParaRPr>
          </a:p>
          <a:p>
            <a:pPr algn="ctr" latinLnBrk="1"/>
            <a:r>
              <a:rPr lang="ko-KR" altLang="en-US" sz="1200" b="1" dirty="0" err="1">
                <a:solidFill>
                  <a:schemeClr val="bg1"/>
                </a:solidFill>
              </a:rPr>
              <a:t>담푸스</a:t>
            </a:r>
            <a:endParaRPr lang="ko-KR" altLang="ko-KR" sz="1200" b="1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814BDD-8EE7-4581-A1B2-A660485819C4}"/>
              </a:ext>
            </a:extLst>
          </p:cNvPr>
          <p:cNvSpPr txBox="1"/>
          <p:nvPr/>
        </p:nvSpPr>
        <p:spPr>
          <a:xfrm>
            <a:off x="0" y="6799087"/>
            <a:ext cx="678702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ko-KR" sz="1050" dirty="0" err="1"/>
              <a:t>담푸스는</a:t>
            </a:r>
            <a:r>
              <a:rPr lang="ko-KR" altLang="ko-KR" sz="1050" dirty="0"/>
              <a:t> 네팔 </a:t>
            </a:r>
            <a:r>
              <a:rPr lang="ko-KR" altLang="ko-KR" sz="1050" dirty="0" err="1"/>
              <a:t>포카라</a:t>
            </a:r>
            <a:r>
              <a:rPr lang="ko-KR" altLang="ko-KR" sz="1050" dirty="0"/>
              <a:t> 인근에 위치한 작은 마을로</a:t>
            </a:r>
            <a:r>
              <a:rPr lang="en-US" altLang="ko-KR" sz="1050" dirty="0"/>
              <a:t>, </a:t>
            </a:r>
            <a:r>
              <a:rPr lang="ko-KR" altLang="ko-KR" sz="1050" dirty="0"/>
              <a:t>과도한 고도 상승 없이 히말라야 </a:t>
            </a:r>
            <a:r>
              <a:rPr lang="ko-KR" altLang="ko-KR" sz="1050" dirty="0" err="1"/>
              <a:t>안나푸르나</a:t>
            </a:r>
            <a:r>
              <a:rPr lang="ko-KR" altLang="ko-KR" sz="1050" dirty="0"/>
              <a:t> 연봉을 조망할 수 있어 수많은 </a:t>
            </a:r>
            <a:r>
              <a:rPr lang="ko-KR" altLang="ko-KR" sz="1050" dirty="0" err="1"/>
              <a:t>트레커들이</a:t>
            </a:r>
            <a:r>
              <a:rPr lang="ko-KR" altLang="ko-KR" sz="1050" dirty="0"/>
              <a:t> 방문하는 곳</a:t>
            </a:r>
            <a:r>
              <a:rPr lang="ko-KR" altLang="en-US" sz="1050" dirty="0"/>
              <a:t>입니</a:t>
            </a:r>
            <a:r>
              <a:rPr lang="ko-KR" altLang="ko-KR" sz="1050" dirty="0"/>
              <a:t>다</a:t>
            </a:r>
            <a:r>
              <a:rPr lang="en-US" altLang="ko-KR" sz="1050" dirty="0"/>
              <a:t>. </a:t>
            </a:r>
            <a:r>
              <a:rPr lang="ko-KR" altLang="ko-KR" sz="1050" dirty="0"/>
              <a:t>마을 주변에는 계단식 논과 전통가옥이 이어져 있으며</a:t>
            </a:r>
            <a:r>
              <a:rPr lang="en-US" altLang="ko-KR" sz="1050" dirty="0"/>
              <a:t>, </a:t>
            </a:r>
            <a:r>
              <a:rPr lang="ko-KR" altLang="ko-KR" sz="1050" dirty="0"/>
              <a:t>가벼운 하이킹 코스가 잘 조성되어 있습니다</a:t>
            </a:r>
            <a:r>
              <a:rPr lang="en-US" altLang="ko-KR" sz="1050" dirty="0"/>
              <a:t>.</a:t>
            </a:r>
            <a:endParaRPr lang="ko-KR" altLang="ko-KR" sz="105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F1AFC3A-08C5-4051-8183-03B4B4D47C93}"/>
              </a:ext>
            </a:extLst>
          </p:cNvPr>
          <p:cNvSpPr/>
          <p:nvPr/>
        </p:nvSpPr>
        <p:spPr>
          <a:xfrm>
            <a:off x="79282" y="6467863"/>
            <a:ext cx="6444618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334AE51-722A-48A0-8B6F-CE2F5F98F416}"/>
              </a:ext>
            </a:extLst>
          </p:cNvPr>
          <p:cNvSpPr/>
          <p:nvPr/>
        </p:nvSpPr>
        <p:spPr>
          <a:xfrm>
            <a:off x="67938" y="45243"/>
            <a:ext cx="6722125" cy="1301482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2839F7-AA16-4C8D-B09B-224440707918}"/>
              </a:ext>
            </a:extLst>
          </p:cNvPr>
          <p:cNvSpPr txBox="1"/>
          <p:nvPr/>
        </p:nvSpPr>
        <p:spPr>
          <a:xfrm>
            <a:off x="1514895" y="49779"/>
            <a:ext cx="3828209" cy="477054"/>
          </a:xfrm>
          <a:prstGeom prst="rect">
            <a:avLst/>
          </a:prstGeom>
          <a:solidFill>
            <a:srgbClr val="3C6C5A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총 </a:t>
            </a:r>
            <a:r>
              <a:rPr lang="en-US" altLang="ko-KR" sz="1100" b="1" dirty="0">
                <a:solidFill>
                  <a:schemeClr val="bg1"/>
                </a:solidFill>
              </a:rPr>
              <a:t>4</a:t>
            </a:r>
            <a:r>
              <a:rPr lang="ko-KR" altLang="en-US" sz="1100" b="1" dirty="0">
                <a:solidFill>
                  <a:schemeClr val="bg1"/>
                </a:solidFill>
              </a:rPr>
              <a:t>번의 가벼운 하이킹으로 만나는</a:t>
            </a:r>
            <a:endParaRPr lang="en-US" altLang="ko-KR" sz="11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히말라야의 대자연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43DBAE3-D9B8-4A63-B3AE-1E7E6B12A03C}"/>
              </a:ext>
            </a:extLst>
          </p:cNvPr>
          <p:cNvSpPr/>
          <p:nvPr/>
        </p:nvSpPr>
        <p:spPr>
          <a:xfrm>
            <a:off x="49345" y="608061"/>
            <a:ext cx="670343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ko-KR" sz="1050" dirty="0"/>
              <a:t>하나</a:t>
            </a:r>
            <a:r>
              <a:rPr lang="en-US" altLang="ko-KR" sz="1050" dirty="0"/>
              <a:t>! </a:t>
            </a:r>
            <a:r>
              <a:rPr lang="ko-KR" altLang="ko-KR" sz="1050" dirty="0"/>
              <a:t>오스트레일리안 캠프 하이킹</a:t>
            </a:r>
            <a:r>
              <a:rPr lang="en-US" altLang="ko-KR" sz="1050" dirty="0"/>
              <a:t>   </a:t>
            </a:r>
            <a:r>
              <a:rPr lang="ko-KR" altLang="ko-KR" sz="1050" dirty="0"/>
              <a:t>약</a:t>
            </a:r>
            <a:r>
              <a:rPr lang="en-US" altLang="ko-KR" sz="1050" dirty="0"/>
              <a:t> 3</a:t>
            </a:r>
            <a:r>
              <a:rPr lang="ko-KR" altLang="ko-KR" sz="1050" dirty="0"/>
              <a:t>시간 소요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ko-KR" sz="1050" dirty="0"/>
              <a:t>둘</a:t>
            </a:r>
            <a:r>
              <a:rPr lang="en-US" altLang="ko-KR" sz="1050" dirty="0"/>
              <a:t>! </a:t>
            </a:r>
            <a:r>
              <a:rPr lang="ko-KR" altLang="ko-KR" sz="1050" dirty="0" err="1"/>
              <a:t>월드피스</a:t>
            </a:r>
            <a:r>
              <a:rPr lang="ko-KR" altLang="ko-KR" sz="1050" dirty="0"/>
              <a:t> 파고다 하이킹</a:t>
            </a:r>
            <a:r>
              <a:rPr lang="en-US" altLang="ko-KR" sz="1050" dirty="0"/>
              <a:t>      </a:t>
            </a:r>
            <a:r>
              <a:rPr lang="ko-KR" altLang="ko-KR" sz="1050" dirty="0"/>
              <a:t>약</a:t>
            </a:r>
            <a:r>
              <a:rPr lang="en-US" altLang="ko-KR" sz="1050" dirty="0"/>
              <a:t> 1</a:t>
            </a:r>
            <a:r>
              <a:rPr lang="ko-KR" altLang="ko-KR" sz="1050" dirty="0"/>
              <a:t>시간 소요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ko-KR" sz="1050" dirty="0"/>
              <a:t>셋</a:t>
            </a:r>
            <a:r>
              <a:rPr lang="en-US" altLang="ko-KR" sz="1050" dirty="0"/>
              <a:t>! </a:t>
            </a:r>
            <a:r>
              <a:rPr lang="ko-KR" altLang="ko-KR" sz="1050" dirty="0" err="1"/>
              <a:t>나가르콧</a:t>
            </a:r>
            <a:r>
              <a:rPr lang="ko-KR" altLang="ko-KR" sz="1050" dirty="0"/>
              <a:t> </a:t>
            </a:r>
            <a:r>
              <a:rPr lang="ko-KR" altLang="ko-KR" sz="1050" dirty="0" err="1"/>
              <a:t>파노라믹</a:t>
            </a:r>
            <a:r>
              <a:rPr lang="ko-KR" altLang="ko-KR" sz="1050" dirty="0"/>
              <a:t> 하이킹</a:t>
            </a:r>
            <a:r>
              <a:rPr lang="en-US" altLang="ko-KR" sz="1050" dirty="0"/>
              <a:t>   </a:t>
            </a:r>
            <a:r>
              <a:rPr lang="ko-KR" altLang="ko-KR" sz="1050" dirty="0"/>
              <a:t>약</a:t>
            </a:r>
            <a:r>
              <a:rPr lang="en-US" altLang="ko-KR" sz="1050" dirty="0"/>
              <a:t> 1</a:t>
            </a:r>
            <a:r>
              <a:rPr lang="ko-KR" altLang="ko-KR" sz="1050" dirty="0"/>
              <a:t>시간</a:t>
            </a:r>
            <a:r>
              <a:rPr lang="en-US" altLang="ko-KR" sz="1050" dirty="0"/>
              <a:t> 30</a:t>
            </a:r>
            <a:r>
              <a:rPr lang="ko-KR" altLang="ko-KR" sz="1050" dirty="0"/>
              <a:t>분 소요</a:t>
            </a:r>
          </a:p>
          <a:p>
            <a:pPr marL="171450" indent="-171450" latinLnBrk="1">
              <a:buFont typeface="Arial" panose="020B0604020202020204" pitchFamily="34" charset="0"/>
              <a:buChar char="•"/>
            </a:pPr>
            <a:r>
              <a:rPr lang="ko-KR" altLang="ko-KR" sz="1050" dirty="0"/>
              <a:t>넷</a:t>
            </a:r>
            <a:r>
              <a:rPr lang="en-US" altLang="ko-KR" sz="1050" dirty="0"/>
              <a:t>! </a:t>
            </a:r>
            <a:r>
              <a:rPr lang="ko-KR" altLang="ko-KR" sz="1050" dirty="0" err="1"/>
              <a:t>나모부다</a:t>
            </a:r>
            <a:r>
              <a:rPr lang="ko-KR" altLang="ko-KR" sz="1050" dirty="0"/>
              <a:t> 사원 하이킹</a:t>
            </a:r>
            <a:r>
              <a:rPr lang="en-US" altLang="ko-KR" sz="1050" dirty="0"/>
              <a:t>   </a:t>
            </a:r>
            <a:r>
              <a:rPr lang="ko-KR" altLang="ko-KR" sz="1050" dirty="0"/>
              <a:t>약</a:t>
            </a:r>
            <a:r>
              <a:rPr lang="en-US" altLang="ko-KR" sz="1050" dirty="0"/>
              <a:t> 1</a:t>
            </a:r>
            <a:r>
              <a:rPr lang="ko-KR" altLang="ko-KR" sz="1050" dirty="0"/>
              <a:t>시간 소요</a:t>
            </a:r>
          </a:p>
        </p:txBody>
      </p:sp>
    </p:spTree>
    <p:extLst>
      <p:ext uri="{BB962C8B-B14F-4D97-AF65-F5344CB8AC3E}">
        <p14:creationId xmlns:p14="http://schemas.microsoft.com/office/powerpoint/2010/main" val="252802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A326235-6F28-43EA-A688-5CC05791D99D}"/>
              </a:ext>
            </a:extLst>
          </p:cNvPr>
          <p:cNvCxnSpPr/>
          <p:nvPr/>
        </p:nvCxnSpPr>
        <p:spPr>
          <a:xfrm>
            <a:off x="435362" y="2348989"/>
            <a:ext cx="61255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33CFBD9-5A42-423E-A368-8C46C24B7A92}"/>
              </a:ext>
            </a:extLst>
          </p:cNvPr>
          <p:cNvSpPr txBox="1"/>
          <p:nvPr/>
        </p:nvSpPr>
        <p:spPr>
          <a:xfrm>
            <a:off x="1723098" y="2210490"/>
            <a:ext cx="3499111" cy="384721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700" b="1" dirty="0">
                <a:solidFill>
                  <a:schemeClr val="bg1"/>
                </a:solidFill>
              </a:rPr>
              <a:t>카트만두 근교 히말라야 뷰 휴양지</a:t>
            </a:r>
            <a:endParaRPr lang="en-US" altLang="ko-KR" sz="700" b="1" dirty="0">
              <a:solidFill>
                <a:schemeClr val="bg1"/>
              </a:solidFill>
            </a:endParaRPr>
          </a:p>
          <a:p>
            <a:pPr algn="ctr" latinLnBrk="1"/>
            <a:r>
              <a:rPr lang="ko-KR" altLang="en-US" sz="1200" b="1" dirty="0" err="1">
                <a:solidFill>
                  <a:schemeClr val="bg1"/>
                </a:solidFill>
              </a:rPr>
              <a:t>나가르</a:t>
            </a:r>
            <a:r>
              <a:rPr lang="ko-KR" altLang="ko-KR" sz="1200" b="1" dirty="0" err="1">
                <a:solidFill>
                  <a:schemeClr val="bg1"/>
                </a:solidFill>
              </a:rPr>
              <a:t>콧</a:t>
            </a:r>
            <a:endParaRPr lang="ko-KR" altLang="ko-KR" sz="1200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8F9C82-F742-43FA-BB51-A1640BEA8FDC}"/>
              </a:ext>
            </a:extLst>
          </p:cNvPr>
          <p:cNvSpPr txBox="1"/>
          <p:nvPr/>
        </p:nvSpPr>
        <p:spPr>
          <a:xfrm>
            <a:off x="70978" y="2926435"/>
            <a:ext cx="678702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ko-KR" sz="1050" dirty="0" err="1"/>
              <a:t>나가르콧은</a:t>
            </a:r>
            <a:r>
              <a:rPr lang="ko-KR" altLang="ko-KR" sz="1050" dirty="0"/>
              <a:t> 카트만두 동쪽으로 약 </a:t>
            </a:r>
            <a:r>
              <a:rPr lang="en-US" altLang="ko-KR" sz="1050" dirty="0"/>
              <a:t>30km </a:t>
            </a:r>
            <a:r>
              <a:rPr lang="ko-KR" altLang="ko-KR" sz="1050" dirty="0"/>
              <a:t>떨어진 언덕 마을로</a:t>
            </a:r>
            <a:r>
              <a:rPr lang="en-US" altLang="ko-KR" sz="1050" dirty="0"/>
              <a:t>, </a:t>
            </a:r>
            <a:r>
              <a:rPr lang="ko-KR" altLang="ko-KR" sz="1050" dirty="0"/>
              <a:t>해발 약 </a:t>
            </a:r>
            <a:r>
              <a:rPr lang="en-US" altLang="ko-KR" sz="1050" dirty="0"/>
              <a:t>2,100m</a:t>
            </a:r>
            <a:r>
              <a:rPr lang="ko-KR" altLang="ko-KR" sz="1050" dirty="0"/>
              <a:t>에서 </a:t>
            </a:r>
            <a:r>
              <a:rPr lang="ko-KR" altLang="ko-KR" sz="1050" dirty="0" err="1"/>
              <a:t>랑탕</a:t>
            </a:r>
            <a:r>
              <a:rPr lang="en-US" altLang="ko-KR" sz="1050" dirty="0"/>
              <a:t>, </a:t>
            </a:r>
            <a:r>
              <a:rPr lang="ko-KR" altLang="ko-KR" sz="1050" dirty="0" err="1"/>
              <a:t>가네쉬히말</a:t>
            </a:r>
            <a:r>
              <a:rPr lang="en-US" altLang="ko-KR" sz="1050" dirty="0"/>
              <a:t>, </a:t>
            </a:r>
            <a:r>
              <a:rPr lang="ko-KR" altLang="ko-KR" sz="1050" dirty="0"/>
              <a:t>에베레스트 방면의 히말라야 전망을 조망할 수 있는 지역입니다</a:t>
            </a:r>
            <a:r>
              <a:rPr lang="en-US" altLang="ko-KR" sz="1050" dirty="0"/>
              <a:t>. </a:t>
            </a:r>
            <a:r>
              <a:rPr lang="ko-KR" altLang="ko-KR" sz="1050" dirty="0"/>
              <a:t>카트만두를 기준으로</a:t>
            </a:r>
            <a:r>
              <a:rPr lang="en-US" altLang="ko-KR" sz="1050" dirty="0"/>
              <a:t>, </a:t>
            </a:r>
            <a:r>
              <a:rPr lang="ko-KR" altLang="ko-KR" sz="1050" dirty="0"/>
              <a:t>히말라야 전망 포인트 중 가장 접근성이 좋</a:t>
            </a:r>
            <a:r>
              <a:rPr lang="ko-KR" altLang="en-US" sz="1050" dirty="0"/>
              <a:t>은 곳이죠</a:t>
            </a:r>
            <a:r>
              <a:rPr lang="en-US" altLang="ko-KR" sz="1050" dirty="0"/>
              <a:t>. </a:t>
            </a:r>
            <a:r>
              <a:rPr lang="ko-KR" altLang="en-US" sz="1050" dirty="0"/>
              <a:t>이틀 </a:t>
            </a:r>
            <a:r>
              <a:rPr lang="ko-KR" altLang="ko-KR" sz="1050" dirty="0" err="1"/>
              <a:t>연박</a:t>
            </a:r>
            <a:r>
              <a:rPr lang="ko-KR" altLang="en-US" sz="1050" dirty="0" err="1"/>
              <a:t>을</a:t>
            </a:r>
            <a:r>
              <a:rPr lang="ko-KR" altLang="ko-KR" sz="1050" dirty="0"/>
              <a:t> 진행하며 가볍게 자연 속을 거닐고 문화유산을 탐방하는 시간을 갖습니다</a:t>
            </a:r>
            <a:r>
              <a:rPr lang="en-US" altLang="ko-KR" sz="1050" dirty="0"/>
              <a:t>.</a:t>
            </a:r>
            <a:endParaRPr lang="ko-KR" altLang="ko-KR" sz="105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0FE9A77-C144-471F-8FC4-498B424FB73A}"/>
              </a:ext>
            </a:extLst>
          </p:cNvPr>
          <p:cNvSpPr/>
          <p:nvPr/>
        </p:nvSpPr>
        <p:spPr>
          <a:xfrm>
            <a:off x="150260" y="2595211"/>
            <a:ext cx="6444618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24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A651B43-4064-415B-93D5-809C7DAC04E2}"/>
              </a:ext>
            </a:extLst>
          </p:cNvPr>
          <p:cNvCxnSpPr/>
          <p:nvPr/>
        </p:nvCxnSpPr>
        <p:spPr>
          <a:xfrm>
            <a:off x="321130" y="3857634"/>
            <a:ext cx="61255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2F4B4C5-7E0D-4654-B703-BF36E1AD9ADE}"/>
              </a:ext>
            </a:extLst>
          </p:cNvPr>
          <p:cNvSpPr txBox="1"/>
          <p:nvPr/>
        </p:nvSpPr>
        <p:spPr>
          <a:xfrm>
            <a:off x="70978" y="4514659"/>
            <a:ext cx="65239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ko-KR" sz="1050" dirty="0"/>
              <a:t>카트만두 근교에서 가장 전망이 뛰어난 코스 중 한 곳으로 평가받는 </a:t>
            </a:r>
            <a:r>
              <a:rPr lang="ko-KR" altLang="ko-KR" sz="1050" dirty="0" err="1"/>
              <a:t>나가르콧</a:t>
            </a:r>
            <a:r>
              <a:rPr lang="ko-KR" altLang="ko-KR" sz="1050" dirty="0"/>
              <a:t> </a:t>
            </a:r>
            <a:r>
              <a:rPr lang="ko-KR" altLang="ko-KR" sz="1050" dirty="0" err="1"/>
              <a:t>파노라믹</a:t>
            </a:r>
            <a:r>
              <a:rPr lang="ko-KR" altLang="ko-KR" sz="1050" dirty="0"/>
              <a:t> 하이킹 코스는</a:t>
            </a:r>
            <a:r>
              <a:rPr lang="en-US" altLang="ko-KR" sz="1050" dirty="0"/>
              <a:t>, </a:t>
            </a:r>
            <a:r>
              <a:rPr lang="ko-KR" altLang="ko-KR" sz="1050" dirty="0"/>
              <a:t>히말라야 초입의 능선을 따라 걸으며 에베레스트</a:t>
            </a:r>
            <a:r>
              <a:rPr lang="en-US" altLang="ko-KR" sz="1050" dirty="0"/>
              <a:t>, </a:t>
            </a:r>
            <a:r>
              <a:rPr lang="ko-KR" altLang="ko-KR" sz="1050" dirty="0" err="1"/>
              <a:t>랑탕</a:t>
            </a:r>
            <a:r>
              <a:rPr lang="ko-KR" altLang="ko-KR" sz="1050" dirty="0"/>
              <a:t> 등 동부 히말라야 </a:t>
            </a:r>
            <a:r>
              <a:rPr lang="ko-KR" altLang="ko-KR" sz="1050" dirty="0" err="1"/>
              <a:t>산군을</a:t>
            </a:r>
            <a:r>
              <a:rPr lang="ko-KR" altLang="ko-KR" sz="1050" dirty="0"/>
              <a:t> 조망할 수 있습니다</a:t>
            </a:r>
            <a:r>
              <a:rPr lang="en-US" altLang="ko-KR" sz="1050" dirty="0"/>
              <a:t>. </a:t>
            </a:r>
            <a:r>
              <a:rPr lang="ko-KR" altLang="ko-KR" sz="1050" dirty="0"/>
              <a:t>저희 일정에서는 전체 약 </a:t>
            </a:r>
            <a:r>
              <a:rPr lang="en-US" altLang="ko-KR" sz="1050" dirty="0"/>
              <a:t>10km</a:t>
            </a:r>
            <a:r>
              <a:rPr lang="ko-KR" altLang="ko-KR" sz="1050" dirty="0"/>
              <a:t>에 달하는 구간 중 일부 엄선된 하이라이트 구간을 천천히 걷습니다</a:t>
            </a:r>
            <a:r>
              <a:rPr lang="en-US" altLang="ko-KR" sz="1050" dirty="0"/>
              <a:t>.</a:t>
            </a:r>
            <a:endParaRPr lang="ko-KR" altLang="ko-KR" sz="105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1FD8DE-F433-477F-A749-4568B799A247}"/>
              </a:ext>
            </a:extLst>
          </p:cNvPr>
          <p:cNvSpPr txBox="1"/>
          <p:nvPr/>
        </p:nvSpPr>
        <p:spPr>
          <a:xfrm>
            <a:off x="1744119" y="3593074"/>
            <a:ext cx="3499111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latinLnBrk="1"/>
            <a:r>
              <a:rPr lang="ko-KR" altLang="ko-KR" sz="1050" b="1" dirty="0" err="1"/>
              <a:t>나가르콧</a:t>
            </a:r>
            <a:r>
              <a:rPr lang="ko-KR" altLang="ko-KR" sz="1050" b="1" dirty="0"/>
              <a:t> </a:t>
            </a:r>
            <a:r>
              <a:rPr lang="ko-KR" altLang="ko-KR" sz="1050" b="1" dirty="0" err="1"/>
              <a:t>파노라믹</a:t>
            </a:r>
            <a:r>
              <a:rPr lang="ko-KR" altLang="ko-KR" sz="1050" b="1" dirty="0"/>
              <a:t> 하이킹 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3B2BA19-9516-4107-8F2C-58E0C55DC4E7}"/>
              </a:ext>
            </a:extLst>
          </p:cNvPr>
          <p:cNvSpPr/>
          <p:nvPr/>
        </p:nvSpPr>
        <p:spPr>
          <a:xfrm>
            <a:off x="117901" y="4178607"/>
            <a:ext cx="6444618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026086-9C23-49AC-BBB1-C2D7B9AD0831}"/>
              </a:ext>
            </a:extLst>
          </p:cNvPr>
          <p:cNvSpPr txBox="1"/>
          <p:nvPr/>
        </p:nvSpPr>
        <p:spPr>
          <a:xfrm>
            <a:off x="2332607" y="3866566"/>
            <a:ext cx="21355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000" dirty="0"/>
              <a:t>거리 </a:t>
            </a:r>
            <a:r>
              <a:rPr lang="en-US" altLang="ko-KR" sz="1000" dirty="0"/>
              <a:t>: </a:t>
            </a:r>
            <a:r>
              <a:rPr lang="ko-KR" altLang="en-US" sz="1000" dirty="0"/>
              <a:t>약 </a:t>
            </a:r>
            <a:r>
              <a:rPr lang="en-US" altLang="ko-KR" sz="1000" dirty="0"/>
              <a:t>4km  / </a:t>
            </a:r>
            <a:r>
              <a:rPr lang="ko-KR" altLang="ko-KR" sz="1000" dirty="0"/>
              <a:t>소요시간 </a:t>
            </a:r>
            <a:r>
              <a:rPr lang="en-US" altLang="ko-KR" sz="1000" dirty="0"/>
              <a:t>: </a:t>
            </a:r>
            <a:r>
              <a:rPr lang="ko-KR" altLang="ko-KR" sz="1000" dirty="0"/>
              <a:t>약</a:t>
            </a:r>
            <a:r>
              <a:rPr lang="en-US" altLang="ko-KR" sz="1000" dirty="0"/>
              <a:t> 1</a:t>
            </a:r>
            <a:r>
              <a:rPr lang="ko-KR" altLang="ko-KR" sz="1000" dirty="0"/>
              <a:t>시간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F61C8496-F770-4627-A18E-7E91FBA76B2C}"/>
              </a:ext>
            </a:extLst>
          </p:cNvPr>
          <p:cNvCxnSpPr/>
          <p:nvPr/>
        </p:nvCxnSpPr>
        <p:spPr>
          <a:xfrm>
            <a:off x="321130" y="5417561"/>
            <a:ext cx="61255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1A3C332-6FE8-417A-AE0E-43D112911E9B}"/>
              </a:ext>
            </a:extLst>
          </p:cNvPr>
          <p:cNvSpPr txBox="1"/>
          <p:nvPr/>
        </p:nvSpPr>
        <p:spPr>
          <a:xfrm>
            <a:off x="70978" y="6074586"/>
            <a:ext cx="65239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ko-KR" sz="1050" dirty="0"/>
              <a:t>카트만두 동쪽 산등성이를 따라 걷는 코스로</a:t>
            </a:r>
            <a:r>
              <a:rPr lang="en-US" altLang="ko-KR" sz="1050" dirty="0"/>
              <a:t>, </a:t>
            </a:r>
            <a:r>
              <a:rPr lang="ko-KR" altLang="ko-KR" sz="1050" dirty="0"/>
              <a:t>티벳 불교의 성지이자 부처님이 깨달음의 길로 나아가기 전 공양을 실천한 장소로 알려진 </a:t>
            </a:r>
            <a:r>
              <a:rPr lang="ko-KR" altLang="ko-KR" sz="1050" dirty="0" err="1"/>
              <a:t>나모부다</a:t>
            </a:r>
            <a:r>
              <a:rPr lang="ko-KR" altLang="ko-KR" sz="1050" dirty="0"/>
              <a:t> 사원을 목표로 천천히 걸어가는 여정입니다</a:t>
            </a:r>
            <a:r>
              <a:rPr lang="en-US" altLang="ko-KR" sz="1050" dirty="0"/>
              <a:t>. </a:t>
            </a:r>
            <a:r>
              <a:rPr lang="ko-KR" altLang="ko-KR" sz="1050" dirty="0" err="1"/>
              <a:t>나모부다</a:t>
            </a:r>
            <a:r>
              <a:rPr lang="ko-KR" altLang="ko-KR" sz="1050" dirty="0"/>
              <a:t> 사원에서는 시원하게 펼쳐진 히말라야 </a:t>
            </a:r>
            <a:r>
              <a:rPr lang="ko-KR" altLang="ko-KR" sz="1050" dirty="0" err="1"/>
              <a:t>산군의</a:t>
            </a:r>
            <a:r>
              <a:rPr lang="ko-KR" altLang="ko-KR" sz="1050" dirty="0"/>
              <a:t> 능선 및 계단식 논 풍경 조망이 가능합니다</a:t>
            </a:r>
            <a:r>
              <a:rPr lang="en-US" altLang="ko-KR" sz="1050" dirty="0"/>
              <a:t>.</a:t>
            </a:r>
            <a:endParaRPr lang="ko-KR" altLang="ko-KR" sz="105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11B038-0529-4884-8811-6AE962A1F9BE}"/>
              </a:ext>
            </a:extLst>
          </p:cNvPr>
          <p:cNvSpPr txBox="1"/>
          <p:nvPr/>
        </p:nvSpPr>
        <p:spPr>
          <a:xfrm>
            <a:off x="1744119" y="5153001"/>
            <a:ext cx="3499111" cy="2539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1050" b="1" dirty="0" err="1"/>
              <a:t>나모부다</a:t>
            </a:r>
            <a:r>
              <a:rPr lang="ko-KR" altLang="en-US" sz="1050" b="1" dirty="0"/>
              <a:t> 사원 </a:t>
            </a:r>
            <a:r>
              <a:rPr lang="ko-KR" altLang="ko-KR" sz="1050" b="1" dirty="0"/>
              <a:t>하이킹 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9FFD747-398B-46B5-847B-8B580B0522AD}"/>
              </a:ext>
            </a:extLst>
          </p:cNvPr>
          <p:cNvSpPr/>
          <p:nvPr/>
        </p:nvSpPr>
        <p:spPr>
          <a:xfrm>
            <a:off x="117901" y="5738534"/>
            <a:ext cx="6444618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65F363-A2FB-495F-963A-04A6714167DA}"/>
              </a:ext>
            </a:extLst>
          </p:cNvPr>
          <p:cNvSpPr txBox="1"/>
          <p:nvPr/>
        </p:nvSpPr>
        <p:spPr>
          <a:xfrm>
            <a:off x="2332607" y="5426493"/>
            <a:ext cx="21355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000" dirty="0"/>
              <a:t>거리 </a:t>
            </a:r>
            <a:r>
              <a:rPr lang="en-US" altLang="ko-KR" sz="1000" dirty="0"/>
              <a:t>: </a:t>
            </a:r>
            <a:r>
              <a:rPr lang="ko-KR" altLang="en-US" sz="1000" dirty="0"/>
              <a:t>약 </a:t>
            </a:r>
            <a:r>
              <a:rPr lang="en-US" altLang="ko-KR" sz="1000" dirty="0"/>
              <a:t>2km  / </a:t>
            </a:r>
            <a:r>
              <a:rPr lang="ko-KR" altLang="ko-KR" sz="1000" dirty="0"/>
              <a:t>소요시간 </a:t>
            </a:r>
            <a:r>
              <a:rPr lang="en-US" altLang="ko-KR" sz="1000" dirty="0"/>
              <a:t>: </a:t>
            </a:r>
            <a:r>
              <a:rPr lang="ko-KR" altLang="ko-KR" sz="1000" dirty="0"/>
              <a:t>약</a:t>
            </a:r>
            <a:r>
              <a:rPr lang="en-US" altLang="ko-KR" sz="1000" dirty="0"/>
              <a:t> 1</a:t>
            </a:r>
            <a:r>
              <a:rPr lang="ko-KR" altLang="ko-KR" sz="1000" dirty="0"/>
              <a:t>시간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FF29CBC-2554-4FC3-B5FD-0013560A851D}"/>
              </a:ext>
            </a:extLst>
          </p:cNvPr>
          <p:cNvCxnSpPr/>
          <p:nvPr/>
        </p:nvCxnSpPr>
        <p:spPr>
          <a:xfrm>
            <a:off x="435362" y="6882199"/>
            <a:ext cx="61255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EDF6016-4F55-4C7B-8577-720E692EBF6E}"/>
              </a:ext>
            </a:extLst>
          </p:cNvPr>
          <p:cNvSpPr txBox="1"/>
          <p:nvPr/>
        </p:nvSpPr>
        <p:spPr>
          <a:xfrm>
            <a:off x="1723098" y="6743700"/>
            <a:ext cx="3499111" cy="384721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700" b="1" dirty="0">
                <a:solidFill>
                  <a:schemeClr val="bg1"/>
                </a:solidFill>
              </a:rPr>
              <a:t>네팔 역사와 문화의 중심지</a:t>
            </a:r>
            <a:endParaRPr lang="en-US" altLang="ko-KR" sz="700" b="1" dirty="0">
              <a:solidFill>
                <a:schemeClr val="bg1"/>
              </a:solidFill>
            </a:endParaRPr>
          </a:p>
          <a:p>
            <a:pPr algn="ctr" latinLnBrk="1"/>
            <a:r>
              <a:rPr lang="ko-KR" altLang="en-US" sz="1200" b="1" dirty="0">
                <a:solidFill>
                  <a:schemeClr val="bg1"/>
                </a:solidFill>
              </a:rPr>
              <a:t>카트만두</a:t>
            </a:r>
            <a:r>
              <a:rPr lang="en-US" altLang="ko-KR" sz="1200" b="1" dirty="0">
                <a:solidFill>
                  <a:schemeClr val="bg1"/>
                </a:solidFill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</a:rPr>
              <a:t>파탄</a:t>
            </a:r>
            <a:endParaRPr lang="ko-KR" altLang="ko-KR" sz="1200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581E68-0C72-4E58-8E1C-7FF7AC98E7B4}"/>
              </a:ext>
            </a:extLst>
          </p:cNvPr>
          <p:cNvSpPr txBox="1"/>
          <p:nvPr/>
        </p:nvSpPr>
        <p:spPr>
          <a:xfrm>
            <a:off x="3472653" y="7144666"/>
            <a:ext cx="33122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ko-KR" sz="1200" b="1" dirty="0"/>
              <a:t>카트만두</a:t>
            </a:r>
            <a:r>
              <a:rPr lang="ko-KR" altLang="ko-KR" sz="1050" dirty="0"/>
              <a:t>는 네팔의 수도이자 여행</a:t>
            </a:r>
            <a:r>
              <a:rPr lang="ko-KR" altLang="en-US" sz="1050" dirty="0"/>
              <a:t>의</a:t>
            </a:r>
            <a:r>
              <a:rPr lang="ko-KR" altLang="ko-KR" sz="1050" dirty="0"/>
              <a:t> 관문으로</a:t>
            </a:r>
            <a:r>
              <a:rPr lang="en-US" altLang="ko-KR" sz="1050" dirty="0"/>
              <a:t> </a:t>
            </a:r>
            <a:r>
              <a:rPr lang="ko-KR" altLang="ko-KR" sz="1050" dirty="0"/>
              <a:t>문화와 역사가 공존하는 도시입니다</a:t>
            </a:r>
            <a:r>
              <a:rPr lang="en-US" altLang="ko-KR" sz="1050" dirty="0"/>
              <a:t>. </a:t>
            </a:r>
            <a:r>
              <a:rPr lang="ko-KR" altLang="ko-KR" sz="1050" dirty="0"/>
              <a:t>도심에는 전통 사원과 골목 시장 오래된 궁전 유적이 남아 있으며</a:t>
            </a:r>
            <a:r>
              <a:rPr lang="en-US" altLang="ko-KR" sz="1050" dirty="0"/>
              <a:t>, </a:t>
            </a:r>
            <a:r>
              <a:rPr lang="ko-KR" altLang="ko-KR" sz="1050" dirty="0"/>
              <a:t>특히 카트만두 북동부에 위치한</a:t>
            </a:r>
            <a:r>
              <a:rPr lang="en-US" altLang="ko-KR" sz="1050" dirty="0"/>
              <a:t>, </a:t>
            </a:r>
            <a:r>
              <a:rPr lang="ko-KR" altLang="ko-KR" sz="1050" dirty="0"/>
              <a:t>네팔 최대 규모의 불탑인 </a:t>
            </a:r>
            <a:r>
              <a:rPr lang="ko-KR" altLang="ko-KR" sz="1050" dirty="0" err="1"/>
              <a:t>보드나트</a:t>
            </a:r>
            <a:r>
              <a:rPr lang="ko-KR" altLang="ko-KR" sz="1050" dirty="0"/>
              <a:t> </a:t>
            </a:r>
            <a:r>
              <a:rPr lang="ko-KR" altLang="ko-KR" sz="1050" dirty="0" err="1"/>
              <a:t>스투파가</a:t>
            </a:r>
            <a:r>
              <a:rPr lang="ko-KR" altLang="ko-KR" sz="1050" dirty="0"/>
              <a:t> 유명합니다</a:t>
            </a:r>
            <a:r>
              <a:rPr lang="en-US" altLang="ko-KR" sz="1050" dirty="0"/>
              <a:t>.</a:t>
            </a:r>
            <a:endParaRPr lang="ko-KR" altLang="ko-KR" sz="105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6F2A916-12CA-45E4-8C59-78DCCDF4FE52}"/>
              </a:ext>
            </a:extLst>
          </p:cNvPr>
          <p:cNvSpPr/>
          <p:nvPr/>
        </p:nvSpPr>
        <p:spPr>
          <a:xfrm>
            <a:off x="150260" y="7185265"/>
            <a:ext cx="3312228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01B2384-272E-4A71-BA23-729B4F6E7F30}"/>
              </a:ext>
            </a:extLst>
          </p:cNvPr>
          <p:cNvSpPr txBox="1"/>
          <p:nvPr/>
        </p:nvSpPr>
        <p:spPr>
          <a:xfrm>
            <a:off x="117901" y="8061157"/>
            <a:ext cx="33935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ko-KR" sz="1200" b="1" dirty="0"/>
              <a:t>파탄</a:t>
            </a:r>
            <a:r>
              <a:rPr lang="ko-KR" altLang="ko-KR" sz="1050" dirty="0"/>
              <a:t>은 카트만두 계곡 남쪽에 위치한 인접 도시로 정교한 조각과 전통 공예가 발달한 예술 중심지입니다</a:t>
            </a:r>
            <a:r>
              <a:rPr lang="en-US" altLang="ko-KR" sz="1050" dirty="0"/>
              <a:t>. </a:t>
            </a:r>
            <a:r>
              <a:rPr lang="ko-KR" altLang="ko-KR" sz="1050" dirty="0"/>
              <a:t>세계 문화유산으로 지정된 파탄 </a:t>
            </a:r>
            <a:r>
              <a:rPr lang="ko-KR" altLang="ko-KR" sz="1050" dirty="0" err="1"/>
              <a:t>더르바르</a:t>
            </a:r>
            <a:r>
              <a:rPr lang="ko-KR" altLang="ko-KR" sz="1050" dirty="0"/>
              <a:t> 광장을 중심으로 중세 왕국 시대의 궁전</a:t>
            </a:r>
            <a:r>
              <a:rPr lang="en-US" altLang="ko-KR" sz="1050" dirty="0"/>
              <a:t>, </a:t>
            </a:r>
            <a:r>
              <a:rPr lang="ko-KR" altLang="ko-KR" sz="1050" dirty="0"/>
              <a:t>사원</a:t>
            </a:r>
            <a:r>
              <a:rPr lang="en-US" altLang="ko-KR" sz="1050" dirty="0"/>
              <a:t>, </a:t>
            </a:r>
            <a:r>
              <a:rPr lang="ko-KR" altLang="ko-KR" sz="1050" dirty="0"/>
              <a:t>불탑이 모여 있으며</a:t>
            </a:r>
            <a:r>
              <a:rPr lang="en-US" altLang="ko-KR" sz="1050" dirty="0"/>
              <a:t>, </a:t>
            </a:r>
            <a:r>
              <a:rPr lang="ko-KR" altLang="ko-KR" sz="1050" dirty="0"/>
              <a:t>네팔에서 가장 예술적</a:t>
            </a:r>
            <a:r>
              <a:rPr lang="en-US" altLang="ko-KR" sz="1050" dirty="0"/>
              <a:t>,</a:t>
            </a:r>
            <a:r>
              <a:rPr lang="ko-KR" altLang="ko-KR" sz="1050" dirty="0"/>
              <a:t>문화적 밀도가 높은 도시입니다</a:t>
            </a:r>
            <a:r>
              <a:rPr lang="en-US" altLang="ko-KR" sz="1050" dirty="0"/>
              <a:t>.</a:t>
            </a:r>
            <a:endParaRPr lang="ko-KR" altLang="ko-KR" sz="105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07B3FB3-A09A-42A1-8E00-E1E20B3B9E96}"/>
              </a:ext>
            </a:extLst>
          </p:cNvPr>
          <p:cNvSpPr/>
          <p:nvPr/>
        </p:nvSpPr>
        <p:spPr>
          <a:xfrm>
            <a:off x="3462488" y="8093889"/>
            <a:ext cx="3312228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28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81F2370-44D0-4E2A-AEF3-50CD832F47AD}"/>
              </a:ext>
            </a:extLst>
          </p:cNvPr>
          <p:cNvCxnSpPr/>
          <p:nvPr/>
        </p:nvCxnSpPr>
        <p:spPr>
          <a:xfrm>
            <a:off x="425196" y="1091624"/>
            <a:ext cx="6125563" cy="0"/>
          </a:xfrm>
          <a:prstGeom prst="line">
            <a:avLst/>
          </a:prstGeom>
          <a:ln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E136F13-3694-4CAB-B184-83AE9D2A821A}"/>
              </a:ext>
            </a:extLst>
          </p:cNvPr>
          <p:cNvSpPr txBox="1"/>
          <p:nvPr/>
        </p:nvSpPr>
        <p:spPr>
          <a:xfrm>
            <a:off x="1712932" y="953125"/>
            <a:ext cx="3499111" cy="384721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700" b="1" dirty="0">
                <a:solidFill>
                  <a:schemeClr val="bg1"/>
                </a:solidFill>
              </a:rPr>
              <a:t>히말라야의 일출</a:t>
            </a:r>
            <a:r>
              <a:rPr lang="en-US" altLang="ko-KR" sz="700" b="1" dirty="0">
                <a:solidFill>
                  <a:schemeClr val="bg1"/>
                </a:solidFill>
              </a:rPr>
              <a:t>/</a:t>
            </a:r>
            <a:r>
              <a:rPr lang="ko-KR" altLang="en-US" sz="700" b="1" dirty="0">
                <a:solidFill>
                  <a:schemeClr val="bg1"/>
                </a:solidFill>
              </a:rPr>
              <a:t>일몰 명소</a:t>
            </a:r>
            <a:endParaRPr lang="en-US" altLang="ko-KR" sz="700" b="1" dirty="0">
              <a:solidFill>
                <a:schemeClr val="bg1"/>
              </a:solidFill>
            </a:endParaRPr>
          </a:p>
          <a:p>
            <a:pPr algn="ctr" latinLnBrk="1"/>
            <a:r>
              <a:rPr lang="ko-KR" altLang="ko-KR" sz="1200" b="1" dirty="0" err="1">
                <a:solidFill>
                  <a:schemeClr val="bg1"/>
                </a:solidFill>
              </a:rPr>
              <a:t>사랑콧</a:t>
            </a:r>
            <a:endParaRPr lang="ko-KR" altLang="ko-KR" sz="12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0D46ECB-93B0-4179-A108-3B257FF0C59B}"/>
              </a:ext>
            </a:extLst>
          </p:cNvPr>
          <p:cNvSpPr txBox="1"/>
          <p:nvPr/>
        </p:nvSpPr>
        <p:spPr>
          <a:xfrm>
            <a:off x="60812" y="1669070"/>
            <a:ext cx="678702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ko-KR" sz="1050" dirty="0" err="1"/>
              <a:t>사랑콧은</a:t>
            </a:r>
            <a:r>
              <a:rPr lang="ko-KR" altLang="ko-KR" sz="1050" dirty="0"/>
              <a:t> </a:t>
            </a:r>
            <a:r>
              <a:rPr lang="ko-KR" altLang="ko-KR" sz="1050" dirty="0" err="1"/>
              <a:t>포카라</a:t>
            </a:r>
            <a:r>
              <a:rPr lang="ko-KR" altLang="ko-KR" sz="1050" dirty="0"/>
              <a:t> 시내 북서쪽 능선에 자리한 곳으로</a:t>
            </a:r>
            <a:r>
              <a:rPr lang="en-US" altLang="ko-KR" sz="1050" dirty="0"/>
              <a:t>, </a:t>
            </a:r>
            <a:r>
              <a:rPr lang="ko-KR" altLang="ko-KR" sz="1050" dirty="0"/>
              <a:t>해발 약 </a:t>
            </a:r>
            <a:r>
              <a:rPr lang="en-US" altLang="ko-KR" sz="1050" dirty="0"/>
              <a:t>1,600m</a:t>
            </a:r>
            <a:r>
              <a:rPr lang="ko-KR" altLang="ko-KR" sz="1050" dirty="0"/>
              <a:t>에서 </a:t>
            </a:r>
            <a:r>
              <a:rPr lang="ko-KR" altLang="ko-KR" sz="1050" dirty="0" err="1"/>
              <a:t>마차푸차레와</a:t>
            </a:r>
            <a:r>
              <a:rPr lang="ko-KR" altLang="ko-KR" sz="1050" dirty="0"/>
              <a:t> </a:t>
            </a:r>
            <a:r>
              <a:rPr lang="ko-KR" altLang="ko-KR" sz="1050" dirty="0" err="1"/>
              <a:t>안나푸르나</a:t>
            </a:r>
            <a:r>
              <a:rPr lang="ko-KR" altLang="ko-KR" sz="1050" dirty="0"/>
              <a:t> </a:t>
            </a:r>
            <a:r>
              <a:rPr lang="ko-KR" altLang="ko-KR" sz="1050" dirty="0" err="1"/>
              <a:t>산군</a:t>
            </a:r>
            <a:r>
              <a:rPr lang="ko-KR" altLang="ko-KR" sz="1050" dirty="0"/>
              <a:t> 조망이 가능한 명소입니다</a:t>
            </a:r>
            <a:r>
              <a:rPr lang="en-US" altLang="ko-KR" sz="1050" dirty="0"/>
              <a:t>. </a:t>
            </a:r>
            <a:r>
              <a:rPr lang="ko-KR" altLang="ko-KR" sz="1050" dirty="0"/>
              <a:t>특히 히말라야 능선 위로 해가 떠오르는 장면을 보기 위해 수많은 관광객이 방문하는 곳이기도 합니다</a:t>
            </a:r>
            <a:r>
              <a:rPr lang="en-US" altLang="ko-KR" sz="1050" dirty="0"/>
              <a:t>. </a:t>
            </a:r>
            <a:r>
              <a:rPr lang="ko-KR" altLang="ko-KR" sz="1050" dirty="0"/>
              <a:t>프리미엄 히말라야 뷰를 즐길 수 있는 숙소에 머물며 여유로운 시간을 보내</a:t>
            </a:r>
            <a:r>
              <a:rPr lang="en-US" altLang="ko-KR" sz="1050" dirty="0"/>
              <a:t> </a:t>
            </a:r>
            <a:r>
              <a:rPr lang="ko-KR" altLang="ko-KR" sz="1050" dirty="0"/>
              <a:t>보세요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2307DF0-D566-4CF7-BC01-94ED5B8233CF}"/>
              </a:ext>
            </a:extLst>
          </p:cNvPr>
          <p:cNvSpPr/>
          <p:nvPr/>
        </p:nvSpPr>
        <p:spPr>
          <a:xfrm>
            <a:off x="140094" y="1337846"/>
            <a:ext cx="6444618" cy="2933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이미지</a:t>
            </a:r>
            <a:r>
              <a:rPr lang="en-US" altLang="ko-KR" sz="800" dirty="0">
                <a:solidFill>
                  <a:schemeClr val="tx1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659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D006C2E-932B-4352-A2C1-C7D68D2FDF82}"/>
              </a:ext>
            </a:extLst>
          </p:cNvPr>
          <p:cNvSpPr/>
          <p:nvPr/>
        </p:nvSpPr>
        <p:spPr>
          <a:xfrm>
            <a:off x="45259" y="104442"/>
            <a:ext cx="6722125" cy="246242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4ED22E-6741-44EC-A88C-F588301633E3}"/>
              </a:ext>
            </a:extLst>
          </p:cNvPr>
          <p:cNvSpPr txBox="1"/>
          <p:nvPr/>
        </p:nvSpPr>
        <p:spPr>
          <a:xfrm>
            <a:off x="1475986" y="93488"/>
            <a:ext cx="3906028" cy="253916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 latinLnBrk="1"/>
            <a:r>
              <a:rPr lang="ko-KR" altLang="ko-KR" sz="1050" b="1" dirty="0">
                <a:solidFill>
                  <a:schemeClr val="bg1"/>
                </a:solidFill>
              </a:rPr>
              <a:t>네팔</a:t>
            </a:r>
            <a:r>
              <a:rPr lang="ko-KR" altLang="en-US" sz="1050" b="1" dirty="0">
                <a:solidFill>
                  <a:schemeClr val="bg1"/>
                </a:solidFill>
              </a:rPr>
              <a:t>을</a:t>
            </a:r>
            <a:r>
              <a:rPr lang="ko-KR" altLang="ko-KR" sz="1050" b="1" dirty="0">
                <a:solidFill>
                  <a:schemeClr val="bg1"/>
                </a:solidFill>
              </a:rPr>
              <a:t> 여행하기 가장 좋은 기간은</a:t>
            </a:r>
            <a:r>
              <a:rPr lang="en-US" altLang="ko-KR" sz="1050" b="1" dirty="0">
                <a:solidFill>
                  <a:schemeClr val="bg1"/>
                </a:solidFill>
              </a:rPr>
              <a:t>?</a:t>
            </a:r>
            <a:endParaRPr lang="ko-KR" altLang="ko-KR" sz="1050" b="1" dirty="0">
              <a:solidFill>
                <a:schemeClr val="bg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907A617-6E92-4218-AE60-66AD64F60D71}"/>
              </a:ext>
            </a:extLst>
          </p:cNvPr>
          <p:cNvSpPr/>
          <p:nvPr/>
        </p:nvSpPr>
        <p:spPr>
          <a:xfrm>
            <a:off x="206948" y="419619"/>
            <a:ext cx="6640359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ko-KR" sz="1050" dirty="0"/>
              <a:t>네팔 하이킹 여행을 하기 가장 좋은 시기는 </a:t>
            </a:r>
            <a:r>
              <a:rPr lang="ko-KR" altLang="ko-KR" sz="1050" b="1" dirty="0"/>
              <a:t>봄</a:t>
            </a:r>
            <a:r>
              <a:rPr lang="en-US" altLang="ko-KR" sz="1050" b="1" dirty="0"/>
              <a:t>(3~4</a:t>
            </a:r>
            <a:r>
              <a:rPr lang="ko-KR" altLang="ko-KR" sz="1050" b="1" dirty="0"/>
              <a:t>월</a:t>
            </a:r>
            <a:r>
              <a:rPr lang="en-US" altLang="ko-KR" sz="1050" b="1" dirty="0"/>
              <a:t>)</a:t>
            </a:r>
            <a:r>
              <a:rPr lang="ko-KR" altLang="ko-KR" sz="1050" b="1" dirty="0"/>
              <a:t>과 가을</a:t>
            </a:r>
            <a:r>
              <a:rPr lang="en-US" altLang="ko-KR" sz="1050" b="1" dirty="0"/>
              <a:t>(10~11</a:t>
            </a:r>
            <a:r>
              <a:rPr lang="ko-KR" altLang="ko-KR" sz="1050" b="1" dirty="0"/>
              <a:t>월</a:t>
            </a:r>
            <a:r>
              <a:rPr lang="en-US" altLang="ko-KR" sz="1050" b="1" dirty="0"/>
              <a:t>)</a:t>
            </a:r>
            <a:r>
              <a:rPr lang="ko-KR" altLang="ko-KR" sz="1050" dirty="0"/>
              <a:t>입니다</a:t>
            </a:r>
            <a:r>
              <a:rPr lang="en-US" altLang="ko-KR" sz="1050" dirty="0"/>
              <a:t>. </a:t>
            </a:r>
          </a:p>
          <a:p>
            <a:pPr latinLnBrk="1"/>
            <a:endParaRPr lang="en-US" altLang="ko-KR" sz="1050" dirty="0"/>
          </a:p>
          <a:p>
            <a:pPr latinLnBrk="1"/>
            <a:r>
              <a:rPr lang="ko-KR" altLang="ko-KR" sz="1050" dirty="0"/>
              <a:t>봄에는 날씨가 점점 따뜻해지며 비가 적게 내리기 때문에</a:t>
            </a:r>
            <a:r>
              <a:rPr lang="en-US" altLang="ko-KR" sz="1050" dirty="0"/>
              <a:t>, </a:t>
            </a:r>
            <a:r>
              <a:rPr lang="ko-KR" altLang="ko-KR" sz="1050" dirty="0"/>
              <a:t>쾌적한 날씨 속에서 히말라야</a:t>
            </a:r>
            <a:r>
              <a:rPr lang="en-US" altLang="ko-KR" sz="1050" dirty="0"/>
              <a:t> </a:t>
            </a:r>
            <a:r>
              <a:rPr lang="ko-KR" altLang="en-US" sz="1050" dirty="0"/>
              <a:t>뷰</a:t>
            </a:r>
            <a:r>
              <a:rPr lang="ko-KR" altLang="ko-KR" sz="1050" dirty="0"/>
              <a:t> 조망이 가능합니다</a:t>
            </a:r>
            <a:r>
              <a:rPr lang="en-US" altLang="ko-KR" sz="1050" dirty="0"/>
              <a:t>. </a:t>
            </a:r>
            <a:r>
              <a:rPr lang="ko-KR" altLang="ko-KR" sz="1050" dirty="0"/>
              <a:t>이 시기 히말라야 철쭉</a:t>
            </a:r>
            <a:r>
              <a:rPr lang="ko-KR" altLang="en-US" sz="1050" dirty="0"/>
              <a:t>인 </a:t>
            </a:r>
            <a:r>
              <a:rPr lang="ko-KR" altLang="en-US" sz="1050" dirty="0" err="1"/>
              <a:t>랄리구라스가</a:t>
            </a:r>
            <a:r>
              <a:rPr lang="ko-KR" altLang="ko-KR" sz="1050" dirty="0"/>
              <a:t> 만개해서 하이킹 코스가 더욱 </a:t>
            </a:r>
            <a:r>
              <a:rPr lang="ko-KR" altLang="ko-KR" sz="1050" dirty="0" err="1"/>
              <a:t>아름다워지기도</a:t>
            </a:r>
            <a:r>
              <a:rPr lang="ko-KR" altLang="ko-KR" sz="1050" dirty="0"/>
              <a:t> 합니다</a:t>
            </a:r>
            <a:r>
              <a:rPr lang="en-US" altLang="ko-KR" sz="1050" dirty="0"/>
              <a:t>. </a:t>
            </a:r>
            <a:endParaRPr lang="ko-KR" altLang="ko-KR" sz="1050" dirty="0"/>
          </a:p>
          <a:p>
            <a:pPr latinLnBrk="1"/>
            <a:r>
              <a:rPr lang="ko-KR" altLang="ko-KR" sz="1050" dirty="0"/>
              <a:t>가을 역시 쾌청하고 맑은 날씨를 보이며</a:t>
            </a:r>
            <a:r>
              <a:rPr lang="en-US" altLang="ko-KR" sz="1050" dirty="0"/>
              <a:t>, </a:t>
            </a:r>
            <a:r>
              <a:rPr lang="ko-KR" altLang="ko-KR" sz="1050" dirty="0"/>
              <a:t>히말라야의 산맥을 조망하기 가장 좋은 시기입니다</a:t>
            </a:r>
            <a:r>
              <a:rPr lang="en-US" altLang="ko-KR" sz="1050" dirty="0"/>
              <a:t>.</a:t>
            </a:r>
            <a:endParaRPr lang="ko-KR" altLang="ko-KR" sz="105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A338701-16CF-483E-B580-1DF9B5B4E074}"/>
              </a:ext>
            </a:extLst>
          </p:cNvPr>
          <p:cNvSpPr/>
          <p:nvPr/>
        </p:nvSpPr>
        <p:spPr>
          <a:xfrm>
            <a:off x="3375032" y="2980423"/>
            <a:ext cx="1592364" cy="253916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1050" b="1" dirty="0">
                <a:solidFill>
                  <a:schemeClr val="bg1"/>
                </a:solidFill>
              </a:rPr>
              <a:t>편안하고 쾌적하게</a:t>
            </a:r>
            <a:endParaRPr lang="ko-KR" altLang="ko-KR" sz="1050" b="1" dirty="0">
              <a:solidFill>
                <a:schemeClr val="bg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66BD6A-7720-4045-8560-DC229762D0F8}"/>
              </a:ext>
            </a:extLst>
          </p:cNvPr>
          <p:cNvSpPr/>
          <p:nvPr/>
        </p:nvSpPr>
        <p:spPr>
          <a:xfrm>
            <a:off x="51616" y="2719662"/>
            <a:ext cx="6722125" cy="135126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B94893-26EC-4AAC-979D-4281F971CF05}"/>
              </a:ext>
            </a:extLst>
          </p:cNvPr>
          <p:cNvSpPr txBox="1"/>
          <p:nvPr/>
        </p:nvSpPr>
        <p:spPr>
          <a:xfrm>
            <a:off x="1165456" y="2648365"/>
            <a:ext cx="4481730" cy="253916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네팔을 가장 잘 아는 </a:t>
            </a:r>
            <a:r>
              <a:rPr lang="ko-KR" altLang="en-US" dirty="0" err="1"/>
              <a:t>혜초여행과</a:t>
            </a:r>
            <a:r>
              <a:rPr lang="ko-KR" altLang="en-US" dirty="0"/>
              <a:t> 함께 떠나요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6C202A7-6ED1-471E-A11C-93DA692BF35D}"/>
              </a:ext>
            </a:extLst>
          </p:cNvPr>
          <p:cNvSpPr/>
          <p:nvPr/>
        </p:nvSpPr>
        <p:spPr>
          <a:xfrm>
            <a:off x="3299134" y="3301492"/>
            <a:ext cx="17127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050" dirty="0"/>
              <a:t>대한항공 직항 카트만두 노선 이용 및 최적의 컨디션을 갖춘 호텔 이용으로 편안하고 쾌적한 여행</a:t>
            </a:r>
            <a:endParaRPr lang="ko-KR" altLang="ko-KR" sz="105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2497585-CB0B-47F5-AE77-1525F1409ED8}"/>
              </a:ext>
            </a:extLst>
          </p:cNvPr>
          <p:cNvSpPr/>
          <p:nvPr/>
        </p:nvSpPr>
        <p:spPr>
          <a:xfrm>
            <a:off x="5102896" y="2973578"/>
            <a:ext cx="1592364" cy="253916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050" b="1" dirty="0">
                <a:solidFill>
                  <a:schemeClr val="bg1"/>
                </a:solidFill>
              </a:rPr>
              <a:t>No </a:t>
            </a:r>
            <a:r>
              <a:rPr lang="ko-KR" altLang="en-US" sz="1050" b="1" dirty="0">
                <a:solidFill>
                  <a:schemeClr val="bg1"/>
                </a:solidFill>
              </a:rPr>
              <a:t>쇼핑</a:t>
            </a:r>
            <a:r>
              <a:rPr lang="en-US" altLang="ko-KR" sz="1050" b="1" dirty="0">
                <a:solidFill>
                  <a:schemeClr val="bg1"/>
                </a:solidFill>
              </a:rPr>
              <a:t>! No </a:t>
            </a:r>
            <a:r>
              <a:rPr lang="ko-KR" altLang="en-US" sz="1050" b="1" dirty="0">
                <a:solidFill>
                  <a:schemeClr val="bg1"/>
                </a:solidFill>
              </a:rPr>
              <a:t>옵션</a:t>
            </a:r>
            <a:r>
              <a:rPr lang="en-US" altLang="ko-KR" sz="1050" b="1" dirty="0">
                <a:solidFill>
                  <a:schemeClr val="bg1"/>
                </a:solidFill>
              </a:rPr>
              <a:t>!</a:t>
            </a:r>
            <a:endParaRPr lang="ko-KR" altLang="ko-KR" sz="1050" b="1" dirty="0">
              <a:solidFill>
                <a:schemeClr val="bg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83ECF03-3350-4D4F-A1CF-0345FF23D5A8}"/>
              </a:ext>
            </a:extLst>
          </p:cNvPr>
          <p:cNvSpPr/>
          <p:nvPr/>
        </p:nvSpPr>
        <p:spPr>
          <a:xfrm>
            <a:off x="5011928" y="3323897"/>
            <a:ext cx="1835380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050" dirty="0"/>
              <a:t>혜초와 함께하면 </a:t>
            </a:r>
            <a:r>
              <a:rPr lang="ko-KR" altLang="en-US" sz="1050" dirty="0" err="1"/>
              <a:t>노쇼핑</a:t>
            </a:r>
            <a:r>
              <a:rPr lang="ko-KR" altLang="en-US" sz="1050" dirty="0"/>
              <a:t> 노옵션으로 온전히 여행일정 자체에만 집중</a:t>
            </a:r>
            <a:endParaRPr lang="ko-KR" altLang="ko-KR" sz="105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6EB0D61-3A8E-4840-B209-AFFAD6431A4D}"/>
              </a:ext>
            </a:extLst>
          </p:cNvPr>
          <p:cNvSpPr/>
          <p:nvPr/>
        </p:nvSpPr>
        <p:spPr>
          <a:xfrm>
            <a:off x="135204" y="2980423"/>
            <a:ext cx="1592364" cy="253916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1050" b="1" dirty="0">
                <a:solidFill>
                  <a:schemeClr val="bg1"/>
                </a:solidFill>
              </a:rPr>
              <a:t>검증된 전문성</a:t>
            </a:r>
            <a:endParaRPr lang="ko-KR" altLang="ko-KR" sz="1050" b="1" dirty="0">
              <a:solidFill>
                <a:schemeClr val="bg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8F6FA46-16B4-4A5E-B9A5-8BB74DA33EB1}"/>
              </a:ext>
            </a:extLst>
          </p:cNvPr>
          <p:cNvSpPr/>
          <p:nvPr/>
        </p:nvSpPr>
        <p:spPr>
          <a:xfrm>
            <a:off x="307328" y="3323897"/>
            <a:ext cx="1420240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050" dirty="0"/>
              <a:t>특수지역 전문여행사</a:t>
            </a:r>
          </a:p>
          <a:p>
            <a:pPr latinLnBrk="1"/>
            <a:r>
              <a:rPr lang="ko-KR" altLang="en-US" sz="1050" dirty="0"/>
              <a:t>혜초만의 노하우를 녹여낸 여정</a:t>
            </a:r>
            <a:endParaRPr lang="ko-KR" altLang="ko-KR" sz="105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A4C96D-18DC-41BC-93D5-A4225CC72931}"/>
              </a:ext>
            </a:extLst>
          </p:cNvPr>
          <p:cNvSpPr/>
          <p:nvPr/>
        </p:nvSpPr>
        <p:spPr>
          <a:xfrm>
            <a:off x="206949" y="2272128"/>
            <a:ext cx="3429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900" dirty="0"/>
              <a:t>*</a:t>
            </a:r>
            <a:r>
              <a:rPr lang="ko-KR" altLang="en-US" sz="900" dirty="0"/>
              <a:t>평균 수치이며</a:t>
            </a:r>
            <a:r>
              <a:rPr lang="en-US" altLang="ko-KR" sz="900" dirty="0"/>
              <a:t>, </a:t>
            </a:r>
            <a:r>
              <a:rPr lang="ko-KR" altLang="ko-KR" sz="900" dirty="0"/>
              <a:t>실제 날씨</a:t>
            </a:r>
            <a:r>
              <a:rPr lang="ko-KR" altLang="en-US" sz="900" dirty="0"/>
              <a:t>와는 차이가 있을 수 있습니다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581F602-52FA-4180-9854-094C21B3352F}"/>
              </a:ext>
            </a:extLst>
          </p:cNvPr>
          <p:cNvSpPr/>
          <p:nvPr/>
        </p:nvSpPr>
        <p:spPr>
          <a:xfrm>
            <a:off x="1755118" y="2980423"/>
            <a:ext cx="1592364" cy="253916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ctr" latinLnBrk="1"/>
            <a:r>
              <a:rPr lang="ko-KR" altLang="en-US" sz="1050" b="1" dirty="0" err="1">
                <a:solidFill>
                  <a:schemeClr val="bg1"/>
                </a:solidFill>
              </a:rPr>
              <a:t>부담없는</a:t>
            </a:r>
            <a:r>
              <a:rPr lang="ko-KR" altLang="en-US" sz="1050" b="1" dirty="0">
                <a:solidFill>
                  <a:schemeClr val="bg1"/>
                </a:solidFill>
              </a:rPr>
              <a:t> 하이킹</a:t>
            </a:r>
            <a:endParaRPr lang="ko-KR" altLang="ko-KR" sz="1050" b="1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775634-A7D7-4B27-ACC5-F82B897E7514}"/>
              </a:ext>
            </a:extLst>
          </p:cNvPr>
          <p:cNvSpPr/>
          <p:nvPr/>
        </p:nvSpPr>
        <p:spPr>
          <a:xfrm>
            <a:off x="1694364" y="3335686"/>
            <a:ext cx="171387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ko-KR" altLang="en-US" sz="1050" dirty="0"/>
              <a:t>바라만 보는 여행이 아닌 직접 대자연 속을 걸어보고 오감으로 즐기는 하이킹 여행</a:t>
            </a:r>
            <a:endParaRPr lang="ko-KR" altLang="ko-KR" sz="105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A87D611-E6E7-4DFB-A8DC-8778AABF2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380179"/>
              </p:ext>
            </p:extLst>
          </p:nvPr>
        </p:nvGraphicFramePr>
        <p:xfrm>
          <a:off x="724050" y="1287871"/>
          <a:ext cx="5364542" cy="8143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6723">
                  <a:extLst>
                    <a:ext uri="{9D8B030D-6E8A-4147-A177-3AD203B41FA5}">
                      <a16:colId xmlns:a16="http://schemas.microsoft.com/office/drawing/2014/main" val="1647510177"/>
                    </a:ext>
                  </a:extLst>
                </a:gridCol>
                <a:gridCol w="868888">
                  <a:extLst>
                    <a:ext uri="{9D8B030D-6E8A-4147-A177-3AD203B41FA5}">
                      <a16:colId xmlns:a16="http://schemas.microsoft.com/office/drawing/2014/main" val="587595722"/>
                    </a:ext>
                  </a:extLst>
                </a:gridCol>
                <a:gridCol w="1072806">
                  <a:extLst>
                    <a:ext uri="{9D8B030D-6E8A-4147-A177-3AD203B41FA5}">
                      <a16:colId xmlns:a16="http://schemas.microsoft.com/office/drawing/2014/main" val="2484442018"/>
                    </a:ext>
                  </a:extLst>
                </a:gridCol>
                <a:gridCol w="1072806">
                  <a:extLst>
                    <a:ext uri="{9D8B030D-6E8A-4147-A177-3AD203B41FA5}">
                      <a16:colId xmlns:a16="http://schemas.microsoft.com/office/drawing/2014/main" val="2378813624"/>
                    </a:ext>
                  </a:extLst>
                </a:gridCol>
                <a:gridCol w="1073319">
                  <a:extLst>
                    <a:ext uri="{9D8B030D-6E8A-4147-A177-3AD203B41FA5}">
                      <a16:colId xmlns:a16="http://schemas.microsoft.com/office/drawing/2014/main" val="3685846771"/>
                    </a:ext>
                  </a:extLst>
                </a:gridCol>
              </a:tblGrid>
              <a:tr h="152571"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 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r>
                        <a:rPr lang="ko-KR" sz="900" kern="100">
                          <a:effectLst/>
                        </a:rPr>
                        <a:t>월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4</a:t>
                      </a:r>
                      <a:r>
                        <a:rPr lang="ko-KR" sz="900" kern="100" dirty="0">
                          <a:effectLst/>
                        </a:rPr>
                        <a:t>월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10</a:t>
                      </a:r>
                      <a:r>
                        <a:rPr lang="ko-KR" sz="900" kern="100">
                          <a:effectLst/>
                        </a:rPr>
                        <a:t>월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11</a:t>
                      </a:r>
                      <a:r>
                        <a:rPr lang="ko-KR" sz="900" kern="100">
                          <a:effectLst/>
                        </a:rPr>
                        <a:t>월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extLst>
                  <a:ext uri="{0D108BD9-81ED-4DB2-BD59-A6C34878D82A}">
                    <a16:rowId xmlns:a16="http://schemas.microsoft.com/office/drawing/2014/main" val="4159814496"/>
                  </a:ext>
                </a:extLst>
              </a:tr>
              <a:tr h="352762"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900" kern="100" dirty="0">
                          <a:effectLst/>
                        </a:rPr>
                        <a:t>평균 최저 기온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9°C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12°C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13°C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10°C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extLst>
                  <a:ext uri="{0D108BD9-81ED-4DB2-BD59-A6C34878D82A}">
                    <a16:rowId xmlns:a16="http://schemas.microsoft.com/office/drawing/2014/main" val="2910894929"/>
                  </a:ext>
                </a:extLst>
              </a:tr>
              <a:tr h="308971"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o-KR" sz="900" kern="100" dirty="0">
                          <a:effectLst/>
                        </a:rPr>
                        <a:t>평균 최고 기온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20°C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23°C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</a:rPr>
                        <a:t>20°C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marL="508000" algn="just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</a:rPr>
                        <a:t>18°C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extLst>
                  <a:ext uri="{0D108BD9-81ED-4DB2-BD59-A6C34878D82A}">
                    <a16:rowId xmlns:a16="http://schemas.microsoft.com/office/drawing/2014/main" val="2053606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599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6F4A280-4A57-3A0D-6AC5-9ECDB5EA1D6F}"/>
              </a:ext>
            </a:extLst>
          </p:cNvPr>
          <p:cNvSpPr/>
          <p:nvPr/>
        </p:nvSpPr>
        <p:spPr>
          <a:xfrm>
            <a:off x="0" y="0"/>
            <a:ext cx="2057400" cy="430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배너 기획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74921D54-EBDC-41EF-9698-638059D11FC8}"/>
              </a:ext>
            </a:extLst>
          </p:cNvPr>
          <p:cNvSpPr txBox="1"/>
          <p:nvPr/>
        </p:nvSpPr>
        <p:spPr>
          <a:xfrm>
            <a:off x="97062" y="61760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배너제작요청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34B0ED03-8887-4FA8-972C-05EC9B3FB451}"/>
              </a:ext>
            </a:extLst>
          </p:cNvPr>
          <p:cNvSpPr txBox="1"/>
          <p:nvPr/>
        </p:nvSpPr>
        <p:spPr>
          <a:xfrm>
            <a:off x="1666722" y="669854"/>
            <a:ext cx="42723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홈페이지 개편에 따라</a:t>
            </a:r>
            <a:r>
              <a:rPr lang="en-US" altLang="ko-KR" sz="1200" dirty="0"/>
              <a:t>, </a:t>
            </a:r>
            <a:r>
              <a:rPr lang="ko-KR" altLang="en-US" sz="1200" dirty="0"/>
              <a:t>배너 디자인이 전면 교체되었습니다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ADF878-762C-4C9C-9009-FEE7C437E0FC}"/>
              </a:ext>
            </a:extLst>
          </p:cNvPr>
          <p:cNvSpPr/>
          <p:nvPr/>
        </p:nvSpPr>
        <p:spPr>
          <a:xfrm>
            <a:off x="198661" y="1490871"/>
            <a:ext cx="5006390" cy="1661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6FA7FCDE-6BE8-41BE-A575-B29DEBC2AEFB}"/>
              </a:ext>
            </a:extLst>
          </p:cNvPr>
          <p:cNvSpPr txBox="1"/>
          <p:nvPr/>
        </p:nvSpPr>
        <p:spPr>
          <a:xfrm>
            <a:off x="97062" y="1162392"/>
            <a:ext cx="5213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메인 와이드 배너 </a:t>
            </a:r>
            <a:r>
              <a:rPr lang="en-US" altLang="ko-KR" sz="1200" dirty="0"/>
              <a:t>(PC: 1920x700, MO: 750x510), </a:t>
            </a:r>
            <a:r>
              <a:rPr lang="ko-KR" altLang="en-US" sz="1200" dirty="0"/>
              <a:t>가이드라인에 맞춰 제작</a:t>
            </a:r>
            <a:endParaRPr lang="en-US" altLang="ko-KR" sz="1200" dirty="0"/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88F636EA-F83F-4007-98DD-067D57708CA7}"/>
              </a:ext>
            </a:extLst>
          </p:cNvPr>
          <p:cNvSpPr txBox="1"/>
          <p:nvPr/>
        </p:nvSpPr>
        <p:spPr>
          <a:xfrm>
            <a:off x="73881" y="3274820"/>
            <a:ext cx="5158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err="1"/>
              <a:t>서브메인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띠배너</a:t>
            </a:r>
            <a:r>
              <a:rPr lang="ko-KR" altLang="en-US" sz="1200" dirty="0"/>
              <a:t> </a:t>
            </a:r>
            <a:r>
              <a:rPr lang="en-US" altLang="ko-KR" sz="1200" dirty="0"/>
              <a:t>(PC: 1920x200, MO: 750x200), </a:t>
            </a:r>
            <a:r>
              <a:rPr lang="ko-KR" altLang="en-US" sz="1200" dirty="0"/>
              <a:t>가이드라인에 맞춰 제작</a:t>
            </a:r>
            <a:endParaRPr lang="en-US" altLang="ko-KR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B26182-FE22-4140-AAE1-2FBE5550ED72}"/>
              </a:ext>
            </a:extLst>
          </p:cNvPr>
          <p:cNvSpPr/>
          <p:nvPr/>
        </p:nvSpPr>
        <p:spPr>
          <a:xfrm>
            <a:off x="124677" y="3677223"/>
            <a:ext cx="6426594" cy="8947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89B3ED74-F5BF-486C-BF14-251650A5C330}"/>
              </a:ext>
            </a:extLst>
          </p:cNvPr>
          <p:cNvSpPr txBox="1"/>
          <p:nvPr/>
        </p:nvSpPr>
        <p:spPr>
          <a:xfrm>
            <a:off x="124677" y="4697405"/>
            <a:ext cx="5158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err="1"/>
              <a:t>서브메인</a:t>
            </a:r>
            <a:r>
              <a:rPr lang="ko-KR" altLang="en-US" sz="1200" dirty="0"/>
              <a:t> </a:t>
            </a:r>
            <a:r>
              <a:rPr lang="en-US" altLang="ko-KR" sz="1200" dirty="0"/>
              <a:t>2</a:t>
            </a:r>
            <a:r>
              <a:rPr lang="ko-KR" altLang="en-US" sz="1200" dirty="0" err="1"/>
              <a:t>단배너</a:t>
            </a:r>
            <a:r>
              <a:rPr lang="ko-KR" altLang="en-US" sz="1200" dirty="0"/>
              <a:t> </a:t>
            </a:r>
            <a:r>
              <a:rPr lang="en-US" altLang="ko-KR" sz="1200" dirty="0"/>
              <a:t>(PC: 590x370, MO: 585x670), </a:t>
            </a:r>
            <a:r>
              <a:rPr lang="ko-KR" altLang="en-US" sz="1200" dirty="0"/>
              <a:t>가이드라인에 맞춰 제작</a:t>
            </a:r>
            <a:endParaRPr lang="en-US" altLang="ko-KR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B268028-8A22-424D-9C0B-E91E0F942BDB}"/>
              </a:ext>
            </a:extLst>
          </p:cNvPr>
          <p:cNvSpPr/>
          <p:nvPr/>
        </p:nvSpPr>
        <p:spPr>
          <a:xfrm>
            <a:off x="201989" y="5048309"/>
            <a:ext cx="2592012" cy="16191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5265B197-6F8F-44AE-B700-E8868F6EFD33}"/>
              </a:ext>
            </a:extLst>
          </p:cNvPr>
          <p:cNvSpPr txBox="1"/>
          <p:nvPr/>
        </p:nvSpPr>
        <p:spPr>
          <a:xfrm>
            <a:off x="187357" y="6840616"/>
            <a:ext cx="5213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/>
              <a:t>지역 리스트 배너 </a:t>
            </a:r>
            <a:r>
              <a:rPr lang="en-US" altLang="ko-KR" sz="1200" dirty="0"/>
              <a:t>(PC: 1200x207, MO: 750x207), </a:t>
            </a:r>
            <a:r>
              <a:rPr lang="ko-KR" altLang="en-US" sz="1200" dirty="0"/>
              <a:t>가이드라인에 맞춰 제작</a:t>
            </a:r>
            <a:endParaRPr lang="en-US" altLang="ko-KR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F9977C7-E7D6-483A-B08F-84D0E438CCA3}"/>
              </a:ext>
            </a:extLst>
          </p:cNvPr>
          <p:cNvSpPr/>
          <p:nvPr/>
        </p:nvSpPr>
        <p:spPr>
          <a:xfrm>
            <a:off x="288957" y="7304973"/>
            <a:ext cx="6282891" cy="1221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AE2EA-3F17-449E-BBAC-C86E02388093}"/>
              </a:ext>
            </a:extLst>
          </p:cNvPr>
          <p:cNvSpPr txBox="1"/>
          <p:nvPr/>
        </p:nvSpPr>
        <p:spPr>
          <a:xfrm>
            <a:off x="-343846" y="1798074"/>
            <a:ext cx="62828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92D050"/>
                </a:solidFill>
              </a:rPr>
              <a:t>꼭 한 번은 만나야 할 곳</a:t>
            </a:r>
            <a:endParaRPr lang="en-US" altLang="ko-KR" sz="1400" b="1" dirty="0">
              <a:solidFill>
                <a:srgbClr val="92D050"/>
              </a:solidFill>
            </a:endParaRPr>
          </a:p>
          <a:p>
            <a:pPr algn="ctr"/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[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하이킹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네팔 히말라야 자연기행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일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F2F5CD-7DF5-4EAC-93F4-ADA24CEC9966}"/>
              </a:ext>
            </a:extLst>
          </p:cNvPr>
          <p:cNvSpPr txBox="1"/>
          <p:nvPr/>
        </p:nvSpPr>
        <p:spPr>
          <a:xfrm>
            <a:off x="268380" y="3802212"/>
            <a:ext cx="62828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92D050"/>
                </a:solidFill>
              </a:rPr>
              <a:t>꼭 한 번은 만나야 할 곳</a:t>
            </a:r>
            <a:endParaRPr lang="en-US" altLang="ko-KR" sz="1400" b="1" dirty="0">
              <a:solidFill>
                <a:srgbClr val="92D050"/>
              </a:solidFill>
            </a:endParaRPr>
          </a:p>
          <a:p>
            <a:pPr algn="ctr"/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[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하이킹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네팔 히말라야 자연기행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일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73D803-5EF6-4046-9B12-5D986CF6AE11}"/>
              </a:ext>
            </a:extLst>
          </p:cNvPr>
          <p:cNvSpPr txBox="1"/>
          <p:nvPr/>
        </p:nvSpPr>
        <p:spPr>
          <a:xfrm>
            <a:off x="73881" y="5399704"/>
            <a:ext cx="2805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92D050"/>
                </a:solidFill>
              </a:rPr>
              <a:t>꼭 한 번은 만나야 할 곳</a:t>
            </a:r>
            <a:endParaRPr lang="en-US" altLang="ko-KR" sz="1400" b="1" dirty="0">
              <a:solidFill>
                <a:srgbClr val="92D050"/>
              </a:solidFill>
            </a:endParaRPr>
          </a:p>
          <a:p>
            <a:pPr algn="ctr"/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[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하이킹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네팔 히말라야 자연기행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일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589309-309D-4A38-82F8-C530E6F7072F}"/>
              </a:ext>
            </a:extLst>
          </p:cNvPr>
          <p:cNvSpPr txBox="1"/>
          <p:nvPr/>
        </p:nvSpPr>
        <p:spPr>
          <a:xfrm>
            <a:off x="124677" y="7607908"/>
            <a:ext cx="62828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92D050"/>
                </a:solidFill>
              </a:rPr>
              <a:t>꼭 한 번은 만나야 할 곳</a:t>
            </a:r>
            <a:endParaRPr lang="en-US" altLang="ko-KR" sz="1400" b="1" dirty="0">
              <a:solidFill>
                <a:srgbClr val="92D050"/>
              </a:solidFill>
            </a:endParaRPr>
          </a:p>
          <a:p>
            <a:pPr algn="ctr"/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[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하이킹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] 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네팔 히말라야 자연기행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9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일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574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26F4A280-4A57-3A0D-6AC5-9ECDB5EA1D6F}"/>
              </a:ext>
            </a:extLst>
          </p:cNvPr>
          <p:cNvSpPr/>
          <p:nvPr/>
        </p:nvSpPr>
        <p:spPr>
          <a:xfrm>
            <a:off x="0" y="0"/>
            <a:ext cx="2057400" cy="430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지도 제작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-2149375" y="630556"/>
            <a:ext cx="1905000" cy="22391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tx1"/>
                </a:solidFill>
              </a:rPr>
              <a:t>디자인 너무 옛날버전이라</a:t>
            </a:r>
            <a:endParaRPr lang="en-US" altLang="ko-KR" sz="10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50" b="1" dirty="0">
                <a:solidFill>
                  <a:schemeClr val="tx1"/>
                </a:solidFill>
              </a:rPr>
              <a:t>리뉴얼 </a:t>
            </a:r>
            <a:r>
              <a:rPr lang="ko-KR" altLang="en-US" sz="1050" b="1" dirty="0" err="1">
                <a:solidFill>
                  <a:schemeClr val="tx1"/>
                </a:solidFill>
              </a:rPr>
              <a:t>요청드립니다</a:t>
            </a:r>
            <a:r>
              <a:rPr lang="en-US" altLang="ko-KR" sz="1050" b="1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sz="10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050" b="1" dirty="0">
                <a:solidFill>
                  <a:schemeClr val="tx1"/>
                </a:solidFill>
              </a:rPr>
              <a:t>지도 별도 파일 </a:t>
            </a:r>
            <a:r>
              <a:rPr lang="en-US" altLang="ko-KR" sz="1050" b="1" dirty="0">
                <a:solidFill>
                  <a:schemeClr val="tx1"/>
                </a:solidFill>
              </a:rPr>
              <a:t>1000px</a:t>
            </a:r>
          </a:p>
          <a:p>
            <a:pPr algn="ctr"/>
            <a:r>
              <a:rPr lang="ko-KR" altLang="en-US" sz="1050" b="1" dirty="0">
                <a:solidFill>
                  <a:schemeClr val="tx1"/>
                </a:solidFill>
              </a:rPr>
              <a:t>요청 드립니다</a:t>
            </a:r>
            <a:r>
              <a:rPr lang="en-US" altLang="ko-KR" sz="1050" b="1" dirty="0">
                <a:solidFill>
                  <a:schemeClr val="tx1"/>
                </a:solidFill>
              </a:rPr>
              <a:t>.</a:t>
            </a:r>
            <a:endParaRPr lang="ko-KR" altLang="en-US" sz="1050" b="1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81344F5-6BB0-4414-AE03-DFE2AC952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77" y="1349349"/>
            <a:ext cx="7093355" cy="644530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5CB8D7D-B32E-4F4C-954E-111E4D394F70}"/>
              </a:ext>
            </a:extLst>
          </p:cNvPr>
          <p:cNvSpPr/>
          <p:nvPr/>
        </p:nvSpPr>
        <p:spPr>
          <a:xfrm>
            <a:off x="1028700" y="3642360"/>
            <a:ext cx="1318260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 err="1"/>
              <a:t>담푸스</a:t>
            </a:r>
            <a:endParaRPr lang="en-US" altLang="ko-KR" sz="800" dirty="0"/>
          </a:p>
          <a:p>
            <a:pPr algn="ctr"/>
            <a:r>
              <a:rPr lang="en-US" altLang="ko-KR" sz="800" dirty="0"/>
              <a:t>-</a:t>
            </a:r>
            <a:r>
              <a:rPr lang="ko-KR" altLang="en-US" sz="800" dirty="0"/>
              <a:t>오스트레일리안 캠프</a:t>
            </a:r>
            <a:endParaRPr lang="en-US" altLang="ko-KR" sz="8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2E095B-C2B6-4E72-BD2C-1AD2F3B7271F}"/>
              </a:ext>
            </a:extLst>
          </p:cNvPr>
          <p:cNvSpPr/>
          <p:nvPr/>
        </p:nvSpPr>
        <p:spPr>
          <a:xfrm>
            <a:off x="2910842" y="4145280"/>
            <a:ext cx="1318260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 err="1"/>
              <a:t>포카라</a:t>
            </a:r>
            <a:endParaRPr lang="en-US" altLang="ko-KR" sz="800" dirty="0"/>
          </a:p>
          <a:p>
            <a:r>
              <a:rPr lang="en-US" altLang="ko-KR" sz="800" dirty="0"/>
              <a:t>- </a:t>
            </a:r>
            <a:r>
              <a:rPr lang="ko-KR" altLang="en-US" sz="800" dirty="0" err="1"/>
              <a:t>페와호수</a:t>
            </a:r>
            <a:endParaRPr lang="en-US" altLang="ko-KR" sz="8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FBC358-DF37-4D97-B20E-B683B0080EFB}"/>
              </a:ext>
            </a:extLst>
          </p:cNvPr>
          <p:cNvSpPr/>
          <p:nvPr/>
        </p:nvSpPr>
        <p:spPr>
          <a:xfrm>
            <a:off x="2769870" y="5704487"/>
            <a:ext cx="1318260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 err="1"/>
              <a:t>치트완</a:t>
            </a:r>
            <a:r>
              <a:rPr lang="ko-KR" altLang="en-US" sz="800" b="1" dirty="0"/>
              <a:t> 국립공원</a:t>
            </a:r>
            <a:endParaRPr lang="en-US" altLang="ko-KR" sz="800" dirty="0"/>
          </a:p>
          <a:p>
            <a:r>
              <a:rPr lang="en-US" altLang="ko-KR" sz="800" dirty="0"/>
              <a:t>- </a:t>
            </a:r>
            <a:r>
              <a:rPr lang="ko-KR" altLang="en-US" sz="800" dirty="0"/>
              <a:t>정글 사파리</a:t>
            </a:r>
            <a:endParaRPr lang="en-US" altLang="ko-KR" sz="8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309B98F-25CE-4381-92B5-B21499DEA08E}"/>
              </a:ext>
            </a:extLst>
          </p:cNvPr>
          <p:cNvSpPr/>
          <p:nvPr/>
        </p:nvSpPr>
        <p:spPr>
          <a:xfrm>
            <a:off x="4872774" y="5837837"/>
            <a:ext cx="1318260" cy="64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/>
              <a:t>카트만두  </a:t>
            </a:r>
            <a:r>
              <a:rPr lang="en-US" altLang="ko-KR" sz="800" b="1" dirty="0"/>
              <a:t>IN/OUT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/>
              <a:t>파탄</a:t>
            </a:r>
            <a:r>
              <a:rPr lang="en-US" altLang="ko-KR" sz="800" dirty="0"/>
              <a:t>, </a:t>
            </a:r>
            <a:r>
              <a:rPr lang="ko-KR" altLang="en-US" sz="800" dirty="0" err="1"/>
              <a:t>보드나트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201159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17484</TotalTime>
  <Words>1592</Words>
  <Application>Microsoft Office PowerPoint</Application>
  <PresentationFormat>화면 슬라이드 쇼(4:3)</PresentationFormat>
  <Paragraphs>232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Arial</vt:lpstr>
      <vt:lpstr>Calibri</vt:lpstr>
      <vt:lpstr>Calibri Light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박소설</cp:lastModifiedBy>
  <cp:revision>1721</cp:revision>
  <cp:lastPrinted>2024-08-21T09:42:19Z</cp:lastPrinted>
  <dcterms:created xsi:type="dcterms:W3CDTF">2023-03-13T02:12:51Z</dcterms:created>
  <dcterms:modified xsi:type="dcterms:W3CDTF">2026-01-08T01:43:05Z</dcterms:modified>
</cp:coreProperties>
</file>