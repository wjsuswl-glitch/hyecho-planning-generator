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1"/>
  </p:notesMasterIdLst>
  <p:sldIdLst>
    <p:sldId id="256" r:id="rId2"/>
    <p:sldId id="267" r:id="rId3"/>
    <p:sldId id="272" r:id="rId4"/>
    <p:sldId id="273" r:id="rId5"/>
    <p:sldId id="274" r:id="rId6"/>
    <p:sldId id="269" r:id="rId7"/>
    <p:sldId id="262" r:id="rId8"/>
    <p:sldId id="266" r:id="rId9"/>
    <p:sldId id="264" r:id="rId10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36" autoAdjust="0"/>
    <p:restoredTop sz="94182" autoAdjust="0"/>
  </p:normalViewPr>
  <p:slideViewPr>
    <p:cSldViewPr snapToGrid="0">
      <p:cViewPr varScale="1">
        <p:scale>
          <a:sx n="78" d="100"/>
          <a:sy n="78" d="100"/>
        </p:scale>
        <p:origin x="324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0BD3FD-4879-4AEE-9068-09DB608034EB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D3122D-4754-40A2-B454-1950E57CA1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6102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D3122D-4754-40A2-B454-1950E57CA12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8795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9A07B-B7F8-4EB2-AF9A-F7343054CEC2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CD1D6-3D14-4F9E-A3F0-7C9BA11008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8860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9A07B-B7F8-4EB2-AF9A-F7343054CEC2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CD1D6-3D14-4F9E-A3F0-7C9BA11008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6573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9A07B-B7F8-4EB2-AF9A-F7343054CEC2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CD1D6-3D14-4F9E-A3F0-7C9BA11008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2267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9A07B-B7F8-4EB2-AF9A-F7343054CEC2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CD1D6-3D14-4F9E-A3F0-7C9BA11008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7304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9A07B-B7F8-4EB2-AF9A-F7343054CEC2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CD1D6-3D14-4F9E-A3F0-7C9BA11008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2422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9A07B-B7F8-4EB2-AF9A-F7343054CEC2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CD1D6-3D14-4F9E-A3F0-7C9BA11008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9413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9A07B-B7F8-4EB2-AF9A-F7343054CEC2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CD1D6-3D14-4F9E-A3F0-7C9BA11008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6968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9A07B-B7F8-4EB2-AF9A-F7343054CEC2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CD1D6-3D14-4F9E-A3F0-7C9BA11008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4025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9A07B-B7F8-4EB2-AF9A-F7343054CEC2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CD1D6-3D14-4F9E-A3F0-7C9BA11008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2682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9A07B-B7F8-4EB2-AF9A-F7343054CEC2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CD1D6-3D14-4F9E-A3F0-7C9BA11008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3092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9A07B-B7F8-4EB2-AF9A-F7343054CEC2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CD1D6-3D14-4F9E-A3F0-7C9BA11008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8480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09A07B-B7F8-4EB2-AF9A-F7343054CEC2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2CD1D6-3D14-4F9E-A3F0-7C9BA11008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4312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042535B-4E36-B376-9858-207B51D07163}"/>
              </a:ext>
            </a:extLst>
          </p:cNvPr>
          <p:cNvSpPr/>
          <p:nvPr/>
        </p:nvSpPr>
        <p:spPr>
          <a:xfrm>
            <a:off x="1009650" y="457200"/>
            <a:ext cx="4781550" cy="3086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2CC38C-8D8F-4A9E-CB33-143DF69B0864}"/>
              </a:ext>
            </a:extLst>
          </p:cNvPr>
          <p:cNvSpPr txBox="1"/>
          <p:nvPr/>
        </p:nvSpPr>
        <p:spPr>
          <a:xfrm>
            <a:off x="107973" y="511700"/>
            <a:ext cx="647700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이슬람</a:t>
            </a:r>
            <a:r>
              <a:rPr lang="en-US" altLang="ko-KR" sz="1200" dirty="0"/>
              <a:t>·</a:t>
            </a:r>
            <a:r>
              <a:rPr lang="ko-KR" altLang="en-US" sz="1200" dirty="0"/>
              <a:t>힌두</a:t>
            </a:r>
            <a:r>
              <a:rPr lang="en-US" altLang="ko-KR" sz="1200" dirty="0"/>
              <a:t>·</a:t>
            </a:r>
            <a:r>
              <a:rPr lang="ko-KR" altLang="en-US" sz="1200" dirty="0"/>
              <a:t>불교가 빚은 벵골의 역사</a:t>
            </a:r>
            <a:r>
              <a:rPr lang="en-US" altLang="ko-KR" sz="1200" dirty="0"/>
              <a:t>, </a:t>
            </a:r>
          </a:p>
          <a:p>
            <a:pPr algn="ctr"/>
            <a:r>
              <a:rPr lang="ko-KR" altLang="en-US" sz="1200" dirty="0"/>
              <a:t>그리고 세계 최대 </a:t>
            </a:r>
            <a:r>
              <a:rPr lang="ko-KR" altLang="en-US" sz="1200" dirty="0" err="1"/>
              <a:t>맹그로브</a:t>
            </a:r>
            <a:r>
              <a:rPr lang="ko-KR" altLang="en-US" sz="1200" dirty="0"/>
              <a:t> 숲까지</a:t>
            </a:r>
            <a:endParaRPr lang="en-US" altLang="ko-KR" sz="1200" dirty="0"/>
          </a:p>
          <a:p>
            <a:pPr algn="ctr"/>
            <a:endParaRPr lang="en-US" altLang="ko-KR" sz="1200" b="1" dirty="0"/>
          </a:p>
          <a:p>
            <a:pPr algn="ctr"/>
            <a:r>
              <a:rPr lang="ko-KR" altLang="en-US" sz="1600" b="1" dirty="0"/>
              <a:t>방글라데시</a:t>
            </a:r>
            <a:endParaRPr lang="en-US" altLang="ko-KR" sz="1600" b="1" dirty="0"/>
          </a:p>
          <a:p>
            <a:pPr algn="ctr"/>
            <a:r>
              <a:rPr lang="ko-KR" altLang="en-US" sz="1600" b="1" dirty="0"/>
              <a:t>완전일주 </a:t>
            </a:r>
            <a:r>
              <a:rPr lang="en-US" altLang="ko-KR" sz="1600" b="1" dirty="0"/>
              <a:t>9</a:t>
            </a:r>
            <a:r>
              <a:rPr lang="ko-KR" altLang="en-US" sz="1600" b="1" dirty="0"/>
              <a:t>일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BCB0943-950A-798B-D1A9-87DB639EAA21}"/>
              </a:ext>
            </a:extLst>
          </p:cNvPr>
          <p:cNvSpPr/>
          <p:nvPr/>
        </p:nvSpPr>
        <p:spPr>
          <a:xfrm>
            <a:off x="66882" y="88019"/>
            <a:ext cx="6724236" cy="172937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11CA2E0-C252-5875-2C8B-F9955641FFA1}"/>
              </a:ext>
            </a:extLst>
          </p:cNvPr>
          <p:cNvSpPr/>
          <p:nvPr/>
        </p:nvSpPr>
        <p:spPr>
          <a:xfrm>
            <a:off x="67029" y="1817394"/>
            <a:ext cx="6724236" cy="474717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1C03D7E-A8D4-760E-84F0-E1FAFD941329}"/>
              </a:ext>
            </a:extLst>
          </p:cNvPr>
          <p:cNvSpPr txBox="1"/>
          <p:nvPr/>
        </p:nvSpPr>
        <p:spPr>
          <a:xfrm>
            <a:off x="540999" y="2984115"/>
            <a:ext cx="3102953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이곳에서는</a:t>
            </a:r>
            <a:endParaRPr lang="en-US" altLang="ko-KR" sz="1100" dirty="0"/>
          </a:p>
          <a:p>
            <a:r>
              <a:rPr lang="ko-KR" altLang="en-US" sz="1100" dirty="0"/>
              <a:t> </a:t>
            </a:r>
            <a:r>
              <a:rPr lang="en-US" altLang="ko-KR" sz="1100" dirty="0"/>
              <a:t>1</a:t>
            </a:r>
            <a:r>
              <a:rPr lang="ko-KR" altLang="en-US" sz="1100" dirty="0"/>
              <a:t>억 </a:t>
            </a:r>
            <a:r>
              <a:rPr lang="en-US" altLang="ko-KR" sz="1100" dirty="0"/>
              <a:t>7</a:t>
            </a:r>
            <a:r>
              <a:rPr lang="ko-KR" altLang="en-US" sz="1100" dirty="0"/>
              <a:t>천만 명의 사람들이 만들어내는</a:t>
            </a:r>
            <a:br>
              <a:rPr lang="ko-KR" altLang="en-US" sz="1100" dirty="0"/>
            </a:br>
            <a:r>
              <a:rPr lang="ko-KR" altLang="en-US" sz="1100" dirty="0"/>
              <a:t>압도적인 삶의 에너지를 </a:t>
            </a:r>
            <a:endParaRPr lang="en-US" altLang="ko-KR" sz="1100" dirty="0"/>
          </a:p>
          <a:p>
            <a:r>
              <a:rPr lang="ko-KR" altLang="en-US" sz="1100" dirty="0"/>
              <a:t>매 순간 마주하게 됩니다</a:t>
            </a:r>
            <a:r>
              <a:rPr lang="en-US" altLang="ko-KR" sz="1100" dirty="0"/>
              <a:t>.</a:t>
            </a:r>
          </a:p>
          <a:p>
            <a:br>
              <a:rPr lang="ko-KR" altLang="en-US" sz="1100" dirty="0"/>
            </a:br>
            <a:r>
              <a:rPr lang="ko-KR" altLang="en-US" sz="1100" dirty="0"/>
              <a:t>불교와 힌두</a:t>
            </a:r>
            <a:r>
              <a:rPr lang="en-US" altLang="ko-KR" sz="1100" dirty="0"/>
              <a:t>, </a:t>
            </a:r>
            <a:r>
              <a:rPr lang="ko-KR" altLang="en-US" sz="1100" dirty="0"/>
              <a:t>이슬람의 유적을 돌아보고</a:t>
            </a:r>
            <a:endParaRPr lang="en-US" altLang="ko-KR" sz="1100" dirty="0"/>
          </a:p>
          <a:p>
            <a:r>
              <a:rPr lang="ko-KR" altLang="en-US" sz="1100" dirty="0"/>
              <a:t>풍부한 자연 생태를 품은 세계 최대 </a:t>
            </a:r>
            <a:r>
              <a:rPr lang="ko-KR" altLang="en-US" sz="1100" dirty="0" err="1"/>
              <a:t>맹그로브</a:t>
            </a:r>
            <a:r>
              <a:rPr lang="ko-KR" altLang="en-US" sz="1100" dirty="0"/>
              <a:t> 숲</a:t>
            </a:r>
            <a:r>
              <a:rPr lang="en-US" altLang="ko-KR" sz="1100" dirty="0"/>
              <a:t>,</a:t>
            </a:r>
          </a:p>
          <a:p>
            <a:r>
              <a:rPr lang="ko-KR" altLang="en-US" sz="1100" dirty="0" err="1"/>
              <a:t>순다르반스</a:t>
            </a:r>
            <a:r>
              <a:rPr lang="ko-KR" altLang="en-US" sz="1100" dirty="0"/>
              <a:t> 크루즈 탐방까지 더해진</a:t>
            </a:r>
            <a:endParaRPr lang="en-US" altLang="ko-KR" sz="1100" dirty="0"/>
          </a:p>
          <a:p>
            <a:r>
              <a:rPr lang="ko-KR" altLang="en-US" sz="1100" b="1" dirty="0"/>
              <a:t>국내 유일 여정</a:t>
            </a:r>
            <a:r>
              <a:rPr lang="ko-KR" altLang="en-US" sz="1100" dirty="0"/>
              <a:t>으로 </a:t>
            </a:r>
            <a:endParaRPr lang="en-US" altLang="ko-KR" sz="1100" dirty="0"/>
          </a:p>
          <a:p>
            <a:r>
              <a:rPr lang="ko-KR" altLang="en-US" sz="1100" dirty="0"/>
              <a:t>한층 깊이 있는 경험을 완성합니다</a:t>
            </a:r>
            <a:r>
              <a:rPr lang="en-US" altLang="ko-KR" sz="1100" dirty="0"/>
              <a:t>.</a:t>
            </a:r>
          </a:p>
          <a:p>
            <a:endParaRPr lang="en-US" altLang="ko-KR" sz="1100" dirty="0"/>
          </a:p>
          <a:p>
            <a:r>
              <a:rPr lang="ko-KR" altLang="en-US" sz="1100" dirty="0"/>
              <a:t>오직 혜초만의 시선으로 담아낸</a:t>
            </a:r>
            <a:endParaRPr lang="en-US" altLang="ko-KR" sz="1100" dirty="0"/>
          </a:p>
          <a:p>
            <a:r>
              <a:rPr lang="ko-KR" altLang="en-US" sz="1100" dirty="0"/>
              <a:t>방글라데시 문화</a:t>
            </a:r>
            <a:r>
              <a:rPr lang="en-US" altLang="ko-KR" sz="1100" dirty="0"/>
              <a:t>·</a:t>
            </a:r>
            <a:r>
              <a:rPr lang="ko-KR" altLang="en-US" sz="1100" dirty="0"/>
              <a:t>역사 탐방의 </a:t>
            </a:r>
            <a:endParaRPr lang="en-US" altLang="ko-KR" sz="1100" dirty="0"/>
          </a:p>
          <a:p>
            <a:r>
              <a:rPr lang="ko-KR" altLang="en-US" sz="1100" dirty="0"/>
              <a:t>진정한 매력을 만나보세요</a:t>
            </a:r>
            <a:r>
              <a:rPr lang="en-US" altLang="ko-KR" sz="1100" dirty="0"/>
              <a:t>.</a:t>
            </a:r>
            <a:endParaRPr lang="ko-KR" altLang="en-US" sz="11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3F2C7FD-D6E6-6ABB-EC4C-F3EFA229471A}"/>
              </a:ext>
            </a:extLst>
          </p:cNvPr>
          <p:cNvSpPr txBox="1"/>
          <p:nvPr/>
        </p:nvSpPr>
        <p:spPr>
          <a:xfrm>
            <a:off x="476572" y="2080005"/>
            <a:ext cx="42826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경험의 밀도가 다른 나라</a:t>
            </a:r>
            <a:r>
              <a:rPr lang="en-US" altLang="ko-KR" sz="1400" dirty="0"/>
              <a:t>,</a:t>
            </a:r>
          </a:p>
          <a:p>
            <a:r>
              <a:rPr lang="ko-KR" altLang="en-US" sz="1400" b="1" dirty="0"/>
              <a:t>방글라데시를 만나다</a:t>
            </a:r>
            <a:r>
              <a:rPr lang="en-US" altLang="ko-KR" sz="1400" b="1" dirty="0"/>
              <a:t>!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F44D8B0C-35B1-5305-1230-04C1616A8F56}"/>
              </a:ext>
            </a:extLst>
          </p:cNvPr>
          <p:cNvSpPr/>
          <p:nvPr/>
        </p:nvSpPr>
        <p:spPr>
          <a:xfrm>
            <a:off x="1084241" y="5678764"/>
            <a:ext cx="4706958" cy="60951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지도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슬라이드 </a:t>
            </a:r>
            <a:r>
              <a:rPr lang="en-US" altLang="ko-KR" dirty="0">
                <a:solidFill>
                  <a:schemeClr val="tx1"/>
                </a:solidFill>
              </a:rPr>
              <a:t>8</a:t>
            </a:r>
            <a:r>
              <a:rPr lang="ko-KR" altLang="en-US" dirty="0">
                <a:solidFill>
                  <a:schemeClr val="tx1"/>
                </a:solidFill>
              </a:rPr>
              <a:t>번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38E6848-4F2A-0F6B-5863-7A1BB847AFA3}"/>
              </a:ext>
            </a:extLst>
          </p:cNvPr>
          <p:cNvSpPr/>
          <p:nvPr/>
        </p:nvSpPr>
        <p:spPr>
          <a:xfrm>
            <a:off x="4907817" y="203981"/>
            <a:ext cx="1766765" cy="3895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메인 이미지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66AA9C-744D-7DB3-C6D0-163AE2C62007}"/>
              </a:ext>
            </a:extLst>
          </p:cNvPr>
          <p:cNvSpPr txBox="1"/>
          <p:nvPr/>
        </p:nvSpPr>
        <p:spPr>
          <a:xfrm>
            <a:off x="7200807" y="3220751"/>
            <a:ext cx="28956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!</a:t>
            </a:r>
            <a:r>
              <a:rPr lang="ko-KR" altLang="en-US" dirty="0">
                <a:solidFill>
                  <a:srgbClr val="FF0000"/>
                </a:solidFill>
              </a:rPr>
              <a:t>모바일에서 잘 보이게끔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ko-KR" altLang="en-US" dirty="0">
                <a:solidFill>
                  <a:srgbClr val="FF0000"/>
                </a:solidFill>
              </a:rPr>
              <a:t>본문 폰트 크기를 키우고자 합니다</a:t>
            </a:r>
            <a:r>
              <a:rPr lang="en-US" altLang="ko-KR" dirty="0">
                <a:solidFill>
                  <a:srgbClr val="FF0000"/>
                </a:solidFill>
              </a:rPr>
              <a:t>.</a:t>
            </a:r>
          </a:p>
          <a:p>
            <a:endParaRPr lang="en-US" altLang="ko-KR" dirty="0">
              <a:solidFill>
                <a:srgbClr val="FF0000"/>
              </a:solidFill>
            </a:endParaRPr>
          </a:p>
          <a:p>
            <a:r>
              <a:rPr lang="ko-KR" altLang="en-US" dirty="0">
                <a:solidFill>
                  <a:srgbClr val="FF0000"/>
                </a:solidFill>
              </a:rPr>
              <a:t>본문</a:t>
            </a:r>
            <a:r>
              <a:rPr lang="en-US" altLang="ko-KR" dirty="0">
                <a:solidFill>
                  <a:srgbClr val="FF0000"/>
                </a:solidFill>
              </a:rPr>
              <a:t>: 30pt/ </a:t>
            </a:r>
            <a:r>
              <a:rPr lang="ko-KR" altLang="en-US" dirty="0">
                <a:solidFill>
                  <a:srgbClr val="FF0000"/>
                </a:solidFill>
              </a:rPr>
              <a:t>행간</a:t>
            </a:r>
            <a:r>
              <a:rPr lang="en-US" altLang="ko-KR" dirty="0">
                <a:solidFill>
                  <a:srgbClr val="FF0000"/>
                </a:solidFill>
              </a:rPr>
              <a:t>: 40pt</a:t>
            </a:r>
          </a:p>
          <a:p>
            <a:endParaRPr lang="en-US" altLang="ko-KR" dirty="0">
              <a:solidFill>
                <a:srgbClr val="FF0000"/>
              </a:solidFill>
            </a:endParaRPr>
          </a:p>
          <a:p>
            <a:r>
              <a:rPr lang="ko-KR" altLang="en-US" dirty="0">
                <a:solidFill>
                  <a:srgbClr val="FF0000"/>
                </a:solidFill>
              </a:rPr>
              <a:t>서브타이틀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바디 카피 등 본문</a:t>
            </a:r>
            <a:r>
              <a:rPr lang="en-US" altLang="ko-KR" dirty="0">
                <a:solidFill>
                  <a:srgbClr val="FF0000"/>
                </a:solidFill>
              </a:rPr>
              <a:t>(30pt)</a:t>
            </a:r>
            <a:r>
              <a:rPr lang="ko-KR" altLang="en-US" dirty="0">
                <a:solidFill>
                  <a:srgbClr val="FF0000"/>
                </a:solidFill>
              </a:rPr>
              <a:t>을 기준으로 비례하게 조정 부탁드립니다</a:t>
            </a:r>
            <a:r>
              <a:rPr lang="en-US" altLang="ko-KR" dirty="0">
                <a:solidFill>
                  <a:srgbClr val="FF0000"/>
                </a:solidFill>
              </a:rPr>
              <a:t>. 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DDF3F41-C63B-A27C-771F-0B3B1F02F386}"/>
              </a:ext>
            </a:extLst>
          </p:cNvPr>
          <p:cNvSpPr/>
          <p:nvPr/>
        </p:nvSpPr>
        <p:spPr>
          <a:xfrm>
            <a:off x="476572" y="2853791"/>
            <a:ext cx="3263222" cy="26810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1A7153D0-6906-459C-CCF0-D963E11DA8B8}"/>
              </a:ext>
            </a:extLst>
          </p:cNvPr>
          <p:cNvCxnSpPr>
            <a:cxnSpLocks/>
          </p:cNvCxnSpPr>
          <p:nvPr/>
        </p:nvCxnSpPr>
        <p:spPr>
          <a:xfrm>
            <a:off x="3739794" y="3467912"/>
            <a:ext cx="335043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68BCE08-3E35-AFA4-A05C-08DC63735337}"/>
              </a:ext>
            </a:extLst>
          </p:cNvPr>
          <p:cNvSpPr txBox="1"/>
          <p:nvPr/>
        </p:nvSpPr>
        <p:spPr>
          <a:xfrm>
            <a:off x="1445918" y="6942957"/>
            <a:ext cx="39836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혜초의 방글라데시 완전일주 </a:t>
            </a:r>
            <a:r>
              <a:rPr lang="en-US" altLang="ko-K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9</a:t>
            </a:r>
            <a:r>
              <a:rPr lang="ko-KR" alt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일 하이라이트</a:t>
            </a:r>
            <a:r>
              <a:rPr lang="en-US" altLang="ko-K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!</a:t>
            </a:r>
            <a:endParaRPr lang="ko-KR" altLang="en-US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86C0F75-464B-058A-5CB1-6BAA46189A46}"/>
              </a:ext>
            </a:extLst>
          </p:cNvPr>
          <p:cNvSpPr/>
          <p:nvPr/>
        </p:nvSpPr>
        <p:spPr>
          <a:xfrm>
            <a:off x="72787" y="6564572"/>
            <a:ext cx="6724236" cy="249141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평행 사변형 36">
            <a:extLst>
              <a:ext uri="{FF2B5EF4-FFF2-40B4-BE49-F238E27FC236}">
                <a16:creationId xmlns:a16="http://schemas.microsoft.com/office/drawing/2014/main" id="{096AF0B1-4CC8-152F-367D-95F0D81C72B6}"/>
              </a:ext>
            </a:extLst>
          </p:cNvPr>
          <p:cNvSpPr/>
          <p:nvPr/>
        </p:nvSpPr>
        <p:spPr>
          <a:xfrm>
            <a:off x="634065" y="7653943"/>
            <a:ext cx="2623736" cy="977542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이미지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4F0D247-D04D-7BBD-1C1C-70516FA43EAD}"/>
              </a:ext>
            </a:extLst>
          </p:cNvPr>
          <p:cNvSpPr txBox="1"/>
          <p:nvPr/>
        </p:nvSpPr>
        <p:spPr>
          <a:xfrm>
            <a:off x="3643952" y="7992854"/>
            <a:ext cx="200526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/>
              <a:t>루이스 칸의 걸작</a:t>
            </a:r>
            <a:r>
              <a:rPr lang="en-US" altLang="ko-KR" sz="1100" b="1" dirty="0"/>
              <a:t>, </a:t>
            </a:r>
          </a:p>
          <a:p>
            <a:pPr algn="ctr"/>
            <a:r>
              <a:rPr lang="ko-KR" altLang="en-US" sz="1100" b="1" dirty="0">
                <a:solidFill>
                  <a:schemeClr val="accent2"/>
                </a:solidFill>
              </a:rPr>
              <a:t>다카 국회의사당 내부 관람</a:t>
            </a:r>
            <a:endParaRPr lang="ko-KR" altLang="en-US" sz="11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8365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23EAB43-014A-3F16-7ED6-A460ADFA638B}"/>
              </a:ext>
            </a:extLst>
          </p:cNvPr>
          <p:cNvSpPr/>
          <p:nvPr/>
        </p:nvSpPr>
        <p:spPr>
          <a:xfrm>
            <a:off x="53074" y="101600"/>
            <a:ext cx="6724236" cy="3678286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평행 사변형 47">
            <a:extLst>
              <a:ext uri="{FF2B5EF4-FFF2-40B4-BE49-F238E27FC236}">
                <a16:creationId xmlns:a16="http://schemas.microsoft.com/office/drawing/2014/main" id="{6C7E0B74-E346-AA56-569C-590E704BBD4A}"/>
              </a:ext>
            </a:extLst>
          </p:cNvPr>
          <p:cNvSpPr/>
          <p:nvPr/>
        </p:nvSpPr>
        <p:spPr>
          <a:xfrm>
            <a:off x="2284974" y="2535253"/>
            <a:ext cx="2321617" cy="977542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이미지</a:t>
            </a:r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19" name="평행 사변형 18">
            <a:extLst>
              <a:ext uri="{FF2B5EF4-FFF2-40B4-BE49-F238E27FC236}">
                <a16:creationId xmlns:a16="http://schemas.microsoft.com/office/drawing/2014/main" id="{89FB90C3-F87A-76A1-6B36-FB6E9E0B8C85}"/>
              </a:ext>
            </a:extLst>
          </p:cNvPr>
          <p:cNvSpPr/>
          <p:nvPr/>
        </p:nvSpPr>
        <p:spPr>
          <a:xfrm>
            <a:off x="3445782" y="377573"/>
            <a:ext cx="2623736" cy="977542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이미지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44" name="평행 사변형 43">
            <a:extLst>
              <a:ext uri="{FF2B5EF4-FFF2-40B4-BE49-F238E27FC236}">
                <a16:creationId xmlns:a16="http://schemas.microsoft.com/office/drawing/2014/main" id="{46DCB7EF-5EB5-7528-9F59-6E16CE7C6940}"/>
              </a:ext>
            </a:extLst>
          </p:cNvPr>
          <p:cNvSpPr/>
          <p:nvPr/>
        </p:nvSpPr>
        <p:spPr>
          <a:xfrm>
            <a:off x="190338" y="2535253"/>
            <a:ext cx="2321617" cy="977542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이미지</a:t>
            </a:r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6CB04B9-AA31-F4BF-DE74-F7257C909683}"/>
              </a:ext>
            </a:extLst>
          </p:cNvPr>
          <p:cNvSpPr/>
          <p:nvPr/>
        </p:nvSpPr>
        <p:spPr>
          <a:xfrm>
            <a:off x="903766" y="3346599"/>
            <a:ext cx="1358631" cy="16284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err="1"/>
              <a:t>소마푸라</a:t>
            </a:r>
            <a:r>
              <a:rPr lang="ko-KR" altLang="en-US" sz="1000" b="1" dirty="0"/>
              <a:t> 마하비하라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AE986A7-C3A9-619A-86D0-EEFB5F61E6B7}"/>
              </a:ext>
            </a:extLst>
          </p:cNvPr>
          <p:cNvSpPr/>
          <p:nvPr/>
        </p:nvSpPr>
        <p:spPr>
          <a:xfrm>
            <a:off x="2655905" y="3366862"/>
            <a:ext cx="1690142" cy="14257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err="1"/>
              <a:t>바게르하트의</a:t>
            </a:r>
            <a:r>
              <a:rPr lang="ko-KR" altLang="en-US" sz="1000" b="1" dirty="0"/>
              <a:t> 모스크 도시</a:t>
            </a:r>
          </a:p>
        </p:txBody>
      </p:sp>
      <p:sp>
        <p:nvSpPr>
          <p:cNvPr id="49" name="평행 사변형 48">
            <a:extLst>
              <a:ext uri="{FF2B5EF4-FFF2-40B4-BE49-F238E27FC236}">
                <a16:creationId xmlns:a16="http://schemas.microsoft.com/office/drawing/2014/main" id="{41E83EE6-8A9C-C41C-4E2B-22CC6C6C2BC6}"/>
              </a:ext>
            </a:extLst>
          </p:cNvPr>
          <p:cNvSpPr/>
          <p:nvPr/>
        </p:nvSpPr>
        <p:spPr>
          <a:xfrm>
            <a:off x="4379609" y="2535253"/>
            <a:ext cx="2321617" cy="977542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이미지</a:t>
            </a:r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A662EEE8-5A48-561A-CA2C-0E7EA17E4CFC}"/>
              </a:ext>
            </a:extLst>
          </p:cNvPr>
          <p:cNvSpPr/>
          <p:nvPr/>
        </p:nvSpPr>
        <p:spPr>
          <a:xfrm>
            <a:off x="5560828" y="3346599"/>
            <a:ext cx="913417" cy="14258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err="1"/>
              <a:t>순다르반스</a:t>
            </a:r>
            <a:endParaRPr lang="ko-KR" altLang="en-US" sz="1000" b="1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641E438-EDAD-45A6-1452-4255AD88B495}"/>
              </a:ext>
            </a:extLst>
          </p:cNvPr>
          <p:cNvSpPr txBox="1"/>
          <p:nvPr/>
        </p:nvSpPr>
        <p:spPr>
          <a:xfrm>
            <a:off x="522731" y="1939383"/>
            <a:ext cx="57734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/>
              <a:t>방글라데시 대표 </a:t>
            </a:r>
            <a:r>
              <a:rPr lang="ko-KR" altLang="en-US" sz="1100" b="1" dirty="0">
                <a:solidFill>
                  <a:schemeClr val="accent2"/>
                </a:solidFill>
              </a:rPr>
              <a:t>유네스코 세계유산</a:t>
            </a:r>
            <a:r>
              <a:rPr lang="ko-KR" altLang="en-US" sz="1100" b="1" dirty="0"/>
              <a:t>을 아우르는 핵심 루트</a:t>
            </a:r>
            <a:endParaRPr lang="ko-KR" altLang="en-US" sz="11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63DB9F3-C338-DB57-2C27-0811275D4D40}"/>
              </a:ext>
            </a:extLst>
          </p:cNvPr>
          <p:cNvSpPr txBox="1"/>
          <p:nvPr/>
        </p:nvSpPr>
        <p:spPr>
          <a:xfrm>
            <a:off x="943080" y="796833"/>
            <a:ext cx="200526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 err="1">
                <a:solidFill>
                  <a:schemeClr val="accent2"/>
                </a:solidFill>
              </a:rPr>
              <a:t>순다르반스</a:t>
            </a:r>
            <a:r>
              <a:rPr lang="ko-KR" altLang="en-US" sz="1100" b="1" dirty="0">
                <a:solidFill>
                  <a:schemeClr val="accent2"/>
                </a:solidFill>
              </a:rPr>
              <a:t> 크루즈</a:t>
            </a:r>
            <a:r>
              <a:rPr lang="en-US" altLang="ko-KR" sz="1100" b="1" dirty="0">
                <a:solidFill>
                  <a:schemeClr val="accent2"/>
                </a:solidFill>
              </a:rPr>
              <a:t>, </a:t>
            </a:r>
          </a:p>
          <a:p>
            <a:pPr algn="ctr"/>
            <a:r>
              <a:rPr lang="ko-KR" altLang="en-US" sz="1100" b="1" dirty="0" err="1"/>
              <a:t>맹그로브</a:t>
            </a:r>
            <a:r>
              <a:rPr lang="ko-KR" altLang="en-US" sz="1100" b="1" dirty="0"/>
              <a:t> 숲 생태계 탐방</a:t>
            </a:r>
            <a:endParaRPr lang="ko-KR" altLang="en-US" sz="1100" b="1" dirty="0">
              <a:solidFill>
                <a:schemeClr val="accent2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5C1C8BC-9E4A-0114-ABEB-B2CB6515ED8B}"/>
              </a:ext>
            </a:extLst>
          </p:cNvPr>
          <p:cNvSpPr/>
          <p:nvPr/>
        </p:nvSpPr>
        <p:spPr>
          <a:xfrm>
            <a:off x="55951" y="3779886"/>
            <a:ext cx="6724236" cy="5262514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모서리가 접힌 도형 2">
            <a:extLst>
              <a:ext uri="{FF2B5EF4-FFF2-40B4-BE49-F238E27FC236}">
                <a16:creationId xmlns:a16="http://schemas.microsoft.com/office/drawing/2014/main" id="{BB7A5D06-AAE1-1708-6216-35E71A474FDB}"/>
              </a:ext>
            </a:extLst>
          </p:cNvPr>
          <p:cNvSpPr/>
          <p:nvPr/>
        </p:nvSpPr>
        <p:spPr>
          <a:xfrm>
            <a:off x="1037968" y="7081504"/>
            <a:ext cx="5031550" cy="1960895"/>
          </a:xfrm>
          <a:prstGeom prst="foldedCorne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EF03220-4D1E-0212-C817-59A0B1114D23}"/>
              </a:ext>
            </a:extLst>
          </p:cNvPr>
          <p:cNvSpPr txBox="1"/>
          <p:nvPr/>
        </p:nvSpPr>
        <p:spPr>
          <a:xfrm>
            <a:off x="288967" y="7183951"/>
            <a:ext cx="6424017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i="1" dirty="0"/>
              <a:t>여기서 잠깐</a:t>
            </a:r>
            <a:r>
              <a:rPr lang="en-US" altLang="ko-KR" sz="1100" b="1" i="1" dirty="0"/>
              <a:t>! </a:t>
            </a:r>
          </a:p>
          <a:p>
            <a:pPr algn="ctr"/>
            <a:endParaRPr lang="en-US" altLang="ko-KR" sz="1100" b="1" i="1" dirty="0"/>
          </a:p>
          <a:p>
            <a:pPr algn="ctr"/>
            <a:r>
              <a:rPr lang="en-US" altLang="ko-KR" sz="1100" dirty="0"/>
              <a:t>‘</a:t>
            </a:r>
            <a:r>
              <a:rPr lang="ko-KR" altLang="en-US" sz="1100" dirty="0"/>
              <a:t>세계 모국어의 날</a:t>
            </a:r>
            <a:r>
              <a:rPr lang="en-US" altLang="ko-KR" sz="1100" dirty="0"/>
              <a:t>’</a:t>
            </a:r>
            <a:r>
              <a:rPr lang="ko-KR" altLang="en-US" sz="1100" dirty="0"/>
              <a:t>의 기원이 된 나라가</a:t>
            </a:r>
            <a:r>
              <a:rPr lang="en-US" altLang="ko-KR" sz="1100" dirty="0"/>
              <a:t> </a:t>
            </a:r>
            <a:r>
              <a:rPr lang="ko-KR" altLang="en-US" sz="1100" dirty="0"/>
              <a:t>방글라데시라는 사실을 아셨나요</a:t>
            </a:r>
            <a:r>
              <a:rPr lang="en-US" altLang="ko-KR" sz="1100" dirty="0"/>
              <a:t>?</a:t>
            </a:r>
          </a:p>
          <a:p>
            <a:pPr algn="ctr"/>
            <a:endParaRPr lang="en-US" altLang="ko-KR" sz="1100" dirty="0"/>
          </a:p>
          <a:p>
            <a:pPr algn="ctr"/>
            <a:r>
              <a:rPr lang="en-US" altLang="ko-KR" sz="1100" dirty="0"/>
              <a:t>1971</a:t>
            </a:r>
            <a:r>
              <a:rPr lang="ko-KR" altLang="en-US" sz="1100" dirty="0"/>
              <a:t>년 독립 이전</a:t>
            </a:r>
            <a:r>
              <a:rPr lang="en-US" altLang="ko-KR" sz="1100" dirty="0"/>
              <a:t>, </a:t>
            </a:r>
            <a:r>
              <a:rPr lang="ko-KR" altLang="en-US" sz="1100" dirty="0"/>
              <a:t>당시 파키스탄 정부가 </a:t>
            </a:r>
            <a:r>
              <a:rPr lang="ko-KR" altLang="en-US" sz="1100" dirty="0" err="1"/>
              <a:t>우르두어</a:t>
            </a:r>
            <a:r>
              <a:rPr lang="ko-KR" altLang="en-US" sz="1100" dirty="0"/>
              <a:t> 사용을 강요하자</a:t>
            </a:r>
            <a:br>
              <a:rPr lang="ko-KR" altLang="en-US" sz="1100" dirty="0"/>
            </a:br>
            <a:r>
              <a:rPr lang="ko-KR" altLang="en-US" sz="1100" dirty="0"/>
              <a:t>벵골인들은 자신의 모국어인 벵골어를 지키기 위해 거리로 나섰습니다</a:t>
            </a:r>
            <a:r>
              <a:rPr lang="en-US" altLang="ko-KR" sz="1100" dirty="0"/>
              <a:t>.</a:t>
            </a:r>
          </a:p>
          <a:p>
            <a:pPr algn="ctr"/>
            <a:r>
              <a:rPr lang="ko-KR" altLang="en-US" sz="1100" dirty="0"/>
              <a:t>이 과정에서 많은 희생을 치르며 언어권을 지켜냈습니다</a:t>
            </a:r>
            <a:r>
              <a:rPr lang="en-US" altLang="ko-KR" sz="1100" dirty="0"/>
              <a:t>.</a:t>
            </a:r>
          </a:p>
          <a:p>
            <a:pPr algn="ctr"/>
            <a:endParaRPr lang="en-US" altLang="ko-KR" sz="1100" dirty="0"/>
          </a:p>
          <a:p>
            <a:pPr algn="ctr"/>
            <a:r>
              <a:rPr lang="ko-KR" altLang="en-US" sz="1100" dirty="0"/>
              <a:t>한글을 사랑하는 우리처럼</a:t>
            </a:r>
            <a:r>
              <a:rPr lang="en-US" altLang="ko-KR" sz="1100" dirty="0"/>
              <a:t>,</a:t>
            </a:r>
            <a:br>
              <a:rPr lang="en-US" altLang="ko-KR" sz="1100" dirty="0"/>
            </a:br>
            <a:r>
              <a:rPr lang="ko-KR" altLang="en-US" sz="1100" dirty="0"/>
              <a:t>언어와 문화를 지키기 위한 벵골인들의 자부심을 직접 느껴보세요</a:t>
            </a:r>
            <a:r>
              <a:rPr lang="en-US" altLang="ko-KR" sz="1100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CE0884-782E-861E-667D-0E0D8CB8E8B0}"/>
              </a:ext>
            </a:extLst>
          </p:cNvPr>
          <p:cNvSpPr txBox="1"/>
          <p:nvPr/>
        </p:nvSpPr>
        <p:spPr>
          <a:xfrm>
            <a:off x="288963" y="3882333"/>
            <a:ext cx="39468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세계에서 인구 밀도가 가장 높은 곳</a:t>
            </a:r>
            <a:r>
              <a:rPr lang="en-US" altLang="ko-K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! </a:t>
            </a:r>
          </a:p>
          <a:p>
            <a:r>
              <a:rPr lang="ko-KR" alt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방글라데시</a:t>
            </a:r>
            <a:endParaRPr lang="en-US" altLang="ko-KR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E64868-DEDB-2FE4-5638-B29DF445BF40}"/>
              </a:ext>
            </a:extLst>
          </p:cNvPr>
          <p:cNvSpPr txBox="1"/>
          <p:nvPr/>
        </p:nvSpPr>
        <p:spPr>
          <a:xfrm>
            <a:off x="2618844" y="4204674"/>
            <a:ext cx="4183205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/>
              <a:t>남한의 약 </a:t>
            </a:r>
            <a:r>
              <a:rPr lang="en-US" altLang="ko-KR" sz="1100" dirty="0"/>
              <a:t>1.5</a:t>
            </a:r>
            <a:r>
              <a:rPr lang="ko-KR" altLang="en-US" sz="1100" dirty="0"/>
              <a:t>배 크기 안에 </a:t>
            </a:r>
            <a:endParaRPr lang="en-US" altLang="ko-KR" sz="1100" dirty="0"/>
          </a:p>
          <a:p>
            <a:pPr algn="ctr"/>
            <a:r>
              <a:rPr lang="ko-KR" altLang="en-US" sz="1100" dirty="0"/>
              <a:t>약 </a:t>
            </a:r>
            <a:r>
              <a:rPr lang="en-US" altLang="ko-KR" sz="1100" dirty="0"/>
              <a:t>1</a:t>
            </a:r>
            <a:r>
              <a:rPr lang="ko-KR" altLang="en-US" sz="1100" dirty="0"/>
              <a:t>억 </a:t>
            </a:r>
            <a:r>
              <a:rPr lang="en-US" altLang="ko-KR" sz="1100" dirty="0"/>
              <a:t>7</a:t>
            </a:r>
            <a:r>
              <a:rPr lang="ko-KR" altLang="en-US" sz="1100" dirty="0"/>
              <a:t>천만 명이 거주하는</a:t>
            </a:r>
            <a:endParaRPr lang="en-US" altLang="ko-KR" sz="1100" dirty="0"/>
          </a:p>
          <a:p>
            <a:pPr algn="ctr"/>
            <a:r>
              <a:rPr lang="ko-KR" altLang="en-US" sz="1100" dirty="0"/>
              <a:t> 고밀도 인구 국가입니다</a:t>
            </a:r>
            <a:r>
              <a:rPr lang="en-US" altLang="ko-KR" sz="1100" dirty="0"/>
              <a:t>.</a:t>
            </a:r>
          </a:p>
          <a:p>
            <a:pPr algn="ctr"/>
            <a:endParaRPr lang="en-US" altLang="ko-KR" sz="1100" dirty="0"/>
          </a:p>
          <a:p>
            <a:pPr algn="ctr"/>
            <a:r>
              <a:rPr lang="ko-KR" altLang="en-US" sz="1100" dirty="0"/>
              <a:t>공용어는 벵골어이며</a:t>
            </a:r>
            <a:r>
              <a:rPr lang="en-US" altLang="ko-KR" sz="1100" dirty="0"/>
              <a:t>,</a:t>
            </a:r>
          </a:p>
          <a:p>
            <a:pPr algn="ctr"/>
            <a:r>
              <a:rPr lang="en-US" altLang="ko-KR" sz="1100" dirty="0"/>
              <a:t> </a:t>
            </a:r>
            <a:r>
              <a:rPr lang="ko-KR" altLang="en-US" sz="1100" dirty="0"/>
              <a:t>이슬람</a:t>
            </a:r>
            <a:r>
              <a:rPr lang="en-US" altLang="ko-KR" sz="1100" dirty="0"/>
              <a:t>(</a:t>
            </a:r>
            <a:r>
              <a:rPr lang="ko-KR" altLang="en-US" sz="1100" dirty="0"/>
              <a:t>약 </a:t>
            </a:r>
            <a:r>
              <a:rPr lang="en-US" altLang="ko-KR" sz="1100" dirty="0"/>
              <a:t>90%)</a:t>
            </a:r>
            <a:r>
              <a:rPr lang="ko-KR" altLang="en-US" sz="1100" dirty="0"/>
              <a:t>을 중심으로 </a:t>
            </a:r>
            <a:endParaRPr lang="en-US" altLang="ko-KR" sz="1100" dirty="0"/>
          </a:p>
          <a:p>
            <a:pPr algn="ctr"/>
            <a:r>
              <a:rPr lang="ko-KR" altLang="en-US" sz="1100" dirty="0"/>
              <a:t>힌두교</a:t>
            </a:r>
            <a:r>
              <a:rPr lang="en-US" altLang="ko-KR" sz="1100" dirty="0"/>
              <a:t>, </a:t>
            </a:r>
            <a:r>
              <a:rPr lang="ko-KR" altLang="en-US" sz="1100" dirty="0"/>
              <a:t>불교</a:t>
            </a:r>
            <a:r>
              <a:rPr lang="en-US" altLang="ko-KR" sz="1100" dirty="0"/>
              <a:t>, </a:t>
            </a:r>
            <a:r>
              <a:rPr lang="ko-KR" altLang="en-US" sz="1100" dirty="0"/>
              <a:t>기독교 등이</a:t>
            </a:r>
            <a:endParaRPr lang="en-US" altLang="ko-KR" sz="1100" dirty="0"/>
          </a:p>
          <a:p>
            <a:pPr algn="ctr"/>
            <a:r>
              <a:rPr lang="ko-KR" altLang="en-US" sz="1100" dirty="0"/>
              <a:t> 공존하는 다종교 사회입니다</a:t>
            </a:r>
            <a:r>
              <a:rPr lang="en-US" altLang="ko-KR" sz="1100" dirty="0"/>
              <a:t>.</a:t>
            </a:r>
          </a:p>
          <a:p>
            <a:pPr algn="ctr"/>
            <a:endParaRPr lang="en-US" altLang="ko-KR" sz="1100" dirty="0"/>
          </a:p>
          <a:p>
            <a:pPr algn="ctr"/>
            <a:r>
              <a:rPr lang="en-US" altLang="ko-KR" sz="1100" dirty="0"/>
              <a:t>1971</a:t>
            </a:r>
            <a:r>
              <a:rPr lang="ko-KR" altLang="en-US" sz="1100" dirty="0"/>
              <a:t>년 파키스탄으로부터 독립해 </a:t>
            </a:r>
            <a:endParaRPr lang="en-US" altLang="ko-KR" sz="1100" dirty="0"/>
          </a:p>
          <a:p>
            <a:pPr algn="ctr"/>
            <a:r>
              <a:rPr lang="ko-KR" altLang="en-US" sz="1100" dirty="0"/>
              <a:t>현재는 의원내각제 공화국 체제를 유지하고 있습니다</a:t>
            </a:r>
            <a:r>
              <a:rPr lang="en-US" altLang="ko-KR" sz="1100" dirty="0"/>
              <a:t>.</a:t>
            </a:r>
          </a:p>
          <a:p>
            <a:pPr algn="ctr"/>
            <a:endParaRPr lang="en-US" altLang="ko-KR" sz="1100" dirty="0"/>
          </a:p>
          <a:p>
            <a:pPr algn="ctr"/>
            <a:r>
              <a:rPr lang="ko-KR" altLang="en-US" sz="1100" dirty="0"/>
              <a:t>경제는 과거 농업 중심에서</a:t>
            </a:r>
            <a:endParaRPr lang="en-US" altLang="ko-KR" sz="1100" dirty="0"/>
          </a:p>
          <a:p>
            <a:pPr algn="ctr"/>
            <a:r>
              <a:rPr lang="ko-KR" altLang="en-US" sz="1100" dirty="0"/>
              <a:t> 현재 의류</a:t>
            </a:r>
            <a:r>
              <a:rPr lang="en-US" altLang="ko-KR" sz="1100" dirty="0"/>
              <a:t>·</a:t>
            </a:r>
            <a:r>
              <a:rPr lang="ko-KR" altLang="en-US" sz="1100" dirty="0"/>
              <a:t>섬유 산업 중심으로 변화했으며</a:t>
            </a:r>
            <a:r>
              <a:rPr lang="en-US" altLang="ko-KR" sz="1100" dirty="0"/>
              <a:t>,</a:t>
            </a:r>
            <a:br>
              <a:rPr lang="en-US" altLang="ko-KR" sz="1100" dirty="0"/>
            </a:br>
            <a:r>
              <a:rPr lang="ko-KR" altLang="en-US" sz="1100" dirty="0"/>
              <a:t>수출 산업을 기반으로 빠르게 성장 중인 </a:t>
            </a:r>
            <a:endParaRPr lang="en-US" altLang="ko-KR" sz="1100" dirty="0"/>
          </a:p>
          <a:p>
            <a:pPr algn="ctr"/>
            <a:r>
              <a:rPr lang="ko-KR" altLang="en-US" sz="1100" dirty="0"/>
              <a:t>신흥 개발도상국으로 주목받고 있습니다</a:t>
            </a:r>
            <a:r>
              <a:rPr lang="en-US" altLang="ko-KR" sz="1100" dirty="0"/>
              <a:t>.</a:t>
            </a:r>
          </a:p>
        </p:txBody>
      </p:sp>
      <p:pic>
        <p:nvPicPr>
          <p:cNvPr id="1029" name="Picture 5" descr="방글라데시 국기">
            <a:extLst>
              <a:ext uri="{FF2B5EF4-FFF2-40B4-BE49-F238E27FC236}">
                <a16:creationId xmlns:a16="http://schemas.microsoft.com/office/drawing/2014/main" id="{E808250C-6FFE-6CA4-45BB-9A186C5AAA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449" y="4634646"/>
            <a:ext cx="1671404" cy="1009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817D340A-4BFE-F13A-20D7-57AD7518797E}"/>
              </a:ext>
            </a:extLst>
          </p:cNvPr>
          <p:cNvSpPr/>
          <p:nvPr/>
        </p:nvSpPr>
        <p:spPr>
          <a:xfrm>
            <a:off x="788481" y="7005441"/>
            <a:ext cx="5507729" cy="213855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2C4A81-A12E-280A-1DB0-A331BBB09418}"/>
              </a:ext>
            </a:extLst>
          </p:cNvPr>
          <p:cNvSpPr txBox="1"/>
          <p:nvPr/>
        </p:nvSpPr>
        <p:spPr>
          <a:xfrm>
            <a:off x="7512717" y="7005441"/>
            <a:ext cx="289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>
                <a:solidFill>
                  <a:srgbClr val="FF0000"/>
                </a:solidFill>
              </a:rPr>
              <a:t>포스트잇</a:t>
            </a:r>
            <a:r>
              <a:rPr lang="ko-KR" altLang="en-US" dirty="0">
                <a:solidFill>
                  <a:srgbClr val="FF0000"/>
                </a:solidFill>
              </a:rPr>
              <a:t> 부분은 </a:t>
            </a:r>
            <a:r>
              <a:rPr lang="en-US" altLang="ko-KR" dirty="0">
                <a:solidFill>
                  <a:srgbClr val="FF0000"/>
                </a:solidFill>
              </a:rPr>
              <a:t>25pt/ </a:t>
            </a:r>
            <a:r>
              <a:rPr lang="ko-KR" altLang="en-US" dirty="0">
                <a:solidFill>
                  <a:srgbClr val="FF0000"/>
                </a:solidFill>
              </a:rPr>
              <a:t>행간</a:t>
            </a:r>
            <a:r>
              <a:rPr lang="en-US" altLang="ko-KR" dirty="0">
                <a:solidFill>
                  <a:srgbClr val="FF0000"/>
                </a:solidFill>
              </a:rPr>
              <a:t>: 35pt</a:t>
            </a: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7F5CF71F-E1E3-3622-A048-18BF47DACE86}"/>
              </a:ext>
            </a:extLst>
          </p:cNvPr>
          <p:cNvCxnSpPr>
            <a:cxnSpLocks/>
          </p:cNvCxnSpPr>
          <p:nvPr/>
        </p:nvCxnSpPr>
        <p:spPr>
          <a:xfrm>
            <a:off x="6296210" y="7183951"/>
            <a:ext cx="103134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55181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BE151-6472-9008-CF2B-958A5DC16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C52D14F-A533-37E4-4CA5-693C11DD1279}"/>
              </a:ext>
            </a:extLst>
          </p:cNvPr>
          <p:cNvSpPr/>
          <p:nvPr/>
        </p:nvSpPr>
        <p:spPr>
          <a:xfrm>
            <a:off x="68143" y="124287"/>
            <a:ext cx="6724236" cy="8918113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E3BBEB-8E6F-1FA7-5E2D-A5FC4372ABFE}"/>
              </a:ext>
            </a:extLst>
          </p:cNvPr>
          <p:cNvSpPr txBox="1"/>
          <p:nvPr/>
        </p:nvSpPr>
        <p:spPr>
          <a:xfrm>
            <a:off x="1371373" y="292965"/>
            <a:ext cx="39836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정치</a:t>
            </a:r>
            <a:r>
              <a:rPr lang="en-US" altLang="ko-KR" sz="1400" dirty="0"/>
              <a:t>·</a:t>
            </a:r>
            <a:r>
              <a:rPr lang="ko-KR" altLang="en-US" sz="1400" dirty="0"/>
              <a:t>경제</a:t>
            </a:r>
            <a:r>
              <a:rPr lang="en-US" altLang="ko-KR" sz="1400" dirty="0"/>
              <a:t>·</a:t>
            </a:r>
            <a:r>
              <a:rPr lang="ko-KR" altLang="en-US" sz="1400" dirty="0"/>
              <a:t>문화의 중심지</a:t>
            </a:r>
            <a:endParaRPr lang="en-US" altLang="ko-KR" sz="1400" dirty="0"/>
          </a:p>
          <a:p>
            <a:pPr algn="ctr"/>
            <a:r>
              <a:rPr lang="ko-KR" altLang="en-US" sz="1400" b="1" dirty="0"/>
              <a:t>다카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43D701-AD42-3278-5BA0-523EAB51C66B}"/>
              </a:ext>
            </a:extLst>
          </p:cNvPr>
          <p:cNvSpPr txBox="1"/>
          <p:nvPr/>
        </p:nvSpPr>
        <p:spPr>
          <a:xfrm>
            <a:off x="227165" y="816185"/>
            <a:ext cx="62720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무굴 시대부터 이어진 전통과 현대적 삶이 조화롭게 어우러진 수도 다카는 모스크와 골목</a:t>
            </a:r>
            <a:r>
              <a:rPr lang="en-US" altLang="ko-KR" sz="1100" dirty="0"/>
              <a:t>, </a:t>
            </a:r>
            <a:r>
              <a:rPr lang="ko-KR" altLang="en-US" sz="1100" dirty="0"/>
              <a:t>현대적 건물이 공존하며</a:t>
            </a:r>
            <a:r>
              <a:rPr lang="en-US" altLang="ko-KR" sz="1100" dirty="0"/>
              <a:t> </a:t>
            </a:r>
            <a:r>
              <a:rPr lang="ko-KR" altLang="en-US" sz="1100" dirty="0"/>
              <a:t>세계 인구밀도 </a:t>
            </a:r>
            <a:r>
              <a:rPr lang="en-US" altLang="ko-KR" sz="1100" dirty="0"/>
              <a:t>1</a:t>
            </a:r>
            <a:r>
              <a:rPr lang="ko-KR" altLang="en-US" sz="1100" dirty="0"/>
              <a:t>위를 자랑하는 도시로 방글라데시의 현재를 보여줍니다</a:t>
            </a:r>
            <a:r>
              <a:rPr lang="en-US" altLang="ko-KR" sz="1100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8A7E21-7410-9CA9-988E-7ACCB041608A}"/>
              </a:ext>
            </a:extLst>
          </p:cNvPr>
          <p:cNvSpPr txBox="1"/>
          <p:nvPr/>
        </p:nvSpPr>
        <p:spPr>
          <a:xfrm>
            <a:off x="2633086" y="4362843"/>
            <a:ext cx="41959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루이스 칸은 미국 출신의 세계적인 현대 건축가로</a:t>
            </a:r>
            <a:r>
              <a:rPr lang="en-US" altLang="ko-KR" sz="1100" dirty="0"/>
              <a:t> </a:t>
            </a:r>
          </a:p>
          <a:p>
            <a:r>
              <a:rPr lang="en-US" altLang="ko-KR" sz="1100" dirty="0"/>
              <a:t>20</a:t>
            </a:r>
            <a:r>
              <a:rPr lang="ko-KR" altLang="en-US" sz="1100" dirty="0"/>
              <a:t>세기 건축사에서 가장 영향력 있는 인물 중 한 명입니다</a:t>
            </a:r>
            <a:r>
              <a:rPr lang="en-US" altLang="ko-KR" sz="1100" dirty="0"/>
              <a:t>. </a:t>
            </a:r>
          </a:p>
          <a:p>
            <a:r>
              <a:rPr lang="ko-KR" altLang="en-US" sz="1100" dirty="0"/>
              <a:t>그는 단순한 기능주의를 넘어</a:t>
            </a:r>
            <a:endParaRPr lang="en-US" altLang="ko-KR" sz="1100" dirty="0"/>
          </a:p>
          <a:p>
            <a:r>
              <a:rPr lang="ko-KR" altLang="en-US" sz="1100" b="1" dirty="0"/>
              <a:t>빛과 공간의 본질</a:t>
            </a:r>
            <a:r>
              <a:rPr lang="ko-KR" altLang="en-US" sz="1100" dirty="0"/>
              <a:t>을 탐구한 건축가로 평가받습니다</a:t>
            </a:r>
            <a:r>
              <a:rPr lang="en-US" altLang="ko-KR" sz="1100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B1F7B6-8F74-A5A5-33BF-62CD853B0DC9}"/>
              </a:ext>
            </a:extLst>
          </p:cNvPr>
          <p:cNvSpPr txBox="1"/>
          <p:nvPr/>
        </p:nvSpPr>
        <p:spPr>
          <a:xfrm>
            <a:off x="247062" y="1781085"/>
            <a:ext cx="3852672" cy="1985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현대 건축의 아이콘이자</a:t>
            </a:r>
            <a:r>
              <a:rPr lang="en-US" altLang="ko-KR" sz="1200" dirty="0"/>
              <a:t>, </a:t>
            </a:r>
            <a:r>
              <a:rPr lang="ko-KR" altLang="en-US" sz="1200" dirty="0"/>
              <a:t>루이스 칸의 걸작</a:t>
            </a:r>
            <a:r>
              <a:rPr lang="en-US" altLang="ko-KR" sz="1200" dirty="0"/>
              <a:t>! </a:t>
            </a:r>
          </a:p>
          <a:p>
            <a:r>
              <a:rPr lang="ko-KR" altLang="en-US" sz="1200" b="1" dirty="0"/>
              <a:t>다카 국회의사당</a:t>
            </a:r>
            <a:endParaRPr lang="en-US" altLang="ko-KR" sz="1200" b="1" dirty="0"/>
          </a:p>
          <a:p>
            <a:endParaRPr lang="en-US" altLang="ko-KR" sz="1100" dirty="0"/>
          </a:p>
          <a:p>
            <a:r>
              <a:rPr lang="ko-KR" altLang="en-US" sz="1100" dirty="0"/>
              <a:t>기하학적 형태와 묵직한 콘크리트 구조</a:t>
            </a:r>
            <a:r>
              <a:rPr lang="en-US" altLang="ko-KR" sz="1100" dirty="0"/>
              <a:t>,</a:t>
            </a:r>
          </a:p>
          <a:p>
            <a:r>
              <a:rPr lang="ko-KR" altLang="en-US" sz="1100" dirty="0"/>
              <a:t>자연광을 극적으로 끌어들이는 설계가 특징입니다</a:t>
            </a:r>
            <a:r>
              <a:rPr lang="en-US" altLang="ko-KR" sz="1100" dirty="0"/>
              <a:t>.</a:t>
            </a:r>
          </a:p>
          <a:p>
            <a:endParaRPr lang="en-US" altLang="ko-KR" sz="1100" dirty="0"/>
          </a:p>
          <a:p>
            <a:r>
              <a:rPr lang="ko-KR" altLang="en-US" sz="1100" dirty="0"/>
              <a:t>단순한 정치 건물이 아닌</a:t>
            </a:r>
            <a:r>
              <a:rPr lang="en-US" altLang="ko-KR" sz="1100" dirty="0"/>
              <a:t>, </a:t>
            </a:r>
          </a:p>
          <a:p>
            <a:r>
              <a:rPr lang="ko-KR" altLang="en-US" sz="1100" dirty="0"/>
              <a:t>독립 이후 방글라데시가 추구한 </a:t>
            </a:r>
            <a:endParaRPr lang="en-US" altLang="ko-KR" sz="1100" dirty="0"/>
          </a:p>
          <a:p>
            <a:r>
              <a:rPr lang="ko-KR" altLang="en-US" sz="1100" dirty="0"/>
              <a:t>민주주의와 현대성의 상징으로</a:t>
            </a:r>
            <a:r>
              <a:rPr lang="en-US" altLang="ko-KR" sz="1100" dirty="0"/>
              <a:t> </a:t>
            </a:r>
          </a:p>
          <a:p>
            <a:r>
              <a:rPr lang="ko-KR" altLang="en-US" sz="1100" dirty="0"/>
              <a:t>외부 호수와 어우러진 풍경은</a:t>
            </a:r>
            <a:endParaRPr lang="en-US" altLang="ko-KR" sz="1100" dirty="0"/>
          </a:p>
          <a:p>
            <a:r>
              <a:rPr lang="ko-KR" altLang="en-US" sz="1100" dirty="0"/>
              <a:t>평화로운 분위기를 자아냅니다</a:t>
            </a:r>
            <a:r>
              <a:rPr lang="en-US" altLang="ko-KR" sz="1100" dirty="0"/>
              <a:t>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8A158F-890F-65DB-21E9-9798DABAA4F4}"/>
              </a:ext>
            </a:extLst>
          </p:cNvPr>
          <p:cNvSpPr txBox="1"/>
          <p:nvPr/>
        </p:nvSpPr>
        <p:spPr>
          <a:xfrm>
            <a:off x="3855648" y="3890853"/>
            <a:ext cx="285536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dirty="0"/>
              <a:t>※</a:t>
            </a:r>
            <a:r>
              <a:rPr lang="ko-KR" altLang="en-US" sz="900" dirty="0"/>
              <a:t>현지 사정에 따라 내부 관람이 제한될 수 있습니다</a:t>
            </a:r>
            <a:r>
              <a:rPr lang="en-US" altLang="ko-KR" sz="900" dirty="0"/>
              <a:t>.</a:t>
            </a:r>
            <a:endParaRPr lang="ko-KR" altLang="en-US" sz="900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6AFABB6-48EC-3A2A-8EA3-6460947C1BC3}"/>
              </a:ext>
            </a:extLst>
          </p:cNvPr>
          <p:cNvSpPr/>
          <p:nvPr/>
        </p:nvSpPr>
        <p:spPr>
          <a:xfrm>
            <a:off x="4199404" y="1832647"/>
            <a:ext cx="2340864" cy="9902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이미지</a:t>
            </a:r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FD979E8-4AA1-2952-4E3A-D75F69FA4CE0}"/>
              </a:ext>
            </a:extLst>
          </p:cNvPr>
          <p:cNvSpPr/>
          <p:nvPr/>
        </p:nvSpPr>
        <p:spPr>
          <a:xfrm>
            <a:off x="4192568" y="2893609"/>
            <a:ext cx="2340864" cy="9902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이미지</a:t>
            </a:r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A5AD2403-2BAC-3F56-52E6-53F5C615F0F4}"/>
              </a:ext>
            </a:extLst>
          </p:cNvPr>
          <p:cNvSpPr/>
          <p:nvPr/>
        </p:nvSpPr>
        <p:spPr>
          <a:xfrm>
            <a:off x="161544" y="4286648"/>
            <a:ext cx="2265192" cy="9218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이미지</a:t>
            </a:r>
            <a:r>
              <a:rPr lang="en-US" altLang="ko-KR" dirty="0"/>
              <a:t>8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B005CC-6109-EC09-8B55-EA861078DE88}"/>
              </a:ext>
            </a:extLst>
          </p:cNvPr>
          <p:cNvSpPr txBox="1"/>
          <p:nvPr/>
        </p:nvSpPr>
        <p:spPr>
          <a:xfrm>
            <a:off x="161544" y="4916309"/>
            <a:ext cx="234086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>
                <a:solidFill>
                  <a:schemeClr val="bg1"/>
                </a:solidFill>
              </a:rPr>
              <a:t>루이스 칸 </a:t>
            </a:r>
            <a:r>
              <a:rPr lang="en-US" altLang="ko-KR" sz="1050" dirty="0">
                <a:solidFill>
                  <a:schemeClr val="bg1"/>
                </a:solidFill>
              </a:rPr>
              <a:t> </a:t>
            </a:r>
            <a:r>
              <a:rPr lang="ko-KR" altLang="en-US" sz="1050" dirty="0" err="1">
                <a:solidFill>
                  <a:schemeClr val="bg1"/>
                </a:solidFill>
              </a:rPr>
              <a:t>ㅡ</a:t>
            </a:r>
            <a:r>
              <a:rPr lang="ko-KR" altLang="en-US" sz="1050" dirty="0">
                <a:solidFill>
                  <a:schemeClr val="bg1"/>
                </a:solidFill>
              </a:rPr>
              <a:t> </a:t>
            </a:r>
            <a:r>
              <a:rPr lang="en-US" altLang="ko-KR" sz="1050" dirty="0">
                <a:solidFill>
                  <a:schemeClr val="bg1"/>
                </a:solidFill>
              </a:rPr>
              <a:t> Louis Kahn(1901-1974)</a:t>
            </a:r>
            <a:endParaRPr lang="ko-KR" altLang="en-US" sz="1050" dirty="0">
              <a:solidFill>
                <a:schemeClr val="bg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BDC7C26-0B8D-96AB-DF66-C19BBACD6241}"/>
              </a:ext>
            </a:extLst>
          </p:cNvPr>
          <p:cNvSpPr/>
          <p:nvPr/>
        </p:nvSpPr>
        <p:spPr>
          <a:xfrm>
            <a:off x="227165" y="5660713"/>
            <a:ext cx="2567133" cy="10571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이미지</a:t>
            </a:r>
            <a:r>
              <a:rPr lang="en-US" altLang="ko-KR" dirty="0"/>
              <a:t>9</a:t>
            </a:r>
            <a:endParaRPr lang="ko-KR" altLang="en-US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66D534A-37E7-1F97-2BDF-58389EE523AE}"/>
              </a:ext>
            </a:extLst>
          </p:cNvPr>
          <p:cNvSpPr/>
          <p:nvPr/>
        </p:nvSpPr>
        <p:spPr>
          <a:xfrm>
            <a:off x="3591082" y="5660713"/>
            <a:ext cx="2567133" cy="10571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이미지</a:t>
            </a:r>
            <a:r>
              <a:rPr lang="en-US" altLang="ko-KR" dirty="0"/>
              <a:t>10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4EE76D2-BE64-967E-02D8-44EFFAF957D7}"/>
              </a:ext>
            </a:extLst>
          </p:cNvPr>
          <p:cNvSpPr txBox="1"/>
          <p:nvPr/>
        </p:nvSpPr>
        <p:spPr>
          <a:xfrm>
            <a:off x="212816" y="6765640"/>
            <a:ext cx="320183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200" b="1" dirty="0"/>
              <a:t>아산 만질</a:t>
            </a:r>
            <a:r>
              <a:rPr lang="en-US" altLang="ko-KR" sz="1200" b="1" dirty="0"/>
              <a:t>(</a:t>
            </a:r>
            <a:r>
              <a:rPr lang="ko-KR" altLang="ko-KR" sz="1200" b="1" dirty="0"/>
              <a:t>핑크 </a:t>
            </a:r>
            <a:r>
              <a:rPr lang="ko-KR" altLang="en-US" sz="1200" b="1" dirty="0"/>
              <a:t>궁전</a:t>
            </a:r>
            <a:r>
              <a:rPr lang="en-US" altLang="ko-KR" sz="1200" b="1" dirty="0"/>
              <a:t>)</a:t>
            </a:r>
            <a:endParaRPr lang="ko-KR" altLang="ko-KR" sz="1200" dirty="0"/>
          </a:p>
          <a:p>
            <a:r>
              <a:rPr lang="en-US" altLang="ko-KR" sz="1100" dirty="0"/>
              <a:t>19</a:t>
            </a:r>
            <a:r>
              <a:rPr lang="ko-KR" altLang="en-US" sz="1100" dirty="0"/>
              <a:t>세기 </a:t>
            </a:r>
            <a:r>
              <a:rPr lang="ko-KR" altLang="en-US" sz="1100" dirty="0" err="1"/>
              <a:t>나와브</a:t>
            </a:r>
            <a:r>
              <a:rPr lang="ko-KR" altLang="en-US" sz="1100" dirty="0"/>
              <a:t> 가문의 저택으로</a:t>
            </a:r>
            <a:endParaRPr lang="en-US" altLang="ko-KR" sz="1100" dirty="0"/>
          </a:p>
          <a:p>
            <a:r>
              <a:rPr lang="ko-KR" altLang="en-US" sz="1100" dirty="0" err="1"/>
              <a:t>올드</a:t>
            </a:r>
            <a:r>
              <a:rPr lang="ko-KR" altLang="en-US" sz="1100" dirty="0"/>
              <a:t> 다카를 대표하는 역사 건축물입니다</a:t>
            </a:r>
            <a:r>
              <a:rPr lang="en-US" altLang="ko-KR" sz="1100" dirty="0"/>
              <a:t>.</a:t>
            </a:r>
          </a:p>
          <a:p>
            <a:br>
              <a:rPr lang="en-US" altLang="ko-KR" sz="1100" dirty="0"/>
            </a:br>
            <a:r>
              <a:rPr lang="ko-KR" altLang="en-US" sz="1100" dirty="0"/>
              <a:t>분홍빛 외관과 </a:t>
            </a:r>
            <a:r>
              <a:rPr lang="ko-KR" altLang="en-US" sz="1100" dirty="0" err="1"/>
              <a:t>콜로니얼</a:t>
            </a:r>
            <a:r>
              <a:rPr lang="ko-KR" altLang="en-US" sz="1100" dirty="0"/>
              <a:t> 양식이 특징이며</a:t>
            </a:r>
            <a:r>
              <a:rPr lang="en-US" altLang="ko-KR" sz="1100" dirty="0"/>
              <a:t>, </a:t>
            </a:r>
          </a:p>
          <a:p>
            <a:r>
              <a:rPr lang="ko-KR" altLang="en-US" sz="1100" dirty="0"/>
              <a:t>현재는 박물관으로 운영됩니다</a:t>
            </a:r>
            <a:r>
              <a:rPr lang="en-US" altLang="ko-KR" sz="1100" dirty="0"/>
              <a:t>.</a:t>
            </a:r>
          </a:p>
          <a:p>
            <a:br>
              <a:rPr lang="en-US" altLang="ko-KR" sz="1100" dirty="0"/>
            </a:br>
            <a:r>
              <a:rPr lang="ko-KR" altLang="en-US" sz="1100" dirty="0"/>
              <a:t>영국 식민지 시기 상류층 문화와 방글라데시 근대사의 중요한 현장을 보여줍니다</a:t>
            </a:r>
            <a:r>
              <a:rPr lang="en-US" altLang="ko-KR" sz="1100" dirty="0"/>
              <a:t>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BD411EC-C443-0BD0-6D4D-D72A153309BE}"/>
              </a:ext>
            </a:extLst>
          </p:cNvPr>
          <p:cNvSpPr txBox="1"/>
          <p:nvPr/>
        </p:nvSpPr>
        <p:spPr>
          <a:xfrm>
            <a:off x="3588022" y="6734089"/>
            <a:ext cx="3201835" cy="1800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err="1"/>
              <a:t>파남시티</a:t>
            </a:r>
            <a:endParaRPr lang="en-US" altLang="ko-KR" sz="1200" b="1" dirty="0"/>
          </a:p>
          <a:p>
            <a:endParaRPr lang="en-US" altLang="ko-KR" sz="1100" dirty="0"/>
          </a:p>
          <a:p>
            <a:r>
              <a:rPr lang="en-US" altLang="ko-KR" sz="1100" dirty="0"/>
              <a:t>19</a:t>
            </a:r>
            <a:r>
              <a:rPr lang="ko-KR" altLang="en-US" sz="1100" dirty="0"/>
              <a:t>세기 상인들이 거주하던</a:t>
            </a:r>
            <a:r>
              <a:rPr lang="en-US" altLang="ko-KR" sz="1100" dirty="0"/>
              <a:t> </a:t>
            </a:r>
            <a:r>
              <a:rPr lang="ko-KR" altLang="en-US" sz="1100" dirty="0" err="1"/>
              <a:t>소나르가온의</a:t>
            </a:r>
            <a:r>
              <a:rPr lang="ko-KR" altLang="en-US" sz="1100" dirty="0"/>
              <a:t> 역사 거리로</a:t>
            </a:r>
            <a:r>
              <a:rPr lang="en-US" altLang="ko-KR" sz="1100" dirty="0"/>
              <a:t> </a:t>
            </a:r>
            <a:r>
              <a:rPr lang="ko-KR" altLang="en-US" sz="1100" dirty="0"/>
              <a:t>과거 무역 중심지였습니다</a:t>
            </a:r>
            <a:r>
              <a:rPr lang="en-US" altLang="ko-KR" sz="1100" dirty="0"/>
              <a:t>.</a:t>
            </a:r>
          </a:p>
          <a:p>
            <a:br>
              <a:rPr lang="en-US" altLang="ko-KR" sz="1100" dirty="0"/>
            </a:br>
            <a:r>
              <a:rPr lang="ko-KR" altLang="en-US" sz="1100" dirty="0"/>
              <a:t>유럽식과 </a:t>
            </a:r>
            <a:r>
              <a:rPr lang="ko-KR" altLang="en-US" sz="1100" dirty="0" err="1"/>
              <a:t>벵골식</a:t>
            </a:r>
            <a:r>
              <a:rPr lang="ko-KR" altLang="en-US" sz="1100" dirty="0"/>
              <a:t> 건축이 혼합된 독특한 거리로 ‘유령 도시’ 같은 분위기를 자아냅니다</a:t>
            </a:r>
            <a:r>
              <a:rPr lang="en-US" altLang="ko-KR" sz="1100" dirty="0"/>
              <a:t>.</a:t>
            </a:r>
          </a:p>
          <a:p>
            <a:br>
              <a:rPr lang="en-US" altLang="ko-KR" sz="1100" dirty="0"/>
            </a:br>
            <a:r>
              <a:rPr lang="ko-KR" altLang="en-US" sz="1100" dirty="0"/>
              <a:t>벵골 상업 부흥기의 흔적을 간직한</a:t>
            </a:r>
            <a:r>
              <a:rPr lang="en-US" altLang="ko-KR" sz="1100" dirty="0"/>
              <a:t> </a:t>
            </a:r>
            <a:r>
              <a:rPr lang="ko-KR" altLang="en-US" sz="1100" dirty="0"/>
              <a:t>대표적인 역사</a:t>
            </a:r>
            <a:r>
              <a:rPr lang="en-US" altLang="ko-KR" sz="1100" dirty="0"/>
              <a:t>·</a:t>
            </a:r>
            <a:r>
              <a:rPr lang="ko-KR" altLang="en-US" sz="1100" dirty="0"/>
              <a:t>사진 명소입니다</a:t>
            </a:r>
            <a:r>
              <a:rPr lang="en-US" altLang="ko-KR" sz="1100" dirty="0"/>
              <a:t>.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01F725D-6EA8-FAF5-786F-BF5EA90FAC56}"/>
              </a:ext>
            </a:extLst>
          </p:cNvPr>
          <p:cNvSpPr/>
          <p:nvPr/>
        </p:nvSpPr>
        <p:spPr>
          <a:xfrm>
            <a:off x="5620015" y="3741243"/>
            <a:ext cx="913417" cy="14258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내부 관람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431854-BAAA-FAFC-DF9D-4E26A948A6CC}"/>
              </a:ext>
            </a:extLst>
          </p:cNvPr>
          <p:cNvSpPr txBox="1"/>
          <p:nvPr/>
        </p:nvSpPr>
        <p:spPr>
          <a:xfrm>
            <a:off x="6858000" y="1832647"/>
            <a:ext cx="2895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!</a:t>
            </a:r>
            <a:r>
              <a:rPr lang="ko-KR" altLang="en-US" dirty="0">
                <a:solidFill>
                  <a:srgbClr val="FF0000"/>
                </a:solidFill>
              </a:rPr>
              <a:t>이미지</a:t>
            </a:r>
            <a:r>
              <a:rPr lang="en-US" altLang="ko-KR" dirty="0">
                <a:solidFill>
                  <a:srgbClr val="FF0000"/>
                </a:solidFill>
              </a:rPr>
              <a:t> 6,7,8 </a:t>
            </a:r>
            <a:r>
              <a:rPr lang="ko-KR" altLang="en-US" dirty="0">
                <a:solidFill>
                  <a:srgbClr val="FF0000"/>
                </a:solidFill>
              </a:rPr>
              <a:t>출처 표기 부탁드립니다</a:t>
            </a:r>
            <a:r>
              <a:rPr lang="en-US" altLang="ko-KR" dirty="0">
                <a:solidFill>
                  <a:srgbClr val="FF0000"/>
                </a:solidFill>
              </a:rPr>
              <a:t>.</a:t>
            </a:r>
          </a:p>
          <a:p>
            <a:endParaRPr lang="en-US" altLang="ko-KR" dirty="0">
              <a:solidFill>
                <a:srgbClr val="FF0000"/>
              </a:solidFill>
            </a:endParaRPr>
          </a:p>
          <a:p>
            <a:r>
              <a:rPr lang="ko-KR" altLang="en-US" dirty="0">
                <a:solidFill>
                  <a:srgbClr val="FF0000"/>
                </a:solidFill>
              </a:rPr>
              <a:t>출처</a:t>
            </a:r>
            <a:r>
              <a:rPr lang="en-US" altLang="ko-KR" dirty="0">
                <a:solidFill>
                  <a:srgbClr val="FF0000"/>
                </a:solidFill>
              </a:rPr>
              <a:t>: </a:t>
            </a:r>
            <a:r>
              <a:rPr lang="ko-KR" altLang="en-US" dirty="0" err="1">
                <a:solidFill>
                  <a:srgbClr val="FF0000"/>
                </a:solidFill>
              </a:rPr>
              <a:t>위키미디아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ko-KR" altLang="en-US" dirty="0" err="1">
                <a:solidFill>
                  <a:srgbClr val="FF0000"/>
                </a:solidFill>
              </a:rPr>
              <a:t>커먼스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A070DAC-68FF-CC4B-8DC5-95EABBFC4935}"/>
              </a:ext>
            </a:extLst>
          </p:cNvPr>
          <p:cNvSpPr/>
          <p:nvPr/>
        </p:nvSpPr>
        <p:spPr>
          <a:xfrm>
            <a:off x="4099734" y="1705732"/>
            <a:ext cx="2569968" cy="21943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695D34F-F366-AB7B-F53D-B67AF349E300}"/>
              </a:ext>
            </a:extLst>
          </p:cNvPr>
          <p:cNvSpPr/>
          <p:nvPr/>
        </p:nvSpPr>
        <p:spPr>
          <a:xfrm>
            <a:off x="84193" y="4121685"/>
            <a:ext cx="2418215" cy="12123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5ED8A40B-71C7-11C5-F9EA-CE2172FEE281}"/>
              </a:ext>
            </a:extLst>
          </p:cNvPr>
          <p:cNvCxnSpPr/>
          <p:nvPr/>
        </p:nvCxnSpPr>
        <p:spPr>
          <a:xfrm>
            <a:off x="6669702" y="2152650"/>
            <a:ext cx="18829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1574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7CB20-A7E5-4034-CE56-A2B180BC6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5AA0E94-F230-7E7E-F51E-AA7E65C219B8}"/>
              </a:ext>
            </a:extLst>
          </p:cNvPr>
          <p:cNvSpPr/>
          <p:nvPr/>
        </p:nvSpPr>
        <p:spPr>
          <a:xfrm>
            <a:off x="68143" y="124287"/>
            <a:ext cx="6724236" cy="4318759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0646BA-24F4-0548-E4A1-42CBB015FB30}"/>
              </a:ext>
            </a:extLst>
          </p:cNvPr>
          <p:cNvSpPr txBox="1"/>
          <p:nvPr/>
        </p:nvSpPr>
        <p:spPr>
          <a:xfrm>
            <a:off x="261367" y="267157"/>
            <a:ext cx="47192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ko-KR" altLang="en-US" sz="1400" dirty="0"/>
              <a:t>“과거 동남아시아 불교의 중심지였던 흔적”</a:t>
            </a:r>
            <a:endParaRPr lang="en-US" altLang="ko-KR" sz="1400" b="1" dirty="0"/>
          </a:p>
          <a:p>
            <a:pPr latinLnBrk="1"/>
            <a:r>
              <a:rPr lang="ko-KR" altLang="ko-KR" sz="1400" b="1" dirty="0" err="1"/>
              <a:t>소마푸라</a:t>
            </a:r>
            <a:r>
              <a:rPr lang="ko-KR" altLang="ko-KR" sz="1400" b="1" dirty="0"/>
              <a:t> 마하비하라</a:t>
            </a:r>
            <a:endParaRPr lang="en-US" altLang="ko-KR" sz="1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2699A7-BB62-7D48-62BA-3C68EB1BF413}"/>
              </a:ext>
            </a:extLst>
          </p:cNvPr>
          <p:cNvSpPr txBox="1"/>
          <p:nvPr/>
        </p:nvSpPr>
        <p:spPr>
          <a:xfrm>
            <a:off x="1286001" y="1655667"/>
            <a:ext cx="4441467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/>
              <a:t>8</a:t>
            </a:r>
            <a:r>
              <a:rPr lang="ko-KR" altLang="en-US" sz="1100" dirty="0"/>
              <a:t>세기 건립된 남아시아 최대 불교 수도원 유적으로</a:t>
            </a:r>
            <a:endParaRPr lang="en-US" altLang="ko-KR" sz="1100" dirty="0"/>
          </a:p>
          <a:p>
            <a:pPr algn="ctr"/>
            <a:r>
              <a:rPr lang="ko-KR" altLang="en-US" sz="1100" dirty="0"/>
              <a:t>중국과 동남아시아에서 승려들이 찾아왔던</a:t>
            </a:r>
            <a:endParaRPr lang="en-US" altLang="ko-KR" sz="1100" dirty="0"/>
          </a:p>
          <a:p>
            <a:pPr algn="ctr"/>
            <a:r>
              <a:rPr lang="ko-KR" altLang="en-US" sz="1100" dirty="0"/>
              <a:t>국제 불교 교육의 중심지였습니다</a:t>
            </a:r>
            <a:r>
              <a:rPr lang="en-US" altLang="ko-KR" sz="1100" dirty="0"/>
              <a:t>.</a:t>
            </a:r>
          </a:p>
          <a:p>
            <a:pPr algn="ctr"/>
            <a:br>
              <a:rPr lang="en-US" altLang="ko-KR" sz="1100" dirty="0"/>
            </a:br>
            <a:r>
              <a:rPr lang="ko-KR" altLang="en-US" sz="1100" dirty="0"/>
              <a:t>붉은 벽돌과 십자형 구조가 특징이며 </a:t>
            </a:r>
            <a:endParaRPr lang="en-US" altLang="ko-KR" sz="1100" dirty="0"/>
          </a:p>
          <a:p>
            <a:pPr algn="ctr"/>
            <a:r>
              <a:rPr lang="ko-KR" altLang="en-US" sz="1100" dirty="0"/>
              <a:t>벵골 불교 문명의 전성기를 상징합니다</a:t>
            </a:r>
            <a:r>
              <a:rPr lang="en-US" altLang="ko-KR" sz="1100" dirty="0"/>
              <a:t>.</a:t>
            </a:r>
          </a:p>
          <a:p>
            <a:pPr algn="ctr"/>
            <a:br>
              <a:rPr lang="en-US" altLang="ko-KR" sz="1100" dirty="0"/>
            </a:br>
            <a:r>
              <a:rPr lang="ko-KR" altLang="en-US" sz="1100" dirty="0"/>
              <a:t>광활한 평야 속 고요한 유적으로 </a:t>
            </a:r>
            <a:endParaRPr lang="en-US" altLang="ko-KR" sz="1100" dirty="0"/>
          </a:p>
          <a:p>
            <a:pPr algn="ctr"/>
            <a:r>
              <a:rPr lang="ko-KR" altLang="en-US" sz="1100" dirty="0"/>
              <a:t>‘사라진 문명의 </a:t>
            </a:r>
            <a:r>
              <a:rPr lang="ko-KR" altLang="en-US" sz="1100" dirty="0" err="1"/>
              <a:t>중심지’를</a:t>
            </a:r>
            <a:r>
              <a:rPr lang="ko-KR" altLang="en-US" sz="1100" dirty="0"/>
              <a:t> 느낄 수 있습니다</a:t>
            </a:r>
            <a:r>
              <a:rPr lang="en-US" altLang="ko-KR" sz="1100" dirty="0"/>
              <a:t>.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006B5EEC-9FC9-5A91-2BB4-E3D9AA54B9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424328"/>
              </p:ext>
            </p:extLst>
          </p:nvPr>
        </p:nvGraphicFramePr>
        <p:xfrm>
          <a:off x="1214366" y="7718870"/>
          <a:ext cx="5473700" cy="127273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50900">
                  <a:extLst>
                    <a:ext uri="{9D8B030D-6E8A-4147-A177-3AD203B41FA5}">
                      <a16:colId xmlns:a16="http://schemas.microsoft.com/office/drawing/2014/main" val="22255226"/>
                    </a:ext>
                  </a:extLst>
                </a:gridCol>
                <a:gridCol w="2349500">
                  <a:extLst>
                    <a:ext uri="{9D8B030D-6E8A-4147-A177-3AD203B41FA5}">
                      <a16:colId xmlns:a16="http://schemas.microsoft.com/office/drawing/2014/main" val="2022919891"/>
                    </a:ext>
                  </a:extLst>
                </a:gridCol>
                <a:gridCol w="2273300">
                  <a:extLst>
                    <a:ext uri="{9D8B030D-6E8A-4147-A177-3AD203B41FA5}">
                      <a16:colId xmlns:a16="http://schemas.microsoft.com/office/drawing/2014/main" val="1166958021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ko-KR" sz="1000" kern="0" dirty="0">
                          <a:effectLst/>
                        </a:rPr>
                        <a:t>구분</a:t>
                      </a: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ko-KR" sz="1000" kern="0">
                          <a:effectLst/>
                        </a:rPr>
                        <a:t>인도 힌두교 사원</a:t>
                      </a:r>
                      <a:endParaRPr lang="ko-KR" sz="10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ko-KR" sz="1000" kern="0" dirty="0" err="1">
                          <a:effectLst/>
                        </a:rPr>
                        <a:t>푸티아</a:t>
                      </a:r>
                      <a:r>
                        <a:rPr lang="ko-KR" sz="1000" kern="0" dirty="0">
                          <a:effectLst/>
                        </a:rPr>
                        <a:t> 힌두사원군</a:t>
                      </a: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213820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ko-KR" sz="1000" kern="0" dirty="0">
                          <a:effectLst/>
                        </a:rPr>
                        <a:t>규모</a:t>
                      </a: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ko-KR" altLang="en-US" sz="10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대형 사원이 많고</a:t>
                      </a:r>
                      <a:r>
                        <a:rPr lang="en-US" altLang="ko-KR" sz="10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en-US" sz="10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광역 단위로 조성</a:t>
                      </a: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ko-KR" sz="1000" kern="0" dirty="0">
                          <a:effectLst/>
                        </a:rPr>
                        <a:t>비교적 소규모</a:t>
                      </a:r>
                      <a:r>
                        <a:rPr lang="en-US" altLang="ko-KR" sz="1000" kern="0" dirty="0">
                          <a:effectLst/>
                        </a:rPr>
                        <a:t>, </a:t>
                      </a:r>
                      <a:r>
                        <a:rPr lang="ko-KR" altLang="en-US" sz="1000" kern="0" dirty="0">
                          <a:effectLst/>
                        </a:rPr>
                        <a:t>밀집된 형태</a:t>
                      </a: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25761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ko-KR" sz="1000" kern="0">
                          <a:effectLst/>
                        </a:rPr>
                        <a:t>배치 방식</a:t>
                      </a:r>
                      <a:endParaRPr lang="ko-KR" sz="10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ko-KR" altLang="en-US" sz="1000" kern="0" dirty="0">
                          <a:effectLst/>
                        </a:rPr>
                        <a:t>하나의</a:t>
                      </a:r>
                      <a:r>
                        <a:rPr lang="en-US" altLang="ko-KR" sz="1000" kern="0" dirty="0">
                          <a:effectLst/>
                        </a:rPr>
                        <a:t> </a:t>
                      </a:r>
                      <a:r>
                        <a:rPr lang="ko-KR" altLang="en-US" sz="1000" kern="0" dirty="0">
                          <a:effectLst/>
                        </a:rPr>
                        <a:t>거대한 사원을 중심으로 구성</a:t>
                      </a: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ko-KR" sz="1000" kern="0" dirty="0">
                          <a:effectLst/>
                        </a:rPr>
                        <a:t>연못을 중심</a:t>
                      </a:r>
                      <a:r>
                        <a:rPr lang="ko-KR" altLang="en-US" sz="1000" kern="0" dirty="0">
                          <a:effectLst/>
                        </a:rPr>
                        <a:t>의 여러 사원이 모여 형성</a:t>
                      </a: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128867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ko-KR" sz="1000" kern="0">
                          <a:effectLst/>
                        </a:rPr>
                        <a:t>장식</a:t>
                      </a:r>
                      <a:endParaRPr lang="ko-KR" sz="10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ko-KR" sz="1000" kern="0" dirty="0">
                          <a:effectLst/>
                        </a:rPr>
                        <a:t>조각상 중심</a:t>
                      </a:r>
                      <a:r>
                        <a:rPr lang="en-US" sz="1000" kern="0" dirty="0">
                          <a:effectLst/>
                        </a:rPr>
                        <a:t>, </a:t>
                      </a:r>
                      <a:r>
                        <a:rPr lang="ko-KR" altLang="en-US" sz="1000" kern="0" dirty="0">
                          <a:effectLst/>
                        </a:rPr>
                        <a:t>신의 형상을 강조</a:t>
                      </a: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ko-KR" sz="1000" kern="0" dirty="0">
                          <a:effectLst/>
                        </a:rPr>
                        <a:t>테라코타</a:t>
                      </a:r>
                      <a:r>
                        <a:rPr lang="en-US" sz="1000" kern="0" dirty="0">
                          <a:effectLst/>
                        </a:rPr>
                        <a:t>(</a:t>
                      </a:r>
                      <a:r>
                        <a:rPr lang="ko-KR" sz="1000" kern="0" dirty="0">
                          <a:effectLst/>
                        </a:rPr>
                        <a:t>벽돌 부조</a:t>
                      </a:r>
                      <a:r>
                        <a:rPr lang="en-US" sz="1000" kern="0" dirty="0">
                          <a:effectLst/>
                        </a:rPr>
                        <a:t>) </a:t>
                      </a:r>
                      <a:r>
                        <a:rPr lang="ko-KR" sz="1000" kern="0" dirty="0">
                          <a:effectLst/>
                        </a:rPr>
                        <a:t>장식 발달</a:t>
                      </a: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548142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ko-KR" sz="1000" kern="0" dirty="0">
                          <a:effectLst/>
                        </a:rPr>
                        <a:t>재료</a:t>
                      </a: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ko-KR" sz="1000" kern="0" dirty="0">
                          <a:effectLst/>
                        </a:rPr>
                        <a:t>석재 </a:t>
                      </a:r>
                      <a:r>
                        <a:rPr lang="ko-KR" altLang="en-US" sz="1000" kern="0" dirty="0">
                          <a:effectLst/>
                        </a:rPr>
                        <a:t>사용 중심</a:t>
                      </a: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ko-KR" sz="1000" kern="0" dirty="0">
                          <a:effectLst/>
                        </a:rPr>
                        <a:t>벽돌 위주</a:t>
                      </a:r>
                      <a:r>
                        <a:rPr lang="en-US" sz="1000" kern="0" dirty="0">
                          <a:effectLst/>
                        </a:rPr>
                        <a:t> (</a:t>
                      </a:r>
                      <a:r>
                        <a:rPr lang="ko-KR" sz="1000" kern="0" dirty="0">
                          <a:effectLst/>
                        </a:rPr>
                        <a:t>석재 부족 영향</a:t>
                      </a:r>
                      <a:r>
                        <a:rPr lang="en-US" sz="1000" kern="0" dirty="0">
                          <a:effectLst/>
                        </a:rPr>
                        <a:t>)</a:t>
                      </a: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7314628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ko-KR" sz="1000" kern="0">
                          <a:effectLst/>
                        </a:rPr>
                        <a:t>분위기</a:t>
                      </a:r>
                      <a:endParaRPr lang="ko-KR" sz="10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ko-KR" sz="1000" kern="0" dirty="0">
                          <a:effectLst/>
                        </a:rPr>
                        <a:t>순례 중심</a:t>
                      </a:r>
                      <a:r>
                        <a:rPr lang="en-US" sz="1000" kern="0" dirty="0">
                          <a:effectLst/>
                        </a:rPr>
                        <a:t>, </a:t>
                      </a:r>
                      <a:r>
                        <a:rPr lang="ko-KR" sz="1000" kern="0" dirty="0">
                          <a:effectLst/>
                        </a:rPr>
                        <a:t>종교 활동</a:t>
                      </a:r>
                      <a:r>
                        <a:rPr lang="ko-KR" altLang="en-US" sz="1000" kern="0" dirty="0">
                          <a:effectLst/>
                        </a:rPr>
                        <a:t>이</a:t>
                      </a:r>
                      <a:r>
                        <a:rPr lang="ko-KR" sz="1000" kern="0" dirty="0">
                          <a:effectLst/>
                        </a:rPr>
                        <a:t> 활발</a:t>
                      </a:r>
                      <a:r>
                        <a:rPr lang="ko-KR" altLang="en-US" sz="1000" kern="0" dirty="0">
                          <a:effectLst/>
                        </a:rPr>
                        <a:t>한 공간</a:t>
                      </a: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0" dirty="0" err="1">
                          <a:effectLst/>
                        </a:rPr>
                        <a:t>역사적</a:t>
                      </a:r>
                      <a:r>
                        <a:rPr lang="ko-KR" altLang="ko-KR" sz="135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kern="0" dirty="0" err="1">
                          <a:effectLst/>
                        </a:rPr>
                        <a:t>문화</a:t>
                      </a:r>
                      <a:r>
                        <a:rPr lang="ko-KR" sz="1000" kern="0" dirty="0" err="1">
                          <a:effectLst/>
                        </a:rPr>
                        <a:t>유</a:t>
                      </a:r>
                      <a:r>
                        <a:rPr lang="ko-KR" altLang="en-US" sz="1000" kern="0" dirty="0" err="1">
                          <a:effectLst/>
                        </a:rPr>
                        <a:t>산</a:t>
                      </a:r>
                      <a:r>
                        <a:rPr lang="ko-KR" sz="1000" kern="0" dirty="0" err="1">
                          <a:effectLst/>
                        </a:rPr>
                        <a:t>적</a:t>
                      </a:r>
                      <a:r>
                        <a:rPr lang="ko-KR" sz="1000" kern="0" dirty="0">
                          <a:effectLst/>
                        </a:rPr>
                        <a:t> 성격이 강</a:t>
                      </a:r>
                      <a:r>
                        <a:rPr lang="ko-KR" altLang="en-US" sz="1000" kern="0" dirty="0">
                          <a:effectLst/>
                        </a:rPr>
                        <a:t>한 공간</a:t>
                      </a: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903503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28635149-75A1-31F3-F2ED-3F3CB59D8A40}"/>
              </a:ext>
            </a:extLst>
          </p:cNvPr>
          <p:cNvSpPr txBox="1"/>
          <p:nvPr/>
        </p:nvSpPr>
        <p:spPr>
          <a:xfrm>
            <a:off x="261367" y="4572000"/>
            <a:ext cx="52819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“</a:t>
            </a:r>
            <a:r>
              <a:rPr lang="ko-KR" altLang="en-US" sz="1400" dirty="0"/>
              <a:t>벵골 힌두교 사원의 대표적 건축과 테라코타 장식</a:t>
            </a:r>
            <a:r>
              <a:rPr lang="en-US" altLang="ko-KR" sz="1400" dirty="0"/>
              <a:t>”</a:t>
            </a:r>
          </a:p>
          <a:p>
            <a:pPr latinLnBrk="1"/>
            <a:r>
              <a:rPr lang="ko-KR" altLang="ko-KR" sz="1400" b="1" dirty="0" err="1"/>
              <a:t>푸티아</a:t>
            </a:r>
            <a:r>
              <a:rPr lang="ko-KR" altLang="ko-KR" sz="1400" b="1" dirty="0"/>
              <a:t> </a:t>
            </a:r>
            <a:r>
              <a:rPr lang="ko-KR" altLang="ko-KR" sz="1400" b="1" dirty="0" err="1"/>
              <a:t>사원군</a:t>
            </a:r>
            <a:endParaRPr lang="ko-KR" altLang="ko-KR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A6EA88-00E1-A80A-9B36-4E6D31FA8C8A}"/>
              </a:ext>
            </a:extLst>
          </p:cNvPr>
          <p:cNvSpPr txBox="1"/>
          <p:nvPr/>
        </p:nvSpPr>
        <p:spPr>
          <a:xfrm>
            <a:off x="2165363" y="5688501"/>
            <a:ext cx="2815208" cy="1954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/>
              <a:t>18~19</a:t>
            </a:r>
            <a:r>
              <a:rPr lang="ko-KR" altLang="en-US" sz="1100" dirty="0"/>
              <a:t>세기 힌두 </a:t>
            </a:r>
            <a:r>
              <a:rPr lang="ko-KR" altLang="en-US" sz="1100" dirty="0" err="1"/>
              <a:t>자민다르</a:t>
            </a:r>
            <a:r>
              <a:rPr lang="ko-KR" altLang="en-US" sz="1100" dirty="0"/>
              <a:t> 가문이 조성한 </a:t>
            </a:r>
            <a:r>
              <a:rPr lang="ko-KR" altLang="en-US" sz="1100" dirty="0" err="1"/>
              <a:t>벵골식</a:t>
            </a:r>
            <a:r>
              <a:rPr lang="ko-KR" altLang="en-US" sz="1100" dirty="0"/>
              <a:t> 사원 단지로</a:t>
            </a:r>
            <a:r>
              <a:rPr lang="en-US" altLang="ko-KR" sz="1100" dirty="0"/>
              <a:t> </a:t>
            </a:r>
            <a:r>
              <a:rPr lang="ko-KR" altLang="en-US" sz="1100" dirty="0"/>
              <a:t>연못을 중심으로 구성된 독특한 종교 경관입니다</a:t>
            </a:r>
            <a:r>
              <a:rPr lang="en-US" altLang="ko-KR" sz="1100" dirty="0"/>
              <a:t>.</a:t>
            </a:r>
          </a:p>
          <a:p>
            <a:pPr algn="ctr"/>
            <a:br>
              <a:rPr lang="en-US" altLang="ko-KR" sz="1100" dirty="0"/>
            </a:br>
            <a:r>
              <a:rPr lang="ko-KR" altLang="en-US" sz="1100" dirty="0"/>
              <a:t>붉은 벽돌과 테라코타 장식</a:t>
            </a:r>
            <a:r>
              <a:rPr lang="en-US" altLang="ko-KR" sz="1100" dirty="0"/>
              <a:t>, </a:t>
            </a:r>
            <a:r>
              <a:rPr lang="ko-KR" altLang="en-US" sz="1100" dirty="0"/>
              <a:t>힌두 신화를 담은 부조가 특징이며 벵골 건축 양식을 보여줍니다</a:t>
            </a:r>
            <a:r>
              <a:rPr lang="en-US" altLang="ko-KR" sz="1100" dirty="0"/>
              <a:t>.</a:t>
            </a:r>
          </a:p>
          <a:p>
            <a:pPr algn="ctr"/>
            <a:br>
              <a:rPr lang="en-US" altLang="ko-KR" sz="1100" dirty="0"/>
            </a:br>
            <a:r>
              <a:rPr lang="ko-KR" altLang="en-US" sz="1100" dirty="0"/>
              <a:t>농촌 마을과 어우러진 평화로운 풍경 속에서 벵골의 종교적 다양성과 서정적인 아름다움을 느껴보세요</a:t>
            </a:r>
            <a:r>
              <a:rPr lang="en-US" altLang="ko-KR" sz="1100" dirty="0"/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AACE79-1A8E-D4BC-BE2D-8B86988CA153}"/>
              </a:ext>
            </a:extLst>
          </p:cNvPr>
          <p:cNvSpPr txBox="1"/>
          <p:nvPr/>
        </p:nvSpPr>
        <p:spPr>
          <a:xfrm>
            <a:off x="1023519" y="3399548"/>
            <a:ext cx="4806779" cy="830997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팔라 왕조</a:t>
            </a:r>
            <a:r>
              <a:rPr lang="en-US" altLang="ko-KR" sz="8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ko-KR" altLang="en-US" sz="8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약 </a:t>
            </a:r>
            <a:r>
              <a:rPr lang="en-US" altLang="ko-KR" sz="8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750</a:t>
            </a:r>
            <a:r>
              <a:rPr lang="ko-KR" altLang="en-US" sz="8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년</a:t>
            </a:r>
            <a:r>
              <a:rPr lang="en-US" altLang="ko-KR" sz="8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~1174</a:t>
            </a:r>
            <a:r>
              <a:rPr lang="ko-KR" altLang="en-US" sz="800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년경</a:t>
            </a:r>
            <a:r>
              <a:rPr lang="en-US" altLang="ko-KR" sz="8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r>
              <a:rPr lang="ko-KR" altLang="en-US" sz="8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n-US" altLang="ko-KR" sz="8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endParaRPr lang="en-US" altLang="ko-KR" sz="800" dirty="0"/>
          </a:p>
          <a:p>
            <a:pPr algn="ctr"/>
            <a:r>
              <a:rPr lang="ko-KR" altLang="en-US" sz="800" dirty="0"/>
              <a:t>인도 동북부와 방글라데시 지역을 중심으로 번성한 불교 왕조로</a:t>
            </a:r>
            <a:endParaRPr lang="en-US" altLang="ko-KR" sz="800" dirty="0"/>
          </a:p>
          <a:p>
            <a:pPr algn="ctr"/>
            <a:r>
              <a:rPr lang="ko-KR" altLang="en-US" sz="800" dirty="0" err="1"/>
              <a:t>고팔라</a:t>
            </a:r>
            <a:r>
              <a:rPr lang="en-US" altLang="ko-KR" sz="800" dirty="0"/>
              <a:t> (Gopala)</a:t>
            </a:r>
            <a:r>
              <a:rPr lang="ko-KR" altLang="en-US" sz="800" dirty="0"/>
              <a:t>가 세운 팔라 왕조가 시작되었습니다</a:t>
            </a:r>
            <a:r>
              <a:rPr lang="en-US" altLang="ko-KR" sz="800" dirty="0"/>
              <a:t>.</a:t>
            </a:r>
            <a:br>
              <a:rPr lang="en-US" altLang="ko-KR" sz="800" dirty="0"/>
            </a:br>
            <a:r>
              <a:rPr lang="ko-KR" altLang="en-US" sz="800" dirty="0"/>
              <a:t>벵골과 비하르를 통합하며 북인도의 주요 세력으로 성장했고</a:t>
            </a:r>
            <a:r>
              <a:rPr lang="en-US" altLang="ko-KR" sz="800" dirty="0"/>
              <a:t>, </a:t>
            </a:r>
            <a:r>
              <a:rPr lang="ko-KR" altLang="en-US" sz="800" dirty="0"/>
              <a:t>대승</a:t>
            </a:r>
            <a:r>
              <a:rPr lang="en-US" altLang="ko-KR" sz="800" dirty="0"/>
              <a:t>·</a:t>
            </a:r>
            <a:r>
              <a:rPr lang="ko-KR" altLang="en-US" sz="800" dirty="0"/>
              <a:t>밀교 불교를 적극 후원했습니다</a:t>
            </a:r>
            <a:r>
              <a:rPr lang="en-US" altLang="ko-KR" sz="800" dirty="0"/>
              <a:t>.</a:t>
            </a:r>
            <a:br>
              <a:rPr lang="en-US" altLang="ko-KR" sz="800" dirty="0"/>
            </a:br>
            <a:r>
              <a:rPr lang="ko-KR" altLang="en-US" sz="800" dirty="0"/>
              <a:t>동남아와 티베트 불교 및 사원 건축에 큰 영향을 준 불교 문화 중심 왕조입니다</a:t>
            </a:r>
            <a:r>
              <a:rPr lang="en-US" altLang="ko-KR" sz="800" dirty="0"/>
              <a:t>.</a:t>
            </a:r>
          </a:p>
        </p:txBody>
      </p:sp>
      <p:sp>
        <p:nvSpPr>
          <p:cNvPr id="4" name="말풍선: 사각형 3">
            <a:extLst>
              <a:ext uri="{FF2B5EF4-FFF2-40B4-BE49-F238E27FC236}">
                <a16:creationId xmlns:a16="http://schemas.microsoft.com/office/drawing/2014/main" id="{20463C13-9768-8A8E-4280-A6DA139B04C6}"/>
              </a:ext>
            </a:extLst>
          </p:cNvPr>
          <p:cNvSpPr/>
          <p:nvPr/>
        </p:nvSpPr>
        <p:spPr>
          <a:xfrm>
            <a:off x="-1149006" y="7748435"/>
            <a:ext cx="2247371" cy="523220"/>
          </a:xfrm>
          <a:prstGeom prst="wedgeRectCallout">
            <a:avLst>
              <a:gd name="adj1" fmla="val 40141"/>
              <a:gd name="adj2" fmla="val 8892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인도와는 또 다른 매력을 지닌</a:t>
            </a:r>
            <a:endParaRPr lang="en-US" altLang="ko-KR" sz="1200" dirty="0"/>
          </a:p>
          <a:p>
            <a:pPr algn="ctr"/>
            <a:r>
              <a:rPr lang="ko-KR" altLang="en-US" sz="1200" b="1" dirty="0"/>
              <a:t>벵골 힌두 건축의 독창성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C4588B6-1F93-2C49-3572-CF1C452169D8}"/>
              </a:ext>
            </a:extLst>
          </p:cNvPr>
          <p:cNvSpPr/>
          <p:nvPr/>
        </p:nvSpPr>
        <p:spPr>
          <a:xfrm>
            <a:off x="64791" y="4443046"/>
            <a:ext cx="6724236" cy="457666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D315189-8651-3851-6708-1E6FB1395689}"/>
              </a:ext>
            </a:extLst>
          </p:cNvPr>
          <p:cNvSpPr/>
          <p:nvPr/>
        </p:nvSpPr>
        <p:spPr>
          <a:xfrm>
            <a:off x="1853860" y="852470"/>
            <a:ext cx="3496616" cy="6742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이미지</a:t>
            </a:r>
            <a:r>
              <a:rPr lang="en-US" altLang="ko-KR" dirty="0"/>
              <a:t>11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C679E1C-7282-7B69-8642-A313F5E29FD6}"/>
              </a:ext>
            </a:extLst>
          </p:cNvPr>
          <p:cNvSpPr txBox="1"/>
          <p:nvPr/>
        </p:nvSpPr>
        <p:spPr>
          <a:xfrm>
            <a:off x="6858000" y="413359"/>
            <a:ext cx="36012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! </a:t>
            </a:r>
            <a:r>
              <a:rPr lang="ko-KR" altLang="en-US" dirty="0">
                <a:solidFill>
                  <a:srgbClr val="FF0000"/>
                </a:solidFill>
              </a:rPr>
              <a:t>불교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힌두교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이슬람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ko-KR" altLang="en-US" dirty="0">
                <a:solidFill>
                  <a:srgbClr val="FF0000"/>
                </a:solidFill>
              </a:rPr>
              <a:t>각 종교 특성에 맞게 디자인 부탁드립니다</a:t>
            </a:r>
            <a:r>
              <a:rPr lang="en-US" altLang="ko-KR" dirty="0">
                <a:solidFill>
                  <a:srgbClr val="FF0000"/>
                </a:solidFill>
              </a:rPr>
              <a:t>!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443256E-9AAD-E8C8-0393-6B0F55C2DB87}"/>
              </a:ext>
            </a:extLst>
          </p:cNvPr>
          <p:cNvSpPr/>
          <p:nvPr/>
        </p:nvSpPr>
        <p:spPr>
          <a:xfrm>
            <a:off x="1853860" y="4896619"/>
            <a:ext cx="3496616" cy="6742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이미지</a:t>
            </a:r>
            <a:r>
              <a:rPr lang="en-US" altLang="ko-KR" dirty="0"/>
              <a:t>12</a:t>
            </a:r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F429062-AD08-950D-E56E-8CEA40E15922}"/>
              </a:ext>
            </a:extLst>
          </p:cNvPr>
          <p:cNvSpPr/>
          <p:nvPr/>
        </p:nvSpPr>
        <p:spPr>
          <a:xfrm>
            <a:off x="1005096" y="3307398"/>
            <a:ext cx="5086786" cy="10180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26104A-901B-902F-1650-4E160246906F}"/>
              </a:ext>
            </a:extLst>
          </p:cNvPr>
          <p:cNvSpPr txBox="1"/>
          <p:nvPr/>
        </p:nvSpPr>
        <p:spPr>
          <a:xfrm>
            <a:off x="7044406" y="3399548"/>
            <a:ext cx="26742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>
                <a:solidFill>
                  <a:srgbClr val="FF0000"/>
                </a:solidFill>
              </a:rPr>
              <a:t>포스트잇</a:t>
            </a:r>
            <a:r>
              <a:rPr lang="ko-KR" altLang="en-US" dirty="0">
                <a:solidFill>
                  <a:srgbClr val="FF0000"/>
                </a:solidFill>
              </a:rPr>
              <a:t> 부분은 </a:t>
            </a:r>
            <a:r>
              <a:rPr lang="en-US" altLang="ko-KR" dirty="0">
                <a:solidFill>
                  <a:srgbClr val="FF0000"/>
                </a:solidFill>
              </a:rPr>
              <a:t>25pt/</a:t>
            </a:r>
          </a:p>
          <a:p>
            <a:r>
              <a:rPr lang="ko-KR" altLang="en-US" dirty="0">
                <a:solidFill>
                  <a:srgbClr val="FF0000"/>
                </a:solidFill>
              </a:rPr>
              <a:t>행간</a:t>
            </a:r>
            <a:r>
              <a:rPr lang="en-US" altLang="ko-KR">
                <a:solidFill>
                  <a:srgbClr val="FF0000"/>
                </a:solidFill>
              </a:rPr>
              <a:t>: 35pt</a:t>
            </a:r>
            <a:endParaRPr lang="en-US" altLang="ko-KR" dirty="0">
              <a:solidFill>
                <a:srgbClr val="FF0000"/>
              </a:solidFill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6DFA783C-D3F9-0E3B-6927-BAB027BD2EAC}"/>
              </a:ext>
            </a:extLst>
          </p:cNvPr>
          <p:cNvCxnSpPr>
            <a:cxnSpLocks/>
          </p:cNvCxnSpPr>
          <p:nvPr/>
        </p:nvCxnSpPr>
        <p:spPr>
          <a:xfrm>
            <a:off x="6091882" y="3572405"/>
            <a:ext cx="95252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6919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A087C474-FFC8-D268-3F7E-F928E00C02A6}"/>
              </a:ext>
            </a:extLst>
          </p:cNvPr>
          <p:cNvSpPr txBox="1"/>
          <p:nvPr/>
        </p:nvSpPr>
        <p:spPr>
          <a:xfrm>
            <a:off x="189435" y="422472"/>
            <a:ext cx="5473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“</a:t>
            </a:r>
            <a:r>
              <a:rPr lang="ko-KR" altLang="en-US" sz="1400" dirty="0"/>
              <a:t>술탄 시대 모스크가 남긴 이슬람 건축의 유산</a:t>
            </a:r>
            <a:r>
              <a:rPr lang="en-US" altLang="ko-KR" sz="1400" dirty="0"/>
              <a:t>”</a:t>
            </a:r>
          </a:p>
          <a:p>
            <a:r>
              <a:rPr lang="ko-KR" altLang="ko-KR" sz="1400" b="1" dirty="0" err="1"/>
              <a:t>바게르하트의</a:t>
            </a:r>
            <a:r>
              <a:rPr lang="ko-KR" altLang="ko-KR" sz="1400" b="1" dirty="0"/>
              <a:t> 모스크 도시</a:t>
            </a:r>
            <a:endParaRPr lang="ko-KR" altLang="ko-KR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D8F6ED-4F2D-ADF2-496F-0A6702FBA18A}"/>
              </a:ext>
            </a:extLst>
          </p:cNvPr>
          <p:cNvSpPr txBox="1"/>
          <p:nvPr/>
        </p:nvSpPr>
        <p:spPr>
          <a:xfrm>
            <a:off x="1246149" y="2110909"/>
            <a:ext cx="4365702" cy="1954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altLang="ko-KR" sz="1100" dirty="0"/>
          </a:p>
          <a:p>
            <a:pPr algn="ctr"/>
            <a:r>
              <a:rPr lang="en-US" altLang="ko-KR" sz="1100" dirty="0"/>
              <a:t>15</a:t>
            </a:r>
            <a:r>
              <a:rPr lang="ko-KR" altLang="en-US" sz="1100" dirty="0"/>
              <a:t>세기 이슬람 성자 칸 자한 </a:t>
            </a:r>
            <a:r>
              <a:rPr lang="ko-KR" altLang="en-US" sz="1100" dirty="0" err="1"/>
              <a:t>알리가</a:t>
            </a:r>
            <a:r>
              <a:rPr lang="ko-KR" altLang="en-US" sz="1100" dirty="0"/>
              <a:t> 설계한</a:t>
            </a:r>
            <a:r>
              <a:rPr lang="en-US" altLang="ko-KR" sz="1100" dirty="0"/>
              <a:t> </a:t>
            </a:r>
            <a:r>
              <a:rPr lang="ko-KR" altLang="en-US" sz="1100" dirty="0"/>
              <a:t>계획 도시로</a:t>
            </a:r>
            <a:r>
              <a:rPr lang="en-US" altLang="ko-KR" sz="1100" dirty="0"/>
              <a:t> </a:t>
            </a:r>
          </a:p>
          <a:p>
            <a:pPr algn="ctr"/>
            <a:r>
              <a:rPr lang="ko-KR" altLang="en-US" sz="1100" dirty="0"/>
              <a:t>종교와 도시 기능이 결합된 이슬람 유적입니다</a:t>
            </a:r>
            <a:r>
              <a:rPr lang="en-US" altLang="ko-KR" sz="1100" dirty="0"/>
              <a:t>.</a:t>
            </a:r>
          </a:p>
          <a:p>
            <a:pPr algn="ctr"/>
            <a:br>
              <a:rPr lang="en-US" altLang="ko-KR" sz="1100" dirty="0"/>
            </a:br>
            <a:r>
              <a:rPr lang="ko-KR" altLang="en-US" sz="1100" dirty="0"/>
              <a:t>붉은 벽돌과 </a:t>
            </a:r>
            <a:r>
              <a:rPr lang="en-US" altLang="ko-KR" sz="1100" dirty="0"/>
              <a:t>60</a:t>
            </a:r>
            <a:r>
              <a:rPr lang="ko-KR" altLang="en-US" sz="1100" dirty="0"/>
              <a:t>개 돔의 </a:t>
            </a:r>
            <a:r>
              <a:rPr lang="ko-KR" altLang="en-US" sz="1100" dirty="0" err="1"/>
              <a:t>샤트</a:t>
            </a:r>
            <a:r>
              <a:rPr lang="ko-KR" altLang="en-US" sz="1100" dirty="0"/>
              <a:t> </a:t>
            </a:r>
            <a:r>
              <a:rPr lang="ko-KR" altLang="en-US" sz="1100" dirty="0" err="1"/>
              <a:t>곰부즈</a:t>
            </a:r>
            <a:r>
              <a:rPr lang="ko-KR" altLang="en-US" sz="1100" dirty="0"/>
              <a:t> 모스크가 대표적이며 </a:t>
            </a:r>
            <a:endParaRPr lang="en-US" altLang="ko-KR" sz="1100" dirty="0"/>
          </a:p>
          <a:p>
            <a:pPr algn="ctr"/>
            <a:r>
              <a:rPr lang="ko-KR" altLang="en-US" sz="1100" dirty="0" err="1"/>
              <a:t>벵골식</a:t>
            </a:r>
            <a:r>
              <a:rPr lang="ko-KR" altLang="en-US" sz="1100" dirty="0"/>
              <a:t> 이슬람 건축을 보여줍니다</a:t>
            </a:r>
            <a:r>
              <a:rPr lang="en-US" altLang="ko-KR" sz="1100" dirty="0"/>
              <a:t>.</a:t>
            </a:r>
          </a:p>
          <a:p>
            <a:pPr algn="ctr"/>
            <a:br>
              <a:rPr lang="en-US" altLang="ko-KR" sz="1100" dirty="0"/>
            </a:br>
            <a:r>
              <a:rPr lang="ko-KR" altLang="en-US" sz="1100" dirty="0"/>
              <a:t>자연과 조화를 이루는 구조 속에서</a:t>
            </a:r>
            <a:endParaRPr lang="en-US" altLang="ko-KR" sz="1100" dirty="0"/>
          </a:p>
          <a:p>
            <a:pPr algn="ctr"/>
            <a:r>
              <a:rPr lang="ko-KR" altLang="en-US" sz="1100" dirty="0"/>
              <a:t>방글라데시 이슬람 문명의 </a:t>
            </a:r>
            <a:endParaRPr lang="en-US" altLang="ko-KR" sz="1100" dirty="0"/>
          </a:p>
          <a:p>
            <a:pPr algn="ctr"/>
            <a:r>
              <a:rPr lang="ko-KR" altLang="en-US" sz="1100" dirty="0"/>
              <a:t>역사적 깊이를 느낄 수 있습니다</a:t>
            </a:r>
            <a:r>
              <a:rPr lang="en-US" altLang="ko-KR" sz="1100" dirty="0"/>
              <a:t>.</a:t>
            </a:r>
          </a:p>
          <a:p>
            <a:pPr algn="ctr"/>
            <a:endParaRPr lang="en-US" altLang="ko-KR" sz="11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BDC82CF-529E-89ED-B4ED-865874648B27}"/>
              </a:ext>
            </a:extLst>
          </p:cNvPr>
          <p:cNvSpPr/>
          <p:nvPr/>
        </p:nvSpPr>
        <p:spPr>
          <a:xfrm>
            <a:off x="68143" y="65672"/>
            <a:ext cx="6724236" cy="4318759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F53AEE2-736D-2610-3563-75C1F6651D3E}"/>
              </a:ext>
            </a:extLst>
          </p:cNvPr>
          <p:cNvSpPr/>
          <p:nvPr/>
        </p:nvSpPr>
        <p:spPr>
          <a:xfrm>
            <a:off x="66882" y="4384431"/>
            <a:ext cx="6724236" cy="469389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B2140A-3908-B828-8BBC-8E79BFD3690B}"/>
              </a:ext>
            </a:extLst>
          </p:cNvPr>
          <p:cNvSpPr txBox="1"/>
          <p:nvPr/>
        </p:nvSpPr>
        <p:spPr>
          <a:xfrm>
            <a:off x="841420" y="4406676"/>
            <a:ext cx="5175160" cy="28469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altLang="ko-KR" sz="1100" dirty="0"/>
          </a:p>
          <a:p>
            <a:pPr algn="ctr"/>
            <a:r>
              <a:rPr lang="ko-KR" altLang="ko-KR" sz="1400" b="1" dirty="0"/>
              <a:t>세계 최대 </a:t>
            </a:r>
            <a:r>
              <a:rPr lang="ko-KR" altLang="ko-KR" sz="1400" b="1" dirty="0" err="1"/>
              <a:t>맹그로브</a:t>
            </a:r>
            <a:r>
              <a:rPr lang="ko-KR" altLang="ko-KR" sz="1400" b="1" dirty="0"/>
              <a:t> 숲</a:t>
            </a:r>
            <a:r>
              <a:rPr lang="en-US" altLang="ko-KR" sz="1400" b="1" dirty="0"/>
              <a:t>, </a:t>
            </a:r>
            <a:r>
              <a:rPr lang="ko-KR" altLang="ko-KR" sz="1400" b="1" dirty="0" err="1"/>
              <a:t>순다르반스</a:t>
            </a:r>
            <a:r>
              <a:rPr lang="ko-KR" altLang="ko-KR" sz="1400" b="1" dirty="0"/>
              <a:t> </a:t>
            </a:r>
            <a:endParaRPr lang="en-US" altLang="ko-KR" sz="1100" dirty="0"/>
          </a:p>
          <a:p>
            <a:pPr algn="ctr"/>
            <a:endParaRPr lang="en-US" altLang="ko-KR" sz="1100" dirty="0"/>
          </a:p>
          <a:p>
            <a:pPr algn="ctr"/>
            <a:endParaRPr lang="en-US" altLang="ko-KR" sz="1100" dirty="0"/>
          </a:p>
          <a:p>
            <a:pPr algn="ctr"/>
            <a:r>
              <a:rPr lang="ko-KR" altLang="en-US" sz="1100" dirty="0"/>
              <a:t>방글라데시와 인도에 걸쳐 있는</a:t>
            </a:r>
            <a:endParaRPr lang="en-US" altLang="ko-KR" sz="1100" dirty="0"/>
          </a:p>
          <a:p>
            <a:pPr algn="ctr"/>
            <a:r>
              <a:rPr lang="ko-KR" altLang="en-US" sz="1100" dirty="0"/>
              <a:t> 세계 최대 </a:t>
            </a:r>
            <a:r>
              <a:rPr lang="ko-KR" altLang="en-US" sz="1100" dirty="0" err="1"/>
              <a:t>맹그로브</a:t>
            </a:r>
            <a:r>
              <a:rPr lang="ko-KR" altLang="en-US" sz="1100" dirty="0"/>
              <a:t> 생태계로</a:t>
            </a:r>
            <a:endParaRPr lang="en-US" altLang="ko-KR" sz="1100" dirty="0"/>
          </a:p>
          <a:p>
            <a:pPr algn="ctr"/>
            <a:r>
              <a:rPr lang="ko-KR" altLang="en-US" sz="1100" dirty="0" err="1"/>
              <a:t>갠지스</a:t>
            </a:r>
            <a:r>
              <a:rPr lang="en-US" altLang="ko-KR" sz="1100" dirty="0"/>
              <a:t>·</a:t>
            </a:r>
            <a:r>
              <a:rPr lang="ko-KR" altLang="en-US" sz="1100" dirty="0" err="1"/>
              <a:t>브라마푸트라</a:t>
            </a:r>
            <a:r>
              <a:rPr lang="en-US" altLang="ko-KR" sz="1100" dirty="0"/>
              <a:t>·</a:t>
            </a:r>
            <a:r>
              <a:rPr lang="ko-KR" altLang="en-US" sz="1100" dirty="0" err="1"/>
              <a:t>메그나</a:t>
            </a:r>
            <a:r>
              <a:rPr lang="ko-KR" altLang="en-US" sz="1100" dirty="0"/>
              <a:t> 삼각주에 형성된</a:t>
            </a:r>
            <a:endParaRPr lang="en-US" altLang="ko-KR" sz="1100" dirty="0"/>
          </a:p>
          <a:p>
            <a:pPr algn="ctr"/>
            <a:r>
              <a:rPr lang="ko-KR" altLang="en-US" sz="1100" dirty="0"/>
              <a:t> 독특한 자연 환경입니다</a:t>
            </a:r>
            <a:r>
              <a:rPr lang="en-US" altLang="ko-KR" sz="1100" dirty="0"/>
              <a:t>.</a:t>
            </a:r>
          </a:p>
          <a:p>
            <a:pPr algn="ctr"/>
            <a:br>
              <a:rPr lang="en-US" altLang="ko-KR" sz="1100" dirty="0"/>
            </a:br>
            <a:r>
              <a:rPr lang="ko-KR" altLang="en-US" sz="1100" dirty="0"/>
              <a:t>밀물과 썰물 속에서 호흡근을 가진 식생이 발달해 </a:t>
            </a:r>
            <a:endParaRPr lang="en-US" altLang="ko-KR" sz="1100" dirty="0"/>
          </a:p>
          <a:p>
            <a:pPr algn="ctr"/>
            <a:r>
              <a:rPr lang="ko-KR" altLang="en-US" sz="1100" dirty="0"/>
              <a:t>해안 침식과 재해를 막는 천연 방파제 역할을 합니다</a:t>
            </a:r>
            <a:r>
              <a:rPr lang="en-US" altLang="ko-KR" sz="1100" dirty="0"/>
              <a:t>.</a:t>
            </a:r>
          </a:p>
          <a:p>
            <a:pPr algn="ctr"/>
            <a:br>
              <a:rPr lang="en-US" altLang="ko-KR" sz="1100" dirty="0"/>
            </a:br>
            <a:r>
              <a:rPr lang="ko-KR" altLang="en-US" sz="1100" dirty="0"/>
              <a:t>탄소 흡수 능력이 뛰어난 </a:t>
            </a:r>
            <a:r>
              <a:rPr lang="en-US" altLang="ko-KR" sz="1100" dirty="0"/>
              <a:t>‘</a:t>
            </a:r>
            <a:r>
              <a:rPr lang="ko-KR" altLang="en-US" sz="1100" dirty="0" err="1"/>
              <a:t>블루카본</a:t>
            </a:r>
            <a:r>
              <a:rPr lang="en-US" altLang="ko-KR" sz="1100" dirty="0"/>
              <a:t>’</a:t>
            </a:r>
            <a:r>
              <a:rPr lang="ko-KR" altLang="en-US" sz="1100" dirty="0"/>
              <a:t> 생태계로 주목받으며</a:t>
            </a:r>
            <a:br>
              <a:rPr lang="en-US" altLang="ko-KR" sz="1100" dirty="0"/>
            </a:br>
            <a:r>
              <a:rPr lang="en-US" altLang="ko-KR" sz="1100" dirty="0"/>
              <a:t>1997</a:t>
            </a:r>
            <a:r>
              <a:rPr lang="ko-KR" altLang="en-US" sz="1100" dirty="0"/>
              <a:t>년 유네스코 세계자연유산으로 등재된 </a:t>
            </a:r>
            <a:endParaRPr lang="en-US" altLang="ko-KR" sz="1100" dirty="0"/>
          </a:p>
          <a:p>
            <a:pPr algn="ctr"/>
            <a:r>
              <a:rPr lang="ko-KR" altLang="en-US" sz="1100" dirty="0"/>
              <a:t>대표 생태 탐방지입니다</a:t>
            </a:r>
            <a:r>
              <a:rPr lang="en-US" altLang="ko-KR" sz="1100" dirty="0"/>
              <a:t>.</a:t>
            </a:r>
          </a:p>
          <a:p>
            <a:pPr algn="ctr"/>
            <a:endParaRPr lang="ko-KR" altLang="en-US" sz="110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C2C5572-6319-7072-C4D4-4B842FBA4C6C}"/>
              </a:ext>
            </a:extLst>
          </p:cNvPr>
          <p:cNvSpPr/>
          <p:nvPr/>
        </p:nvSpPr>
        <p:spPr>
          <a:xfrm rot="425075">
            <a:off x="2192353" y="7388111"/>
            <a:ext cx="1893628" cy="11836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이미지</a:t>
            </a:r>
            <a:r>
              <a:rPr lang="en-US" altLang="ko-KR" dirty="0"/>
              <a:t>14</a:t>
            </a:r>
            <a:endParaRPr lang="ko-KR" altLang="en-US" dirty="0"/>
          </a:p>
        </p:txBody>
      </p:sp>
      <p:cxnSp>
        <p:nvCxnSpPr>
          <p:cNvPr id="9" name="연결선: 구부러짐 8">
            <a:extLst>
              <a:ext uri="{FF2B5EF4-FFF2-40B4-BE49-F238E27FC236}">
                <a16:creationId xmlns:a16="http://schemas.microsoft.com/office/drawing/2014/main" id="{5B9FF08E-1009-5CA7-BB4C-E1B896EB0F65}"/>
              </a:ext>
            </a:extLst>
          </p:cNvPr>
          <p:cNvCxnSpPr>
            <a:cxnSpLocks/>
          </p:cNvCxnSpPr>
          <p:nvPr/>
        </p:nvCxnSpPr>
        <p:spPr>
          <a:xfrm>
            <a:off x="4056431" y="8046918"/>
            <a:ext cx="433489" cy="350706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D69D4A1-3284-94D1-F860-089338E8797C}"/>
              </a:ext>
            </a:extLst>
          </p:cNvPr>
          <p:cNvSpPr txBox="1"/>
          <p:nvPr/>
        </p:nvSpPr>
        <p:spPr>
          <a:xfrm>
            <a:off x="4484898" y="8200372"/>
            <a:ext cx="2025157" cy="769441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  <a:prstDash val="dashDot"/>
          </a:ln>
        </p:spPr>
        <p:txBody>
          <a:bodyPr wrap="square" rtlCol="0">
            <a:spAutoFit/>
          </a:bodyPr>
          <a:lstStyle/>
          <a:p>
            <a:r>
              <a:rPr lang="ko-KR" altLang="en-US" sz="1100" dirty="0" err="1"/>
              <a:t>순다르반스는</a:t>
            </a:r>
            <a:r>
              <a:rPr lang="ko-KR" altLang="en-US" sz="1100" dirty="0"/>
              <a:t> ‘</a:t>
            </a:r>
            <a:r>
              <a:rPr lang="ko-KR" altLang="en-US" sz="1100" dirty="0" err="1"/>
              <a:t>순다리</a:t>
            </a:r>
            <a:r>
              <a:rPr lang="en-US" altLang="ko-KR" sz="1100" dirty="0"/>
              <a:t>(Sundari) </a:t>
            </a:r>
            <a:r>
              <a:rPr lang="ko-KR" altLang="en-US" sz="1100" dirty="0" err="1"/>
              <a:t>나무’에서</a:t>
            </a:r>
            <a:r>
              <a:rPr lang="ko-KR" altLang="en-US" sz="1100" dirty="0"/>
              <a:t> 유래한 이름으로 알려져 있으며</a:t>
            </a:r>
            <a:r>
              <a:rPr lang="en-US" altLang="ko-KR" sz="1100" dirty="0"/>
              <a:t>,</a:t>
            </a:r>
            <a:r>
              <a:rPr lang="ko-KR" altLang="en-US" sz="1100" dirty="0"/>
              <a:t> 숲의 대표 식생 중 하나입니다</a:t>
            </a:r>
            <a:r>
              <a:rPr lang="en-US" altLang="ko-KR" sz="1100" dirty="0"/>
              <a:t>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C73A29F-BA6A-C685-92B0-618CE36565AE}"/>
              </a:ext>
            </a:extLst>
          </p:cNvPr>
          <p:cNvSpPr/>
          <p:nvPr/>
        </p:nvSpPr>
        <p:spPr>
          <a:xfrm>
            <a:off x="4903928" y="4489776"/>
            <a:ext cx="1766765" cy="3895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배경 이미지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5481806-7D40-E58A-CCEC-5D221E8BF135}"/>
              </a:ext>
            </a:extLst>
          </p:cNvPr>
          <p:cNvSpPr/>
          <p:nvPr/>
        </p:nvSpPr>
        <p:spPr>
          <a:xfrm>
            <a:off x="1724407" y="1287166"/>
            <a:ext cx="3496616" cy="6742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이미지</a:t>
            </a:r>
            <a:r>
              <a:rPr lang="en-US" altLang="ko-KR" dirty="0"/>
              <a:t>13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324918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D2927-63BA-808F-67CA-4AEE5CDF5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20A7144-9700-7D0F-A7CF-A792E45C1E28}"/>
              </a:ext>
            </a:extLst>
          </p:cNvPr>
          <p:cNvSpPr/>
          <p:nvPr/>
        </p:nvSpPr>
        <p:spPr>
          <a:xfrm>
            <a:off x="1009650" y="457200"/>
            <a:ext cx="4781550" cy="3086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2FFB2904-7F00-822B-AA19-6132B87D062A}"/>
              </a:ext>
            </a:extLst>
          </p:cNvPr>
          <p:cNvSpPr/>
          <p:nvPr/>
        </p:nvSpPr>
        <p:spPr>
          <a:xfrm>
            <a:off x="62223" y="5219892"/>
            <a:ext cx="6724236" cy="383520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EF325C-E37C-B41F-C7EE-C6EC550ED67E}"/>
              </a:ext>
            </a:extLst>
          </p:cNvPr>
          <p:cNvSpPr txBox="1"/>
          <p:nvPr/>
        </p:nvSpPr>
        <p:spPr>
          <a:xfrm>
            <a:off x="735784" y="5571607"/>
            <a:ext cx="51931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생태 탐방 중 만나는</a:t>
            </a:r>
            <a:endParaRPr lang="en-US" altLang="ko-KR" sz="1400" dirty="0"/>
          </a:p>
          <a:p>
            <a:pPr algn="ctr"/>
            <a:r>
              <a:rPr lang="ko-KR" altLang="en-US" sz="1400" b="1" dirty="0" err="1"/>
              <a:t>순다르반스의</a:t>
            </a:r>
            <a:r>
              <a:rPr lang="ko-KR" altLang="en-US" sz="1400" b="1" dirty="0"/>
              <a:t> 다양한 동물들</a:t>
            </a:r>
            <a:r>
              <a:rPr lang="en-US" altLang="ko-KR" sz="1400" b="1" dirty="0"/>
              <a:t>!</a:t>
            </a:r>
            <a:endParaRPr lang="ko-KR" altLang="en-US" sz="1400" b="1" dirty="0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46E192EA-C9DA-CE8D-EFA7-C6394CCF2D8E}"/>
              </a:ext>
            </a:extLst>
          </p:cNvPr>
          <p:cNvSpPr/>
          <p:nvPr/>
        </p:nvSpPr>
        <p:spPr>
          <a:xfrm>
            <a:off x="651438" y="6304061"/>
            <a:ext cx="1325479" cy="70788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이미지</a:t>
            </a:r>
            <a:r>
              <a:rPr lang="en-US" altLang="ko-KR" dirty="0"/>
              <a:t>16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102F91-0E2C-612B-B40B-B5BFFC1B15F6}"/>
              </a:ext>
            </a:extLst>
          </p:cNvPr>
          <p:cNvSpPr txBox="1"/>
          <p:nvPr/>
        </p:nvSpPr>
        <p:spPr>
          <a:xfrm>
            <a:off x="112066" y="7070838"/>
            <a:ext cx="24550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/>
              <a:t>▲벵골 호랑이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B3532B-F805-08B4-4417-AA206D585CE6}"/>
              </a:ext>
            </a:extLst>
          </p:cNvPr>
          <p:cNvSpPr txBox="1"/>
          <p:nvPr/>
        </p:nvSpPr>
        <p:spPr>
          <a:xfrm>
            <a:off x="2567105" y="6986902"/>
            <a:ext cx="18760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/>
              <a:t>▲</a:t>
            </a:r>
            <a:r>
              <a:rPr lang="ko-KR" altLang="en-US" sz="1100" b="1" dirty="0" err="1"/>
              <a:t>강돌고래</a:t>
            </a:r>
            <a:endParaRPr lang="ko-KR" altLang="en-US" sz="11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91AA72-7A13-6922-3564-D8B6FB323F2F}"/>
              </a:ext>
            </a:extLst>
          </p:cNvPr>
          <p:cNvSpPr txBox="1"/>
          <p:nvPr/>
        </p:nvSpPr>
        <p:spPr>
          <a:xfrm>
            <a:off x="5004099" y="7026481"/>
            <a:ext cx="11559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/>
              <a:t>▲</a:t>
            </a:r>
            <a:r>
              <a:rPr lang="ko-KR" altLang="en-US" sz="1100" b="1" dirty="0" err="1"/>
              <a:t>치탈사슴</a:t>
            </a:r>
            <a:endParaRPr lang="ko-KR" altLang="en-US" sz="11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9707B5-80B5-2F73-E8F2-7D23B5FB6391}"/>
              </a:ext>
            </a:extLst>
          </p:cNvPr>
          <p:cNvSpPr txBox="1"/>
          <p:nvPr/>
        </p:nvSpPr>
        <p:spPr>
          <a:xfrm>
            <a:off x="1729841" y="8501040"/>
            <a:ext cx="14356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/>
              <a:t>▲</a:t>
            </a:r>
            <a:r>
              <a:rPr lang="ko-KR" altLang="en-US" sz="1100" b="1" dirty="0" err="1"/>
              <a:t>킹피셔</a:t>
            </a:r>
            <a:r>
              <a:rPr lang="en-US" altLang="ko-KR" sz="1100" b="1" dirty="0"/>
              <a:t>(</a:t>
            </a:r>
            <a:r>
              <a:rPr lang="ko-KR" altLang="en-US" sz="1100" b="1" dirty="0"/>
              <a:t>물총새</a:t>
            </a:r>
            <a:r>
              <a:rPr lang="en-US" altLang="ko-KR" sz="1100" b="1" dirty="0"/>
              <a:t>)</a:t>
            </a:r>
            <a:endParaRPr lang="ko-KR" altLang="en-US" sz="11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73CA8A-9A99-7612-8542-AB70E09132E9}"/>
              </a:ext>
            </a:extLst>
          </p:cNvPr>
          <p:cNvSpPr txBox="1"/>
          <p:nvPr/>
        </p:nvSpPr>
        <p:spPr>
          <a:xfrm>
            <a:off x="3958661" y="8501040"/>
            <a:ext cx="11559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/>
              <a:t>▲</a:t>
            </a:r>
            <a:r>
              <a:rPr lang="ko-KR" altLang="en-US" sz="1100" b="1" dirty="0" err="1"/>
              <a:t>바다악어</a:t>
            </a:r>
            <a:endParaRPr lang="ko-KR" altLang="en-US" sz="1100" b="1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6D041533-8D7D-19D3-91D3-43E6F7044F9D}"/>
              </a:ext>
            </a:extLst>
          </p:cNvPr>
          <p:cNvSpPr/>
          <p:nvPr/>
        </p:nvSpPr>
        <p:spPr>
          <a:xfrm>
            <a:off x="3848483" y="7747443"/>
            <a:ext cx="1325479" cy="70788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이미지</a:t>
            </a:r>
            <a:r>
              <a:rPr lang="en-US" altLang="ko-KR" dirty="0"/>
              <a:t>20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B89E1E36-ABCF-6C7B-191F-D028A1219E74}"/>
              </a:ext>
            </a:extLst>
          </p:cNvPr>
          <p:cNvSpPr/>
          <p:nvPr/>
        </p:nvSpPr>
        <p:spPr>
          <a:xfrm>
            <a:off x="4859968" y="6252778"/>
            <a:ext cx="1325479" cy="70788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이미지</a:t>
            </a:r>
            <a:r>
              <a:rPr lang="en-US" altLang="ko-KR" dirty="0"/>
              <a:t>18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3FBF50A0-AFFB-0DF7-3EF5-F70409B4C6DD}"/>
              </a:ext>
            </a:extLst>
          </p:cNvPr>
          <p:cNvSpPr/>
          <p:nvPr/>
        </p:nvSpPr>
        <p:spPr>
          <a:xfrm>
            <a:off x="1624063" y="7779129"/>
            <a:ext cx="1325479" cy="70788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이미지</a:t>
            </a:r>
            <a:r>
              <a:rPr lang="en-US" altLang="ko-KR" dirty="0"/>
              <a:t>19</a:t>
            </a: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2364F6B9-433C-1DF7-849C-AA5ADF7B692B}"/>
              </a:ext>
            </a:extLst>
          </p:cNvPr>
          <p:cNvSpPr/>
          <p:nvPr/>
        </p:nvSpPr>
        <p:spPr>
          <a:xfrm>
            <a:off x="2807454" y="6252778"/>
            <a:ext cx="1325479" cy="70788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이미지</a:t>
            </a:r>
            <a:r>
              <a:rPr lang="en-US" altLang="ko-KR" dirty="0"/>
              <a:t>17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CDE3F4F-A444-DB58-07AC-F649E4DC32A0}"/>
              </a:ext>
            </a:extLst>
          </p:cNvPr>
          <p:cNvSpPr/>
          <p:nvPr/>
        </p:nvSpPr>
        <p:spPr>
          <a:xfrm>
            <a:off x="1863287" y="1026870"/>
            <a:ext cx="3074275" cy="13696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이미지</a:t>
            </a:r>
            <a:r>
              <a:rPr lang="en-US" altLang="ko-KR" dirty="0"/>
              <a:t>15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34F4719-A194-C468-90DD-4027AB23E85D}"/>
              </a:ext>
            </a:extLst>
          </p:cNvPr>
          <p:cNvSpPr txBox="1"/>
          <p:nvPr/>
        </p:nvSpPr>
        <p:spPr>
          <a:xfrm>
            <a:off x="1976917" y="2471584"/>
            <a:ext cx="3171671" cy="1369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MV </a:t>
            </a:r>
            <a:r>
              <a:rPr lang="en-US" altLang="ko-KR" sz="1400" b="1" dirty="0" err="1"/>
              <a:t>Alsaka</a:t>
            </a:r>
            <a:r>
              <a:rPr lang="en-US" altLang="ko-KR" sz="1400" b="1" dirty="0"/>
              <a:t>(</a:t>
            </a:r>
            <a:r>
              <a:rPr lang="ko-KR" altLang="ko-KR" sz="1400" b="1" dirty="0" err="1"/>
              <a:t>순다르반스</a:t>
            </a:r>
            <a:r>
              <a:rPr lang="ko-KR" altLang="ko-KR" sz="1400" b="1" dirty="0"/>
              <a:t> 크루즈</a:t>
            </a:r>
            <a:r>
              <a:rPr lang="en-US" altLang="ko-KR" sz="1400" b="1" dirty="0"/>
              <a:t>)</a:t>
            </a:r>
            <a:endParaRPr lang="ko-KR" altLang="ko-KR" sz="1400" dirty="0"/>
          </a:p>
          <a:p>
            <a:endParaRPr lang="en-US" altLang="ko-KR" sz="1400" dirty="0"/>
          </a:p>
          <a:p>
            <a:r>
              <a:rPr lang="ko-KR" altLang="en-US" sz="1100" dirty="0"/>
              <a:t>✅중형 리버 크루즈 선박</a:t>
            </a:r>
            <a:endParaRPr lang="en-US" altLang="ko-KR" sz="1100" dirty="0"/>
          </a:p>
          <a:p>
            <a:r>
              <a:rPr lang="ko-KR" altLang="en-US" sz="1100" dirty="0"/>
              <a:t>✅객실 내 전용 욕실</a:t>
            </a:r>
            <a:r>
              <a:rPr lang="en-US" altLang="ko-KR" sz="1100" dirty="0"/>
              <a:t>, </a:t>
            </a:r>
            <a:r>
              <a:rPr lang="ko-KR" altLang="en-US" sz="1100" dirty="0"/>
              <a:t>창문</a:t>
            </a:r>
            <a:r>
              <a:rPr lang="en-US" altLang="ko-KR" sz="1100" dirty="0"/>
              <a:t>, </a:t>
            </a:r>
            <a:r>
              <a:rPr lang="ko-KR" altLang="en-US" sz="1100" dirty="0"/>
              <a:t>침대</a:t>
            </a:r>
            <a:r>
              <a:rPr lang="en-US" altLang="ko-KR" sz="1100" dirty="0"/>
              <a:t>, </a:t>
            </a:r>
            <a:r>
              <a:rPr lang="ko-KR" altLang="en-US" sz="1100" dirty="0"/>
              <a:t>에어컨 구비</a:t>
            </a:r>
            <a:endParaRPr lang="en-US" altLang="ko-KR" sz="1100" dirty="0"/>
          </a:p>
          <a:p>
            <a:r>
              <a:rPr lang="ko-KR" altLang="en-US" sz="1100" dirty="0"/>
              <a:t>✅탑승 인원</a:t>
            </a:r>
            <a:r>
              <a:rPr lang="en-US" altLang="ko-KR" sz="1100" dirty="0"/>
              <a:t>: </a:t>
            </a:r>
            <a:r>
              <a:rPr lang="ko-KR" altLang="en-US" sz="1100" dirty="0"/>
              <a:t>승객 최대 </a:t>
            </a:r>
            <a:r>
              <a:rPr lang="en-US" altLang="ko-KR" sz="1100" dirty="0"/>
              <a:t>75</a:t>
            </a:r>
            <a:r>
              <a:rPr lang="ko-KR" altLang="en-US" sz="1100" dirty="0"/>
              <a:t>명</a:t>
            </a:r>
            <a:endParaRPr lang="en-US" altLang="ko-KR" sz="1100" dirty="0"/>
          </a:p>
          <a:p>
            <a:r>
              <a:rPr lang="ko-KR" altLang="en-US" sz="1100" dirty="0"/>
              <a:t>✅편의시설</a:t>
            </a:r>
            <a:r>
              <a:rPr lang="en-US" altLang="ko-KR" sz="1100" dirty="0"/>
              <a:t>: </a:t>
            </a:r>
            <a:r>
              <a:rPr lang="ko-KR" altLang="en-US" sz="1100" dirty="0" err="1"/>
              <a:t>다이닝</a:t>
            </a:r>
            <a:r>
              <a:rPr lang="en-US" altLang="ko-KR" sz="1100" dirty="0"/>
              <a:t>, </a:t>
            </a:r>
            <a:r>
              <a:rPr lang="ko-KR" altLang="en-US" sz="1100" dirty="0"/>
              <a:t>실내 라운지</a:t>
            </a:r>
            <a:r>
              <a:rPr lang="en-US" altLang="ko-KR" sz="1100" dirty="0"/>
              <a:t>, </a:t>
            </a:r>
            <a:r>
              <a:rPr lang="ko-KR" altLang="en-US" sz="1100" dirty="0"/>
              <a:t>오픈 </a:t>
            </a:r>
            <a:r>
              <a:rPr lang="ko-KR" altLang="en-US" sz="1100" dirty="0" err="1"/>
              <a:t>데크</a:t>
            </a:r>
            <a:r>
              <a:rPr lang="ko-KR" altLang="en-US" sz="1100" dirty="0"/>
              <a:t> 등</a:t>
            </a:r>
            <a:endParaRPr lang="en-US" altLang="ko-KR" sz="1100" dirty="0"/>
          </a:p>
          <a:p>
            <a:r>
              <a:rPr lang="ko-KR" altLang="en-US" sz="1100" dirty="0"/>
              <a:t>✅소형 탐사 보트를 이용한 수로 생태 탐방 </a:t>
            </a:r>
            <a:endParaRPr lang="en-US" altLang="ko-KR" sz="1100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4FDD1B8-4B3A-6EDD-4F68-0910C37AD79A}"/>
              </a:ext>
            </a:extLst>
          </p:cNvPr>
          <p:cNvSpPr/>
          <p:nvPr/>
        </p:nvSpPr>
        <p:spPr>
          <a:xfrm>
            <a:off x="4625211" y="4300071"/>
            <a:ext cx="2002463" cy="5522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이미지</a:t>
            </a:r>
            <a:r>
              <a:rPr lang="en-US" altLang="ko-KR" dirty="0"/>
              <a:t>15-3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92241B0-68C5-AF33-2F94-4B039E9F1BD3}"/>
              </a:ext>
            </a:extLst>
          </p:cNvPr>
          <p:cNvSpPr/>
          <p:nvPr/>
        </p:nvSpPr>
        <p:spPr>
          <a:xfrm>
            <a:off x="2419727" y="4297475"/>
            <a:ext cx="2002463" cy="5197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이미지</a:t>
            </a:r>
            <a:r>
              <a:rPr lang="en-US" altLang="ko-KR" dirty="0"/>
              <a:t>15-2</a:t>
            </a:r>
            <a:endParaRPr lang="ko-KR" altLang="en-US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86EAED3-C398-8047-84FF-85DEC714108E}"/>
              </a:ext>
            </a:extLst>
          </p:cNvPr>
          <p:cNvSpPr/>
          <p:nvPr/>
        </p:nvSpPr>
        <p:spPr>
          <a:xfrm>
            <a:off x="230328" y="4307883"/>
            <a:ext cx="2002463" cy="5197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이미지</a:t>
            </a:r>
            <a:r>
              <a:rPr lang="en-US" altLang="ko-KR" dirty="0"/>
              <a:t>15-1</a:t>
            </a:r>
            <a:endParaRPr lang="ko-KR" alt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0D8B9CC-7F81-8C13-EFEF-9EA5B0020A3A}"/>
              </a:ext>
            </a:extLst>
          </p:cNvPr>
          <p:cNvSpPr txBox="1"/>
          <p:nvPr/>
        </p:nvSpPr>
        <p:spPr>
          <a:xfrm>
            <a:off x="1199172" y="338718"/>
            <a:ext cx="4266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/>
              <a:t>자연과 더 가깝게</a:t>
            </a:r>
            <a:r>
              <a:rPr lang="en-US" altLang="ko-KR" sz="1400" b="1" dirty="0"/>
              <a:t>!</a:t>
            </a:r>
          </a:p>
          <a:p>
            <a:pPr algn="ctr"/>
            <a:r>
              <a:rPr lang="ko-KR" altLang="en-US" sz="1400" b="1" dirty="0" err="1"/>
              <a:t>크루즈에서</a:t>
            </a:r>
            <a:r>
              <a:rPr lang="ko-KR" altLang="en-US" sz="1400" b="1" dirty="0"/>
              <a:t> 여유롭게 즐기는 </a:t>
            </a:r>
            <a:r>
              <a:rPr lang="en-US" altLang="ko-KR" sz="1400" b="1" dirty="0"/>
              <a:t>2</a:t>
            </a:r>
            <a:r>
              <a:rPr lang="ko-KR" altLang="en-US" sz="1400" b="1" dirty="0"/>
              <a:t>박</a:t>
            </a:r>
            <a:endParaRPr lang="ko-KR" altLang="en-US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2A4A0C9A-C001-C9DC-FDFF-9F261F16233D}"/>
              </a:ext>
            </a:extLst>
          </p:cNvPr>
          <p:cNvSpPr/>
          <p:nvPr/>
        </p:nvSpPr>
        <p:spPr>
          <a:xfrm>
            <a:off x="58841" y="46946"/>
            <a:ext cx="6724236" cy="517294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48948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82919E43-98DB-5F42-D01B-D27E4BF3F071}"/>
              </a:ext>
            </a:extLst>
          </p:cNvPr>
          <p:cNvSpPr/>
          <p:nvPr/>
        </p:nvSpPr>
        <p:spPr>
          <a:xfrm>
            <a:off x="58004" y="3455329"/>
            <a:ext cx="6724236" cy="447148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CE46ADC-28FD-CA7F-7EEA-96F5BA1DE4A2}"/>
              </a:ext>
            </a:extLst>
          </p:cNvPr>
          <p:cNvSpPr/>
          <p:nvPr/>
        </p:nvSpPr>
        <p:spPr>
          <a:xfrm>
            <a:off x="66882" y="7926819"/>
            <a:ext cx="6724236" cy="113295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BA7454-3121-910B-204F-3DACA6AC0DCB}"/>
              </a:ext>
            </a:extLst>
          </p:cNvPr>
          <p:cNvSpPr txBox="1"/>
          <p:nvPr/>
        </p:nvSpPr>
        <p:spPr>
          <a:xfrm>
            <a:off x="550358" y="8320225"/>
            <a:ext cx="57485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i="1" dirty="0"/>
              <a:t>남아시아의 마지막 퍼즐</a:t>
            </a:r>
            <a:r>
              <a:rPr lang="en-US" altLang="ko-KR" sz="1600" i="1" dirty="0"/>
              <a:t>,</a:t>
            </a:r>
          </a:p>
          <a:p>
            <a:pPr algn="ctr"/>
            <a:r>
              <a:rPr lang="ko-KR" altLang="en-US" sz="1600" i="1" dirty="0"/>
              <a:t>혜초와 함께 방글라데시로 떠나보세요</a:t>
            </a:r>
            <a:r>
              <a:rPr lang="en-US" altLang="ko-KR" sz="1600" i="1" dirty="0"/>
              <a:t>!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65BFC7-676A-0857-B18E-F3D244DA40EE}"/>
              </a:ext>
            </a:extLst>
          </p:cNvPr>
          <p:cNvSpPr txBox="1"/>
          <p:nvPr/>
        </p:nvSpPr>
        <p:spPr>
          <a:xfrm>
            <a:off x="1039362" y="3709858"/>
            <a:ext cx="47815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/>
              <a:t>경험의 차이</a:t>
            </a:r>
            <a:r>
              <a:rPr lang="en-US" altLang="ko-KR" sz="1400" b="1" dirty="0"/>
              <a:t>!</a:t>
            </a:r>
            <a:r>
              <a:rPr lang="ko-KR" altLang="en-US" sz="1400" b="1" dirty="0"/>
              <a:t> 혜초만의 특별함 </a:t>
            </a:r>
            <a:r>
              <a:rPr lang="en-US" altLang="ko-KR" sz="1400" b="1" dirty="0"/>
              <a:t>5</a:t>
            </a:r>
            <a:r>
              <a:rPr lang="ko-KR" altLang="en-US" sz="1400" b="1" dirty="0"/>
              <a:t>가지</a:t>
            </a:r>
            <a:endParaRPr lang="en-US" altLang="ko-KR" sz="1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C35F90-D693-6260-07FB-2B1E1F46F65C}"/>
              </a:ext>
            </a:extLst>
          </p:cNvPr>
          <p:cNvSpPr txBox="1"/>
          <p:nvPr/>
        </p:nvSpPr>
        <p:spPr>
          <a:xfrm>
            <a:off x="4537444" y="4864189"/>
            <a:ext cx="1715267" cy="10387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b="1" dirty="0"/>
              <a:t>혜초 인솔자</a:t>
            </a:r>
            <a:endParaRPr lang="en-US" altLang="ko-KR" sz="1050" b="1" dirty="0"/>
          </a:p>
          <a:p>
            <a:pPr algn="ctr"/>
            <a:r>
              <a:rPr lang="ko-KR" altLang="en-US" sz="1050" b="1" dirty="0"/>
              <a:t>전 일정 동행</a:t>
            </a:r>
            <a:br>
              <a:rPr lang="ko-KR" altLang="en-US" sz="1050" b="1" dirty="0"/>
            </a:br>
            <a:endParaRPr lang="en-US" altLang="ko-KR" sz="1050" b="1" dirty="0"/>
          </a:p>
          <a:p>
            <a:pPr algn="ctr"/>
            <a:r>
              <a:rPr lang="ko-KR" altLang="en-US" sz="1000" dirty="0"/>
              <a:t>전문성이 검증된</a:t>
            </a:r>
            <a:endParaRPr lang="en-US" altLang="ko-KR" sz="1000" dirty="0"/>
          </a:p>
          <a:p>
            <a:pPr algn="ctr"/>
            <a:r>
              <a:rPr lang="ko-KR" altLang="en-US" sz="1000" dirty="0"/>
              <a:t>현지 가이드 및</a:t>
            </a:r>
            <a:endParaRPr lang="en-US" altLang="ko-KR" sz="1000" dirty="0"/>
          </a:p>
          <a:p>
            <a:pPr algn="ctr"/>
            <a:r>
              <a:rPr lang="ko-KR" altLang="en-US" sz="1000" dirty="0"/>
              <a:t>혜초 인솔자의 든든한 동행</a:t>
            </a:r>
            <a:endParaRPr lang="en-US" altLang="ko-KR" sz="1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9FAF95-6451-7B56-8652-B652A57849CC}"/>
              </a:ext>
            </a:extLst>
          </p:cNvPr>
          <p:cNvSpPr txBox="1"/>
          <p:nvPr/>
        </p:nvSpPr>
        <p:spPr>
          <a:xfrm>
            <a:off x="1377383" y="6645788"/>
            <a:ext cx="2162350" cy="10387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b="1" dirty="0"/>
              <a:t>다채롭고</a:t>
            </a:r>
            <a:endParaRPr lang="en-US" altLang="ko-KR" sz="1050" b="1" dirty="0"/>
          </a:p>
          <a:p>
            <a:pPr algn="ctr"/>
            <a:r>
              <a:rPr lang="ko-KR" altLang="en-US" sz="1050" b="1" dirty="0"/>
              <a:t>깊이 있는 여정</a:t>
            </a:r>
            <a:endParaRPr lang="en-US" altLang="ko-KR" sz="1050" b="1" dirty="0"/>
          </a:p>
          <a:p>
            <a:pPr algn="ctr"/>
            <a:endParaRPr lang="en-US" altLang="ko-KR" sz="1050" b="1" dirty="0"/>
          </a:p>
          <a:p>
            <a:pPr algn="ctr"/>
            <a:r>
              <a:rPr lang="ko-KR" altLang="en-US" sz="1000" dirty="0"/>
              <a:t>유네스코 세계유산부터</a:t>
            </a:r>
            <a:endParaRPr lang="en-US" altLang="ko-KR" sz="1000" dirty="0"/>
          </a:p>
          <a:p>
            <a:pPr algn="ctr"/>
            <a:r>
              <a:rPr lang="ko-KR" altLang="en-US" sz="1000" dirty="0" err="1"/>
              <a:t>순다르반스</a:t>
            </a:r>
            <a:r>
              <a:rPr lang="ko-KR" altLang="en-US" sz="1000" dirty="0"/>
              <a:t> 크루즈  생태 탐방까지</a:t>
            </a:r>
            <a:endParaRPr lang="en-US" altLang="ko-KR" sz="1000" dirty="0"/>
          </a:p>
          <a:p>
            <a:pPr algn="ctr"/>
            <a:r>
              <a:rPr lang="ko-KR" altLang="en-US" sz="1000" dirty="0"/>
              <a:t>알차게 담은 일정</a:t>
            </a:r>
            <a:endParaRPr lang="en-US" altLang="ko-KR" sz="1000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2384E0E-5972-2628-764B-BD2474955932}"/>
              </a:ext>
            </a:extLst>
          </p:cNvPr>
          <p:cNvSpPr/>
          <p:nvPr/>
        </p:nvSpPr>
        <p:spPr>
          <a:xfrm>
            <a:off x="1984463" y="6000057"/>
            <a:ext cx="948191" cy="59202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벡터이미지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5EF7CEC-BBB4-3F73-9D28-743B7D6A5100}"/>
              </a:ext>
            </a:extLst>
          </p:cNvPr>
          <p:cNvSpPr/>
          <p:nvPr/>
        </p:nvSpPr>
        <p:spPr>
          <a:xfrm>
            <a:off x="4920983" y="4272163"/>
            <a:ext cx="948191" cy="59202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벡터이미지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CAFAD99-7D29-84D1-6F2C-B415B82C150C}"/>
              </a:ext>
            </a:extLst>
          </p:cNvPr>
          <p:cNvSpPr txBox="1"/>
          <p:nvPr/>
        </p:nvSpPr>
        <p:spPr>
          <a:xfrm>
            <a:off x="2744875" y="4905780"/>
            <a:ext cx="1485900" cy="8694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b="1" dirty="0"/>
              <a:t>최적의 항공 동선</a:t>
            </a:r>
            <a:endParaRPr lang="en-US" altLang="ko-KR" sz="1050" b="1" dirty="0"/>
          </a:p>
          <a:p>
            <a:pPr algn="ctr"/>
            <a:endParaRPr lang="en-US" altLang="ko-KR" sz="1000" dirty="0"/>
          </a:p>
          <a:p>
            <a:pPr algn="ctr"/>
            <a:r>
              <a:rPr lang="ko-KR" altLang="en-US" sz="1000" dirty="0"/>
              <a:t>다카 </a:t>
            </a:r>
            <a:r>
              <a:rPr lang="en-US" altLang="ko-KR" sz="1000" dirty="0"/>
              <a:t>IN-OUT</a:t>
            </a:r>
          </a:p>
          <a:p>
            <a:pPr algn="ctr"/>
            <a:r>
              <a:rPr lang="en-US" altLang="ko-KR" sz="1000" dirty="0"/>
              <a:t>(</a:t>
            </a:r>
            <a:r>
              <a:rPr lang="ko-KR" altLang="en-US" sz="1000" dirty="0"/>
              <a:t>싱가포르 경유</a:t>
            </a:r>
            <a:r>
              <a:rPr lang="en-US" altLang="ko-KR" sz="1000" dirty="0"/>
              <a:t>)</a:t>
            </a:r>
          </a:p>
          <a:p>
            <a:pPr algn="ctr"/>
            <a:r>
              <a:rPr lang="ko-KR" altLang="en-US" sz="1000" dirty="0"/>
              <a:t>국내선 </a:t>
            </a:r>
            <a:r>
              <a:rPr lang="en-US" altLang="ko-KR" sz="1000" dirty="0"/>
              <a:t>1</a:t>
            </a:r>
            <a:r>
              <a:rPr lang="ko-KR" altLang="en-US" sz="1000" dirty="0"/>
              <a:t>회 이용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C954C01-BF8E-254E-7101-C0C05E4DFB25}"/>
              </a:ext>
            </a:extLst>
          </p:cNvPr>
          <p:cNvSpPr/>
          <p:nvPr/>
        </p:nvSpPr>
        <p:spPr>
          <a:xfrm>
            <a:off x="3013730" y="4292797"/>
            <a:ext cx="948191" cy="59202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벡터이미지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760CA9B-1AD6-867B-22A1-D1536C5BCBE6}"/>
              </a:ext>
            </a:extLst>
          </p:cNvPr>
          <p:cNvSpPr txBox="1"/>
          <p:nvPr/>
        </p:nvSpPr>
        <p:spPr>
          <a:xfrm>
            <a:off x="3681009" y="6592083"/>
            <a:ext cx="1659013" cy="10387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b="1" dirty="0"/>
              <a:t>전 일정</a:t>
            </a:r>
            <a:endParaRPr lang="en-US" altLang="ko-KR" sz="1050" b="1" dirty="0"/>
          </a:p>
          <a:p>
            <a:pPr algn="ctr"/>
            <a:r>
              <a:rPr lang="ko-KR" altLang="en-US" sz="1050" b="1" dirty="0" err="1"/>
              <a:t>노쇼핑</a:t>
            </a:r>
            <a:r>
              <a:rPr lang="en-US" altLang="ko-KR" sz="1050" b="1" dirty="0"/>
              <a:t>/</a:t>
            </a:r>
            <a:r>
              <a:rPr lang="ko-KR" altLang="en-US" sz="1050" b="1" dirty="0" err="1"/>
              <a:t>노옵션</a:t>
            </a:r>
            <a:br>
              <a:rPr lang="ko-KR" altLang="en-US" sz="1050" b="1" dirty="0"/>
            </a:br>
            <a:endParaRPr lang="en-US" altLang="ko-KR" sz="1050" b="1" dirty="0"/>
          </a:p>
          <a:p>
            <a:pPr algn="ctr"/>
            <a:r>
              <a:rPr lang="ko-KR" altLang="en-US" sz="1000" dirty="0"/>
              <a:t>불필요한 시간을 없애고</a:t>
            </a:r>
            <a:endParaRPr lang="en-US" altLang="ko-KR" sz="1000" dirty="0"/>
          </a:p>
          <a:p>
            <a:pPr algn="ctr"/>
            <a:r>
              <a:rPr lang="ko-KR" altLang="en-US" sz="1000" dirty="0"/>
              <a:t>오롯이 여행에 집중한</a:t>
            </a:r>
            <a:endParaRPr lang="en-US" altLang="ko-KR" sz="1000" dirty="0"/>
          </a:p>
          <a:p>
            <a:pPr algn="ctr"/>
            <a:r>
              <a:rPr lang="ko-KR" altLang="en-US" sz="1000" dirty="0"/>
              <a:t>프로그램</a:t>
            </a:r>
            <a:endParaRPr lang="en-US" altLang="ko-KR" sz="1000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2F7B719-31A2-E7B8-1275-56E6BFEEE839}"/>
              </a:ext>
            </a:extLst>
          </p:cNvPr>
          <p:cNvSpPr/>
          <p:nvPr/>
        </p:nvSpPr>
        <p:spPr>
          <a:xfrm>
            <a:off x="4044309" y="6013590"/>
            <a:ext cx="948191" cy="59202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벡터이미지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5AB01C-D99C-4E2B-BBBA-817B5B810A8E}"/>
              </a:ext>
            </a:extLst>
          </p:cNvPr>
          <p:cNvSpPr txBox="1"/>
          <p:nvPr/>
        </p:nvSpPr>
        <p:spPr>
          <a:xfrm>
            <a:off x="131696" y="595634"/>
            <a:ext cx="659460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u="sng" dirty="0"/>
              <a:t>가장 좋은 시기는 </a:t>
            </a:r>
            <a:r>
              <a:rPr lang="en-US" altLang="ko-KR" sz="1100" b="1" u="sng" dirty="0"/>
              <a:t>11</a:t>
            </a:r>
            <a:r>
              <a:rPr lang="ko-KR" altLang="en-US" sz="1100" b="1" u="sng" dirty="0"/>
              <a:t>월부터 </a:t>
            </a:r>
            <a:r>
              <a:rPr lang="en-US" altLang="ko-KR" sz="1100" b="1" u="sng" dirty="0"/>
              <a:t>2</a:t>
            </a:r>
            <a:r>
              <a:rPr lang="ko-KR" altLang="en-US" sz="1100" b="1" u="sng" dirty="0"/>
              <a:t>월까지</a:t>
            </a:r>
            <a:r>
              <a:rPr lang="en-US" altLang="ko-KR" sz="1100" dirty="0"/>
              <a:t>! </a:t>
            </a:r>
          </a:p>
          <a:p>
            <a:pPr algn="ctr"/>
            <a:endParaRPr lang="en-US" altLang="ko-KR" sz="1100" dirty="0"/>
          </a:p>
          <a:p>
            <a:pPr algn="ctr"/>
            <a:r>
              <a:rPr lang="ko-KR" altLang="en-US" sz="1100" dirty="0"/>
              <a:t>열대 몬순 기후로 건기</a:t>
            </a:r>
            <a:r>
              <a:rPr lang="en-US" altLang="ko-KR" sz="1100" dirty="0"/>
              <a:t>(11~2</a:t>
            </a:r>
            <a:r>
              <a:rPr lang="ko-KR" altLang="en-US" sz="1100" dirty="0"/>
              <a:t>월</a:t>
            </a:r>
            <a:r>
              <a:rPr lang="en-US" altLang="ko-KR" sz="1100" dirty="0"/>
              <a:t>)</a:t>
            </a:r>
            <a:r>
              <a:rPr lang="ko-KR" altLang="en-US" sz="1100" dirty="0"/>
              <a:t>와 우기</a:t>
            </a:r>
            <a:r>
              <a:rPr lang="en-US" altLang="ko-KR" sz="1100" dirty="0"/>
              <a:t>(6~10</a:t>
            </a:r>
            <a:r>
              <a:rPr lang="ko-KR" altLang="en-US" sz="1100" dirty="0"/>
              <a:t>월</a:t>
            </a:r>
            <a:r>
              <a:rPr lang="en-US" altLang="ko-KR" sz="1100" dirty="0"/>
              <a:t>)</a:t>
            </a:r>
            <a:r>
              <a:rPr lang="ko-KR" altLang="en-US" sz="1100" dirty="0"/>
              <a:t>가 뚜렷하게 구분됩니다</a:t>
            </a:r>
            <a:r>
              <a:rPr lang="en-US" altLang="ko-KR" sz="1100" dirty="0"/>
              <a:t>.</a:t>
            </a:r>
          </a:p>
          <a:p>
            <a:pPr algn="ctr"/>
            <a:r>
              <a:rPr lang="ko-KR" altLang="en-US" sz="1100" dirty="0"/>
              <a:t>건기에는 다카를 비롯한 내륙 지역의 낮 기온이 </a:t>
            </a:r>
            <a:r>
              <a:rPr lang="ko-KR" altLang="en-US" sz="1100" b="1" dirty="0"/>
              <a:t>약 </a:t>
            </a:r>
            <a:r>
              <a:rPr lang="en-US" altLang="ko-KR" sz="1100" b="1" dirty="0"/>
              <a:t>20~29</a:t>
            </a:r>
            <a:r>
              <a:rPr lang="ko-KR" altLang="en-US" sz="1100" b="1" dirty="0"/>
              <a:t>도</a:t>
            </a:r>
            <a:r>
              <a:rPr lang="ko-KR" altLang="en-US" sz="1100" dirty="0"/>
              <a:t>로 </a:t>
            </a:r>
            <a:endParaRPr lang="en-US" altLang="ko-KR" sz="1100" dirty="0"/>
          </a:p>
          <a:p>
            <a:pPr algn="ctr"/>
            <a:r>
              <a:rPr lang="ko-KR" altLang="en-US" sz="1100" dirty="0"/>
              <a:t>습도와 기온이 낮아 여행 일정 소화에 부담이 적은 편입니다</a:t>
            </a:r>
            <a:r>
              <a:rPr lang="en-US" altLang="ko-KR" sz="1100" dirty="0"/>
              <a:t>.</a:t>
            </a:r>
          </a:p>
          <a:p>
            <a:pPr algn="ctr"/>
            <a:endParaRPr lang="en-US" altLang="ko-KR" sz="1100" dirty="0"/>
          </a:p>
          <a:p>
            <a:pPr algn="ctr"/>
            <a:r>
              <a:rPr lang="ko-KR" altLang="en-US" sz="1100" dirty="0"/>
              <a:t>특히 </a:t>
            </a:r>
            <a:r>
              <a:rPr lang="ko-KR" altLang="en-US" sz="1100" dirty="0" err="1"/>
              <a:t>맹그로브</a:t>
            </a:r>
            <a:r>
              <a:rPr lang="ko-KR" altLang="en-US" sz="1100" dirty="0"/>
              <a:t> 숲 크루즈 일정은 수위와 날씨 영향을 크게 받기 때문에</a:t>
            </a:r>
            <a:endParaRPr lang="en-US" altLang="ko-KR" sz="1100" dirty="0"/>
          </a:p>
          <a:p>
            <a:pPr algn="ctr"/>
            <a:r>
              <a:rPr lang="ko-KR" altLang="en-US" sz="1100" dirty="0"/>
              <a:t>건기에 보다 안정적으로 운영됩니다</a:t>
            </a:r>
            <a:r>
              <a:rPr lang="en-US" altLang="ko-KR" sz="1100" dirty="0"/>
              <a:t>. 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3795A8B-651B-2402-7B4B-58B9E090F81C}"/>
              </a:ext>
            </a:extLst>
          </p:cNvPr>
          <p:cNvSpPr/>
          <p:nvPr/>
        </p:nvSpPr>
        <p:spPr>
          <a:xfrm>
            <a:off x="58126" y="49683"/>
            <a:ext cx="6732992" cy="3405646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52F56D-8078-7C9C-63C7-EC7E61F50623}"/>
              </a:ext>
            </a:extLst>
          </p:cNvPr>
          <p:cNvSpPr txBox="1"/>
          <p:nvPr/>
        </p:nvSpPr>
        <p:spPr>
          <a:xfrm>
            <a:off x="550358" y="4950115"/>
            <a:ext cx="1868255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b="1" dirty="0"/>
              <a:t>국내 유일 코스</a:t>
            </a:r>
            <a:endParaRPr lang="en-US" altLang="ko-KR" sz="1050" b="1" dirty="0"/>
          </a:p>
          <a:p>
            <a:pPr algn="ctr"/>
            <a:endParaRPr lang="en-US" altLang="ko-KR" sz="1050" b="1" dirty="0"/>
          </a:p>
          <a:p>
            <a:pPr algn="ctr"/>
            <a:r>
              <a:rPr lang="ko-KR" altLang="en-US" sz="1000" dirty="0"/>
              <a:t>혜초만의 시선으로 담아낸</a:t>
            </a:r>
            <a:r>
              <a:rPr lang="en-US" altLang="ko-KR" sz="1000" dirty="0"/>
              <a:t>, </a:t>
            </a:r>
            <a:r>
              <a:rPr lang="ko-KR" altLang="en-US" sz="1000" dirty="0"/>
              <a:t>방글라데시 문화</a:t>
            </a:r>
            <a:r>
              <a:rPr lang="en-US" altLang="ko-KR" sz="1000" dirty="0"/>
              <a:t>·</a:t>
            </a:r>
            <a:r>
              <a:rPr lang="ko-KR" altLang="en-US" sz="1000" dirty="0"/>
              <a:t>역사 탐방의 진정한 매력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8EBE410-C1A5-B0B0-E63D-61ADD0FDE133}"/>
              </a:ext>
            </a:extLst>
          </p:cNvPr>
          <p:cNvSpPr/>
          <p:nvPr/>
        </p:nvSpPr>
        <p:spPr>
          <a:xfrm>
            <a:off x="1010392" y="4292797"/>
            <a:ext cx="948191" cy="59202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벡터이미지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577E3F9D-9038-9376-6591-670041F512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2794794"/>
              </p:ext>
            </p:extLst>
          </p:nvPr>
        </p:nvGraphicFramePr>
        <p:xfrm>
          <a:off x="785875" y="2374693"/>
          <a:ext cx="5591993" cy="106104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17744">
                  <a:extLst>
                    <a:ext uri="{9D8B030D-6E8A-4147-A177-3AD203B41FA5}">
                      <a16:colId xmlns:a16="http://schemas.microsoft.com/office/drawing/2014/main" val="496840780"/>
                    </a:ext>
                  </a:extLst>
                </a:gridCol>
                <a:gridCol w="398067">
                  <a:extLst>
                    <a:ext uri="{9D8B030D-6E8A-4147-A177-3AD203B41FA5}">
                      <a16:colId xmlns:a16="http://schemas.microsoft.com/office/drawing/2014/main" val="454388445"/>
                    </a:ext>
                  </a:extLst>
                </a:gridCol>
                <a:gridCol w="397556">
                  <a:extLst>
                    <a:ext uri="{9D8B030D-6E8A-4147-A177-3AD203B41FA5}">
                      <a16:colId xmlns:a16="http://schemas.microsoft.com/office/drawing/2014/main" val="2616933950"/>
                    </a:ext>
                  </a:extLst>
                </a:gridCol>
                <a:gridCol w="398067">
                  <a:extLst>
                    <a:ext uri="{9D8B030D-6E8A-4147-A177-3AD203B41FA5}">
                      <a16:colId xmlns:a16="http://schemas.microsoft.com/office/drawing/2014/main" val="2030952035"/>
                    </a:ext>
                  </a:extLst>
                </a:gridCol>
                <a:gridCol w="397556">
                  <a:extLst>
                    <a:ext uri="{9D8B030D-6E8A-4147-A177-3AD203B41FA5}">
                      <a16:colId xmlns:a16="http://schemas.microsoft.com/office/drawing/2014/main" val="1578815774"/>
                    </a:ext>
                  </a:extLst>
                </a:gridCol>
                <a:gridCol w="397556">
                  <a:extLst>
                    <a:ext uri="{9D8B030D-6E8A-4147-A177-3AD203B41FA5}">
                      <a16:colId xmlns:a16="http://schemas.microsoft.com/office/drawing/2014/main" val="3157929996"/>
                    </a:ext>
                  </a:extLst>
                </a:gridCol>
                <a:gridCol w="398067">
                  <a:extLst>
                    <a:ext uri="{9D8B030D-6E8A-4147-A177-3AD203B41FA5}">
                      <a16:colId xmlns:a16="http://schemas.microsoft.com/office/drawing/2014/main" val="1071401581"/>
                    </a:ext>
                  </a:extLst>
                </a:gridCol>
                <a:gridCol w="397556">
                  <a:extLst>
                    <a:ext uri="{9D8B030D-6E8A-4147-A177-3AD203B41FA5}">
                      <a16:colId xmlns:a16="http://schemas.microsoft.com/office/drawing/2014/main" val="3394886717"/>
                    </a:ext>
                  </a:extLst>
                </a:gridCol>
                <a:gridCol w="398067">
                  <a:extLst>
                    <a:ext uri="{9D8B030D-6E8A-4147-A177-3AD203B41FA5}">
                      <a16:colId xmlns:a16="http://schemas.microsoft.com/office/drawing/2014/main" val="1647420789"/>
                    </a:ext>
                  </a:extLst>
                </a:gridCol>
                <a:gridCol w="397556">
                  <a:extLst>
                    <a:ext uri="{9D8B030D-6E8A-4147-A177-3AD203B41FA5}">
                      <a16:colId xmlns:a16="http://schemas.microsoft.com/office/drawing/2014/main" val="3902158630"/>
                    </a:ext>
                  </a:extLst>
                </a:gridCol>
                <a:gridCol w="398067">
                  <a:extLst>
                    <a:ext uri="{9D8B030D-6E8A-4147-A177-3AD203B41FA5}">
                      <a16:colId xmlns:a16="http://schemas.microsoft.com/office/drawing/2014/main" val="1520603787"/>
                    </a:ext>
                  </a:extLst>
                </a:gridCol>
                <a:gridCol w="398067">
                  <a:extLst>
                    <a:ext uri="{9D8B030D-6E8A-4147-A177-3AD203B41FA5}">
                      <a16:colId xmlns:a16="http://schemas.microsoft.com/office/drawing/2014/main" val="2862143662"/>
                    </a:ext>
                  </a:extLst>
                </a:gridCol>
                <a:gridCol w="398067">
                  <a:extLst>
                    <a:ext uri="{9D8B030D-6E8A-4147-A177-3AD203B41FA5}">
                      <a16:colId xmlns:a16="http://schemas.microsoft.com/office/drawing/2014/main" val="7697829"/>
                    </a:ext>
                  </a:extLst>
                </a:gridCol>
              </a:tblGrid>
              <a:tr h="20025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ko-KR" sz="900" kern="100">
                          <a:effectLst/>
                        </a:rPr>
                        <a:t>다카</a:t>
                      </a:r>
                      <a:endParaRPr lang="ko-KR" sz="9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1096" marR="61096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kern="100">
                          <a:effectLst/>
                        </a:rPr>
                        <a:t>3</a:t>
                      </a:r>
                      <a:r>
                        <a:rPr lang="ko-KR" sz="900" kern="100">
                          <a:effectLst/>
                        </a:rPr>
                        <a:t>월</a:t>
                      </a:r>
                      <a:endParaRPr lang="ko-KR" sz="9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1096" marR="61096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kern="100">
                          <a:effectLst/>
                        </a:rPr>
                        <a:t>4</a:t>
                      </a:r>
                      <a:r>
                        <a:rPr lang="ko-KR" sz="900" kern="100">
                          <a:effectLst/>
                        </a:rPr>
                        <a:t>월</a:t>
                      </a:r>
                      <a:endParaRPr lang="ko-KR" sz="9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1096" marR="61096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kern="100">
                          <a:effectLst/>
                        </a:rPr>
                        <a:t>5</a:t>
                      </a:r>
                      <a:r>
                        <a:rPr lang="ko-KR" sz="900" kern="100">
                          <a:effectLst/>
                        </a:rPr>
                        <a:t>월</a:t>
                      </a:r>
                      <a:endParaRPr lang="ko-KR" sz="9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1096" marR="61096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kern="100">
                          <a:effectLst/>
                        </a:rPr>
                        <a:t>6</a:t>
                      </a:r>
                      <a:r>
                        <a:rPr lang="ko-KR" sz="900" kern="100">
                          <a:effectLst/>
                        </a:rPr>
                        <a:t>월</a:t>
                      </a:r>
                      <a:endParaRPr lang="ko-KR" sz="9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1096" marR="61096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kern="100">
                          <a:effectLst/>
                        </a:rPr>
                        <a:t>7</a:t>
                      </a:r>
                      <a:r>
                        <a:rPr lang="ko-KR" sz="900" kern="100">
                          <a:effectLst/>
                        </a:rPr>
                        <a:t>월</a:t>
                      </a:r>
                      <a:endParaRPr lang="ko-KR" sz="9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1096" marR="61096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kern="100">
                          <a:effectLst/>
                        </a:rPr>
                        <a:t>8</a:t>
                      </a:r>
                      <a:r>
                        <a:rPr lang="ko-KR" sz="900" kern="100">
                          <a:effectLst/>
                        </a:rPr>
                        <a:t>월</a:t>
                      </a:r>
                      <a:endParaRPr lang="ko-KR" sz="9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1096" marR="61096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kern="100">
                          <a:effectLst/>
                        </a:rPr>
                        <a:t>9</a:t>
                      </a:r>
                      <a:r>
                        <a:rPr lang="ko-KR" sz="900" kern="100">
                          <a:effectLst/>
                        </a:rPr>
                        <a:t>월</a:t>
                      </a:r>
                      <a:endParaRPr lang="ko-KR" sz="9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1096" marR="61096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kern="100">
                          <a:effectLst/>
                        </a:rPr>
                        <a:t>10</a:t>
                      </a:r>
                      <a:r>
                        <a:rPr lang="ko-KR" sz="900" kern="100">
                          <a:effectLst/>
                        </a:rPr>
                        <a:t>월</a:t>
                      </a:r>
                      <a:endParaRPr lang="ko-KR" sz="9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1096" marR="61096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kern="100" dirty="0">
                          <a:solidFill>
                            <a:schemeClr val="bg1"/>
                          </a:solidFill>
                          <a:effectLst/>
                        </a:rPr>
                        <a:t>11</a:t>
                      </a:r>
                      <a:r>
                        <a:rPr lang="ko-KR" sz="900" kern="100" dirty="0">
                          <a:solidFill>
                            <a:schemeClr val="bg1"/>
                          </a:solidFill>
                          <a:effectLst/>
                        </a:rPr>
                        <a:t>월</a:t>
                      </a:r>
                      <a:endParaRPr lang="ko-KR" sz="9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1096" marR="61096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kern="100" dirty="0">
                          <a:solidFill>
                            <a:schemeClr val="bg1"/>
                          </a:solidFill>
                          <a:effectLst/>
                        </a:rPr>
                        <a:t>12</a:t>
                      </a:r>
                      <a:r>
                        <a:rPr lang="ko-KR" sz="900" kern="100" dirty="0">
                          <a:solidFill>
                            <a:schemeClr val="bg1"/>
                          </a:solidFill>
                          <a:effectLst/>
                        </a:rPr>
                        <a:t>월</a:t>
                      </a:r>
                      <a:endParaRPr lang="ko-KR" sz="9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1096" marR="61096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kern="100" dirty="0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  <a:r>
                        <a:rPr lang="ko-KR" sz="900" kern="100" dirty="0">
                          <a:solidFill>
                            <a:schemeClr val="bg1"/>
                          </a:solidFill>
                          <a:effectLst/>
                        </a:rPr>
                        <a:t>월</a:t>
                      </a:r>
                      <a:endParaRPr lang="ko-KR" sz="9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1096" marR="61096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kern="100" dirty="0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  <a:r>
                        <a:rPr lang="ko-KR" sz="900" kern="100" dirty="0">
                          <a:solidFill>
                            <a:schemeClr val="bg1"/>
                          </a:solidFill>
                          <a:effectLst/>
                        </a:rPr>
                        <a:t>월</a:t>
                      </a:r>
                      <a:endParaRPr lang="ko-KR" sz="900" kern="10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1096" marR="61096" marT="0" marB="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253625"/>
                  </a:ext>
                </a:extLst>
              </a:tr>
              <a:tr h="29942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ko-KR" sz="900" kern="100" dirty="0">
                          <a:effectLst/>
                        </a:rPr>
                        <a:t>최고기온</a:t>
                      </a:r>
                      <a:r>
                        <a:rPr lang="en-US" altLang="ko-KR" sz="900" kern="100" dirty="0">
                          <a:effectLst/>
                        </a:rPr>
                        <a:t> </a:t>
                      </a:r>
                      <a:r>
                        <a:rPr lang="en-US" sz="900" kern="100" dirty="0">
                          <a:effectLst/>
                        </a:rPr>
                        <a:t>(°C)</a:t>
                      </a:r>
                      <a:endParaRPr lang="ko-KR" sz="9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1096" marR="61096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kern="100">
                          <a:effectLst/>
                        </a:rPr>
                        <a:t>32</a:t>
                      </a:r>
                      <a:endParaRPr lang="ko-KR" sz="9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1096" marR="61096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kern="100">
                          <a:effectLst/>
                        </a:rPr>
                        <a:t>33</a:t>
                      </a:r>
                      <a:endParaRPr lang="ko-KR" sz="9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1096" marR="61096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kern="100" dirty="0">
                          <a:effectLst/>
                        </a:rPr>
                        <a:t>32</a:t>
                      </a:r>
                      <a:endParaRPr lang="ko-KR" sz="9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1096" marR="61096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kern="100">
                          <a:effectLst/>
                        </a:rPr>
                        <a:t>32</a:t>
                      </a:r>
                      <a:endParaRPr lang="ko-KR" sz="9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1096" marR="61096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kern="100">
                          <a:effectLst/>
                        </a:rPr>
                        <a:t>31</a:t>
                      </a:r>
                      <a:endParaRPr lang="ko-KR" sz="9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1096" marR="61096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kern="100" dirty="0">
                          <a:effectLst/>
                        </a:rPr>
                        <a:t>31</a:t>
                      </a:r>
                      <a:endParaRPr lang="ko-KR" sz="9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1096" marR="61096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kern="100">
                          <a:effectLst/>
                        </a:rPr>
                        <a:t>31</a:t>
                      </a:r>
                      <a:endParaRPr lang="ko-KR" sz="9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1096" marR="61096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kern="100">
                          <a:effectLst/>
                        </a:rPr>
                        <a:t>31</a:t>
                      </a:r>
                      <a:endParaRPr lang="ko-KR" sz="9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1096" marR="61096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kern="100" dirty="0">
                          <a:solidFill>
                            <a:schemeClr val="accent2"/>
                          </a:solidFill>
                          <a:effectLst/>
                        </a:rPr>
                        <a:t>29</a:t>
                      </a:r>
                      <a:endParaRPr lang="ko-KR" sz="900" kern="100" dirty="0">
                        <a:solidFill>
                          <a:schemeClr val="accent2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1096" marR="61096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kern="100" dirty="0">
                          <a:solidFill>
                            <a:schemeClr val="accent2"/>
                          </a:solidFill>
                          <a:effectLst/>
                        </a:rPr>
                        <a:t>26</a:t>
                      </a:r>
                      <a:endParaRPr lang="ko-KR" sz="900" kern="100" dirty="0">
                        <a:solidFill>
                          <a:schemeClr val="accent2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1096" marR="61096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kern="100" dirty="0">
                          <a:solidFill>
                            <a:schemeClr val="accent2"/>
                          </a:solidFill>
                          <a:effectLst/>
                        </a:rPr>
                        <a:t>25</a:t>
                      </a:r>
                      <a:endParaRPr lang="ko-KR" sz="900" kern="100" dirty="0">
                        <a:solidFill>
                          <a:schemeClr val="accent2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1096" marR="61096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kern="100" dirty="0">
                          <a:solidFill>
                            <a:schemeClr val="accent2"/>
                          </a:solidFill>
                          <a:effectLst/>
                        </a:rPr>
                        <a:t>28</a:t>
                      </a:r>
                      <a:endParaRPr lang="ko-KR" sz="900" kern="100" dirty="0">
                        <a:solidFill>
                          <a:schemeClr val="accent2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1096" marR="61096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5153465"/>
                  </a:ext>
                </a:extLst>
              </a:tr>
              <a:tr h="29942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ko-KR" sz="900" kern="100" dirty="0">
                          <a:effectLst/>
                        </a:rPr>
                        <a:t>최저기온</a:t>
                      </a:r>
                      <a:r>
                        <a:rPr lang="en-US" altLang="ko-KR" sz="900" kern="100" dirty="0">
                          <a:effectLst/>
                        </a:rPr>
                        <a:t> </a:t>
                      </a:r>
                      <a:r>
                        <a:rPr lang="en-US" sz="900" kern="100" dirty="0">
                          <a:effectLst/>
                        </a:rPr>
                        <a:t>(°C)</a:t>
                      </a:r>
                      <a:endParaRPr lang="ko-KR" sz="9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1096" marR="61096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kern="100">
                          <a:effectLst/>
                        </a:rPr>
                        <a:t>20</a:t>
                      </a:r>
                      <a:endParaRPr lang="ko-KR" sz="9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1096" marR="61096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kern="100">
                          <a:effectLst/>
                        </a:rPr>
                        <a:t>23</a:t>
                      </a:r>
                      <a:endParaRPr lang="ko-KR" sz="9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1096" marR="61096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kern="100">
                          <a:effectLst/>
                        </a:rPr>
                        <a:t>24</a:t>
                      </a:r>
                      <a:endParaRPr lang="ko-KR" sz="9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1096" marR="61096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kern="100">
                          <a:effectLst/>
                        </a:rPr>
                        <a:t>26</a:t>
                      </a:r>
                      <a:endParaRPr lang="ko-KR" sz="9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1096" marR="61096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kern="100">
                          <a:effectLst/>
                        </a:rPr>
                        <a:t>26</a:t>
                      </a:r>
                      <a:endParaRPr lang="ko-KR" sz="9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1096" marR="61096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kern="100">
                          <a:effectLst/>
                        </a:rPr>
                        <a:t>26</a:t>
                      </a:r>
                      <a:endParaRPr lang="ko-KR" sz="9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1096" marR="61096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kern="100">
                          <a:effectLst/>
                        </a:rPr>
                        <a:t>25</a:t>
                      </a:r>
                      <a:endParaRPr lang="ko-KR" sz="9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1096" marR="61096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kern="100">
                          <a:effectLst/>
                        </a:rPr>
                        <a:t>23</a:t>
                      </a:r>
                      <a:endParaRPr lang="ko-KR" sz="9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1096" marR="61096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kern="100" dirty="0">
                          <a:solidFill>
                            <a:schemeClr val="accent2"/>
                          </a:solidFill>
                          <a:effectLst/>
                        </a:rPr>
                        <a:t>19</a:t>
                      </a:r>
                      <a:endParaRPr lang="ko-KR" sz="900" kern="100" dirty="0">
                        <a:solidFill>
                          <a:schemeClr val="accent2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1096" marR="61096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kern="100" dirty="0">
                          <a:solidFill>
                            <a:schemeClr val="accent2"/>
                          </a:solidFill>
                          <a:effectLst/>
                        </a:rPr>
                        <a:t>14</a:t>
                      </a:r>
                      <a:endParaRPr lang="ko-KR" sz="900" kern="100" dirty="0">
                        <a:solidFill>
                          <a:schemeClr val="accent2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1096" marR="61096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kern="100" dirty="0">
                          <a:solidFill>
                            <a:schemeClr val="accent2"/>
                          </a:solidFill>
                          <a:effectLst/>
                        </a:rPr>
                        <a:t>12</a:t>
                      </a:r>
                      <a:endParaRPr lang="ko-KR" sz="900" kern="100" dirty="0">
                        <a:solidFill>
                          <a:schemeClr val="accent2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1096" marR="61096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kern="100" dirty="0">
                          <a:solidFill>
                            <a:schemeClr val="accent2"/>
                          </a:solidFill>
                          <a:effectLst/>
                        </a:rPr>
                        <a:t>15</a:t>
                      </a:r>
                      <a:endParaRPr lang="ko-KR" sz="900" kern="100" dirty="0">
                        <a:solidFill>
                          <a:schemeClr val="accent2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1096" marR="61096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4959562"/>
                  </a:ext>
                </a:extLst>
              </a:tr>
              <a:tr h="26194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ko-KR" sz="900" kern="100" dirty="0">
                          <a:effectLst/>
                        </a:rPr>
                        <a:t>강수량</a:t>
                      </a:r>
                      <a:r>
                        <a:rPr lang="en-US" altLang="ko-KR" sz="900" kern="100" dirty="0">
                          <a:effectLst/>
                        </a:rPr>
                        <a:t> </a:t>
                      </a:r>
                      <a:r>
                        <a:rPr lang="en-US" sz="900" kern="100" dirty="0">
                          <a:effectLst/>
                        </a:rPr>
                        <a:t>(mm)</a:t>
                      </a:r>
                      <a:endParaRPr lang="ko-KR" sz="9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1096" marR="61096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kern="100" dirty="0">
                          <a:effectLst/>
                        </a:rPr>
                        <a:t>65</a:t>
                      </a:r>
                      <a:endParaRPr lang="ko-KR" sz="9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1096" marR="61096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kern="100" dirty="0">
                          <a:effectLst/>
                        </a:rPr>
                        <a:t>156</a:t>
                      </a:r>
                      <a:endParaRPr lang="ko-KR" sz="9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1096" marR="61096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kern="100">
                          <a:effectLst/>
                        </a:rPr>
                        <a:t>339</a:t>
                      </a:r>
                      <a:endParaRPr lang="ko-KR" sz="9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1096" marR="61096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kern="100">
                          <a:effectLst/>
                        </a:rPr>
                        <a:t>340</a:t>
                      </a:r>
                      <a:endParaRPr lang="ko-KR" sz="9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1096" marR="61096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kern="100">
                          <a:effectLst/>
                        </a:rPr>
                        <a:t>373</a:t>
                      </a:r>
                      <a:endParaRPr lang="ko-KR" sz="9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1096" marR="61096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kern="100" dirty="0">
                          <a:effectLst/>
                        </a:rPr>
                        <a:t>316</a:t>
                      </a:r>
                      <a:endParaRPr lang="ko-KR" sz="9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1096" marR="61096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kern="100">
                          <a:effectLst/>
                        </a:rPr>
                        <a:t>300</a:t>
                      </a:r>
                      <a:endParaRPr lang="ko-KR" sz="9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1096" marR="61096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kern="100" dirty="0">
                          <a:effectLst/>
                        </a:rPr>
                        <a:t>172</a:t>
                      </a:r>
                      <a:endParaRPr lang="ko-KR" sz="9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1096" marR="61096" marT="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kern="100" dirty="0">
                          <a:solidFill>
                            <a:schemeClr val="accent2"/>
                          </a:solidFill>
                          <a:effectLst/>
                        </a:rPr>
                        <a:t>34</a:t>
                      </a:r>
                      <a:endParaRPr lang="ko-KR" sz="900" kern="100" dirty="0">
                        <a:solidFill>
                          <a:schemeClr val="accent2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1096" marR="61096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kern="100" dirty="0">
                          <a:solidFill>
                            <a:schemeClr val="accent2"/>
                          </a:solidFill>
                          <a:effectLst/>
                        </a:rPr>
                        <a:t>12</a:t>
                      </a:r>
                      <a:endParaRPr lang="ko-KR" sz="900" kern="100" dirty="0">
                        <a:solidFill>
                          <a:schemeClr val="accent2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1096" marR="61096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kern="100" dirty="0">
                          <a:solidFill>
                            <a:schemeClr val="accent2"/>
                          </a:solidFill>
                          <a:effectLst/>
                        </a:rPr>
                        <a:t>7</a:t>
                      </a:r>
                      <a:endParaRPr lang="ko-KR" sz="900" kern="100" dirty="0">
                        <a:solidFill>
                          <a:schemeClr val="accent2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1096" marR="61096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kern="100" dirty="0">
                          <a:solidFill>
                            <a:schemeClr val="accent2"/>
                          </a:solidFill>
                          <a:effectLst/>
                        </a:rPr>
                        <a:t>28</a:t>
                      </a:r>
                      <a:endParaRPr lang="ko-KR" sz="900" kern="100" dirty="0">
                        <a:solidFill>
                          <a:schemeClr val="accent2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1096" marR="61096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9176068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AD6910E6-F7F4-3796-D8B8-3750F94A08F9}"/>
              </a:ext>
            </a:extLst>
          </p:cNvPr>
          <p:cNvSpPr txBox="1"/>
          <p:nvPr/>
        </p:nvSpPr>
        <p:spPr>
          <a:xfrm>
            <a:off x="1039362" y="198042"/>
            <a:ext cx="47815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/>
              <a:t>방글라데시</a:t>
            </a:r>
            <a:r>
              <a:rPr lang="en-US" altLang="ko-KR" sz="1400" b="1" dirty="0"/>
              <a:t>, </a:t>
            </a:r>
            <a:r>
              <a:rPr lang="ko-KR" altLang="en-US" sz="1400" b="1" dirty="0"/>
              <a:t>언제 떠나야 좋을까</a:t>
            </a:r>
            <a:r>
              <a:rPr lang="en-US" altLang="ko-KR" sz="1400" b="1" dirty="0"/>
              <a:t>?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E1DEDED-5F35-611B-3242-BCE2DE2FA705}"/>
              </a:ext>
            </a:extLst>
          </p:cNvPr>
          <p:cNvSpPr/>
          <p:nvPr/>
        </p:nvSpPr>
        <p:spPr>
          <a:xfrm>
            <a:off x="5015475" y="8037472"/>
            <a:ext cx="1766765" cy="3895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배경 이미지</a:t>
            </a:r>
            <a:r>
              <a:rPr lang="en-US" altLang="ko-KR" dirty="0"/>
              <a:t>2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60F9CDE-E675-47DA-CD9A-318981E8ED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2312" y="2198460"/>
            <a:ext cx="5338455" cy="125686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4C69C11-1BDC-96D4-18C4-05E4A7B51346}"/>
              </a:ext>
            </a:extLst>
          </p:cNvPr>
          <p:cNvSpPr txBox="1"/>
          <p:nvPr/>
        </p:nvSpPr>
        <p:spPr>
          <a:xfrm>
            <a:off x="7062312" y="1275130"/>
            <a:ext cx="39052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디자인 레퍼런스</a:t>
            </a:r>
            <a:r>
              <a:rPr lang="en-US" altLang="ko-KR" dirty="0"/>
              <a:t>/</a:t>
            </a:r>
          </a:p>
          <a:p>
            <a:r>
              <a:rPr lang="ko-KR" altLang="en-US" dirty="0"/>
              <a:t>건기 우기 표시 아래와 같이 디자인으로 보여주세요</a:t>
            </a:r>
            <a:r>
              <a:rPr lang="en-US" altLang="ko-KR" dirty="0"/>
              <a:t>! </a:t>
            </a:r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5FD7EFB-68DF-DA60-360C-333CBA2FA2BB}"/>
              </a:ext>
            </a:extLst>
          </p:cNvPr>
          <p:cNvSpPr/>
          <p:nvPr/>
        </p:nvSpPr>
        <p:spPr>
          <a:xfrm>
            <a:off x="9429750" y="2198460"/>
            <a:ext cx="1343025" cy="2589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D0D3D258-1816-BBB2-E81B-744FF355C54C}"/>
              </a:ext>
            </a:extLst>
          </p:cNvPr>
          <p:cNvGrpSpPr/>
          <p:nvPr/>
        </p:nvGrpSpPr>
        <p:grpSpPr>
          <a:xfrm>
            <a:off x="4772024" y="2075638"/>
            <a:ext cx="1586706" cy="261610"/>
            <a:chOff x="4772024" y="2075638"/>
            <a:chExt cx="1586706" cy="261610"/>
          </a:xfrm>
        </p:grpSpPr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CF857595-709E-A1D2-7C56-27B39C869C7B}"/>
                </a:ext>
              </a:extLst>
            </p:cNvPr>
            <p:cNvCxnSpPr/>
            <p:nvPr/>
          </p:nvCxnSpPr>
          <p:spPr>
            <a:xfrm>
              <a:off x="4772024" y="2229758"/>
              <a:ext cx="567998" cy="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C8A822F-3317-77EE-E109-93D918CA12A5}"/>
                </a:ext>
              </a:extLst>
            </p:cNvPr>
            <p:cNvSpPr txBox="1"/>
            <p:nvPr/>
          </p:nvSpPr>
          <p:spPr>
            <a:xfrm>
              <a:off x="5320884" y="2075638"/>
              <a:ext cx="103784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b="1" i="1" dirty="0">
                  <a:solidFill>
                    <a:schemeClr val="accent2"/>
                  </a:solidFill>
                </a:rPr>
                <a:t>건기</a:t>
              </a:r>
            </a:p>
          </p:txBody>
        </p: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BC8212F-35B6-4456-0F47-1441658BFC2E}"/>
                </a:ext>
              </a:extLst>
            </p:cNvPr>
            <p:cNvCxnSpPr/>
            <p:nvPr/>
          </p:nvCxnSpPr>
          <p:spPr>
            <a:xfrm>
              <a:off x="5790732" y="2229758"/>
              <a:ext cx="567998" cy="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902CB4C4-050D-22D4-9393-303C3185C09C}"/>
                </a:ext>
              </a:extLst>
            </p:cNvPr>
            <p:cNvCxnSpPr>
              <a:cxnSpLocks/>
            </p:cNvCxnSpPr>
            <p:nvPr/>
          </p:nvCxnSpPr>
          <p:spPr>
            <a:xfrm>
              <a:off x="4772024" y="2169885"/>
              <a:ext cx="0" cy="129495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4DFD6A48-75F0-4D72-929A-4685456BEB94}"/>
                </a:ext>
              </a:extLst>
            </p:cNvPr>
            <p:cNvCxnSpPr>
              <a:cxnSpLocks/>
            </p:cNvCxnSpPr>
            <p:nvPr/>
          </p:nvCxnSpPr>
          <p:spPr>
            <a:xfrm>
              <a:off x="6358730" y="2166528"/>
              <a:ext cx="0" cy="129495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68924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2C3A4E05-255B-9331-568A-82F6AD11FF2A}"/>
              </a:ext>
            </a:extLst>
          </p:cNvPr>
          <p:cNvSpPr/>
          <p:nvPr/>
        </p:nvSpPr>
        <p:spPr>
          <a:xfrm>
            <a:off x="219464" y="150876"/>
            <a:ext cx="816226" cy="30681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지도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649DCFE-3D0F-0BE9-83AD-2BFB8CCF4C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829" y="1038339"/>
            <a:ext cx="6580341" cy="658034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BE79CC2-3F22-14F8-A702-D3EAAE265EEF}"/>
              </a:ext>
            </a:extLst>
          </p:cNvPr>
          <p:cNvSpPr txBox="1"/>
          <p:nvPr/>
        </p:nvSpPr>
        <p:spPr>
          <a:xfrm>
            <a:off x="157088" y="5157988"/>
            <a:ext cx="927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인도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E3B7517-332F-A2A2-1C20-B3BE8234006D}"/>
              </a:ext>
            </a:extLst>
          </p:cNvPr>
          <p:cNvSpPr txBox="1"/>
          <p:nvPr/>
        </p:nvSpPr>
        <p:spPr>
          <a:xfrm>
            <a:off x="6338543" y="5329336"/>
            <a:ext cx="927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미얀마</a:t>
            </a:r>
            <a:endParaRPr lang="en-US" altLang="ko-KR" b="1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FB04FFC-8C95-FCF7-4633-E1D6A0CBD6B4}"/>
              </a:ext>
            </a:extLst>
          </p:cNvPr>
          <p:cNvSpPr txBox="1"/>
          <p:nvPr/>
        </p:nvSpPr>
        <p:spPr>
          <a:xfrm>
            <a:off x="3377483" y="3511638"/>
            <a:ext cx="1407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방글라데시</a:t>
            </a:r>
            <a:endParaRPr lang="en-US" altLang="ko-KR" b="1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CA32D0-0995-94D3-3067-BDB2AB077298}"/>
              </a:ext>
            </a:extLst>
          </p:cNvPr>
          <p:cNvSpPr txBox="1"/>
          <p:nvPr/>
        </p:nvSpPr>
        <p:spPr>
          <a:xfrm>
            <a:off x="1459092" y="2328854"/>
            <a:ext cx="2499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rgbClr val="0070C0"/>
                </a:solidFill>
              </a:rPr>
              <a:t>· </a:t>
            </a:r>
            <a:r>
              <a:rPr lang="ko-KR" altLang="en-US" sz="1100" b="1" dirty="0" err="1">
                <a:solidFill>
                  <a:srgbClr val="0070C0"/>
                </a:solidFill>
              </a:rPr>
              <a:t>소마푸라</a:t>
            </a:r>
            <a:r>
              <a:rPr lang="ko-KR" altLang="en-US" sz="1100" b="1" dirty="0">
                <a:solidFill>
                  <a:srgbClr val="0070C0"/>
                </a:solidFill>
              </a:rPr>
              <a:t> 마하비하라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291D94-8780-323B-8EE0-33589BE56027}"/>
              </a:ext>
            </a:extLst>
          </p:cNvPr>
          <p:cNvSpPr txBox="1"/>
          <p:nvPr/>
        </p:nvSpPr>
        <p:spPr>
          <a:xfrm>
            <a:off x="2599044" y="2976379"/>
            <a:ext cx="2499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rgbClr val="0070C0"/>
                </a:solidFill>
              </a:rPr>
              <a:t>· </a:t>
            </a:r>
            <a:r>
              <a:rPr lang="ko-KR" altLang="en-US" sz="1100" b="1" dirty="0" err="1">
                <a:solidFill>
                  <a:srgbClr val="0070C0"/>
                </a:solidFill>
              </a:rPr>
              <a:t>푸티아</a:t>
            </a:r>
            <a:r>
              <a:rPr lang="ko-KR" altLang="en-US" sz="1100" b="1" dirty="0">
                <a:solidFill>
                  <a:srgbClr val="0070C0"/>
                </a:solidFill>
              </a:rPr>
              <a:t> 힌두사원군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8F8A2A-7413-56D9-D6DD-A717407FAC9C}"/>
              </a:ext>
            </a:extLst>
          </p:cNvPr>
          <p:cNvSpPr txBox="1"/>
          <p:nvPr/>
        </p:nvSpPr>
        <p:spPr>
          <a:xfrm>
            <a:off x="746995" y="4328509"/>
            <a:ext cx="2499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rgbClr val="0070C0"/>
                </a:solidFill>
              </a:rPr>
              <a:t>· </a:t>
            </a:r>
            <a:r>
              <a:rPr lang="ko-KR" altLang="en-US" sz="1100" b="1" dirty="0" err="1">
                <a:solidFill>
                  <a:srgbClr val="0070C0"/>
                </a:solidFill>
              </a:rPr>
              <a:t>라론의</a:t>
            </a:r>
            <a:r>
              <a:rPr lang="ko-KR" altLang="en-US" sz="1100" b="1" dirty="0">
                <a:solidFill>
                  <a:srgbClr val="0070C0"/>
                </a:solidFill>
              </a:rPr>
              <a:t> 무덤</a:t>
            </a:r>
            <a:endParaRPr lang="en-US" altLang="ko-KR" sz="1100" b="1" dirty="0">
              <a:solidFill>
                <a:srgbClr val="0070C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ADBF21-1B41-D822-9881-6A9463E47433}"/>
              </a:ext>
            </a:extLst>
          </p:cNvPr>
          <p:cNvSpPr txBox="1"/>
          <p:nvPr/>
        </p:nvSpPr>
        <p:spPr>
          <a:xfrm>
            <a:off x="2285141" y="6143438"/>
            <a:ext cx="24993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rgbClr val="0070C0"/>
                </a:solidFill>
              </a:rPr>
              <a:t>· </a:t>
            </a:r>
            <a:r>
              <a:rPr lang="ko-KR" altLang="en-US" sz="1100" b="1" dirty="0" err="1">
                <a:solidFill>
                  <a:srgbClr val="0070C0"/>
                </a:solidFill>
              </a:rPr>
              <a:t>바게르하트의</a:t>
            </a:r>
            <a:r>
              <a:rPr lang="ko-KR" altLang="en-US" sz="1100" b="1" dirty="0">
                <a:solidFill>
                  <a:srgbClr val="0070C0"/>
                </a:solidFill>
              </a:rPr>
              <a:t> 모스크 도시</a:t>
            </a:r>
            <a:endParaRPr lang="en-US" altLang="ko-KR" sz="1100" b="1" dirty="0">
              <a:solidFill>
                <a:srgbClr val="0070C0"/>
              </a:solidFill>
            </a:endParaRPr>
          </a:p>
          <a:p>
            <a:r>
              <a:rPr lang="en-US" altLang="ko-KR" sz="1100" b="1" dirty="0">
                <a:solidFill>
                  <a:srgbClr val="0070C0"/>
                </a:solidFill>
              </a:rPr>
              <a:t>· </a:t>
            </a:r>
            <a:r>
              <a:rPr lang="ko-KR" altLang="en-US" sz="1100" b="1" dirty="0" err="1">
                <a:solidFill>
                  <a:srgbClr val="0070C0"/>
                </a:solidFill>
              </a:rPr>
              <a:t>샤이트</a:t>
            </a:r>
            <a:r>
              <a:rPr lang="ko-KR" altLang="en-US" sz="1100" b="1" dirty="0">
                <a:solidFill>
                  <a:srgbClr val="0070C0"/>
                </a:solidFill>
              </a:rPr>
              <a:t> </a:t>
            </a:r>
            <a:r>
              <a:rPr lang="ko-KR" altLang="en-US" sz="1100" b="1" dirty="0" err="1">
                <a:solidFill>
                  <a:srgbClr val="0070C0"/>
                </a:solidFill>
              </a:rPr>
              <a:t>굼바드</a:t>
            </a:r>
            <a:r>
              <a:rPr lang="ko-KR" altLang="en-US" sz="1100" b="1" dirty="0">
                <a:solidFill>
                  <a:srgbClr val="0070C0"/>
                </a:solidFill>
              </a:rPr>
              <a:t> 모스크</a:t>
            </a:r>
            <a:endParaRPr lang="en-US" altLang="ko-KR" sz="1100" b="1" dirty="0">
              <a:solidFill>
                <a:srgbClr val="0070C0"/>
              </a:solidFill>
            </a:endParaRPr>
          </a:p>
          <a:p>
            <a:r>
              <a:rPr lang="en-US" altLang="ko-KR" sz="1100" b="1" dirty="0">
                <a:solidFill>
                  <a:srgbClr val="0070C0"/>
                </a:solidFill>
              </a:rPr>
              <a:t>· </a:t>
            </a:r>
            <a:r>
              <a:rPr lang="ko-KR" altLang="en-US" sz="1100" b="1" dirty="0">
                <a:solidFill>
                  <a:srgbClr val="0070C0"/>
                </a:solidFill>
              </a:rPr>
              <a:t>나인 돔 모스크</a:t>
            </a:r>
            <a:endParaRPr lang="en-US" altLang="ko-KR" sz="1100" b="1" dirty="0">
              <a:solidFill>
                <a:srgbClr val="0070C0"/>
              </a:solidFill>
            </a:endParaRPr>
          </a:p>
          <a:p>
            <a:r>
              <a:rPr lang="en-US" altLang="ko-KR" sz="1100" b="1" dirty="0">
                <a:solidFill>
                  <a:srgbClr val="0070C0"/>
                </a:solidFill>
              </a:rPr>
              <a:t>· </a:t>
            </a:r>
            <a:r>
              <a:rPr lang="ko-KR" altLang="en-US" sz="1100" b="1" dirty="0">
                <a:solidFill>
                  <a:srgbClr val="0070C0"/>
                </a:solidFill>
              </a:rPr>
              <a:t>칸 자한 </a:t>
            </a:r>
            <a:r>
              <a:rPr lang="ko-KR" altLang="en-US" sz="1100" b="1" dirty="0" err="1">
                <a:solidFill>
                  <a:srgbClr val="0070C0"/>
                </a:solidFill>
              </a:rPr>
              <a:t>알리의</a:t>
            </a:r>
            <a:r>
              <a:rPr lang="ko-KR" altLang="en-US" sz="1100" b="1" dirty="0">
                <a:solidFill>
                  <a:srgbClr val="0070C0"/>
                </a:solidFill>
              </a:rPr>
              <a:t> 영묘</a:t>
            </a:r>
            <a:endParaRPr lang="en-US" altLang="ko-KR" sz="1100" b="1" dirty="0">
              <a:solidFill>
                <a:srgbClr val="0070C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505936-9FA6-03A9-47DC-A60174702EE6}"/>
              </a:ext>
            </a:extLst>
          </p:cNvPr>
          <p:cNvSpPr txBox="1"/>
          <p:nvPr/>
        </p:nvSpPr>
        <p:spPr>
          <a:xfrm>
            <a:off x="746995" y="5484584"/>
            <a:ext cx="2499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rgbClr val="0070C0"/>
                </a:solidFill>
              </a:rPr>
              <a:t>· </a:t>
            </a:r>
            <a:r>
              <a:rPr lang="ko-KR" altLang="en-US" sz="1100" b="1" dirty="0" err="1">
                <a:solidFill>
                  <a:srgbClr val="0070C0"/>
                </a:solidFill>
              </a:rPr>
              <a:t>순다르반스</a:t>
            </a:r>
            <a:r>
              <a:rPr lang="ko-KR" altLang="en-US" sz="1100" b="1" dirty="0">
                <a:solidFill>
                  <a:srgbClr val="0070C0"/>
                </a:solidFill>
              </a:rPr>
              <a:t> 크루즈 </a:t>
            </a:r>
            <a:endParaRPr lang="en-US" altLang="ko-KR" sz="1100" b="1" dirty="0">
              <a:solidFill>
                <a:srgbClr val="0070C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428897-AA1C-AB7B-EB9E-81A505321A7E}"/>
              </a:ext>
            </a:extLst>
          </p:cNvPr>
          <p:cNvSpPr txBox="1"/>
          <p:nvPr/>
        </p:nvSpPr>
        <p:spPr>
          <a:xfrm>
            <a:off x="3733082" y="4413849"/>
            <a:ext cx="249936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rgbClr val="0070C0"/>
                </a:solidFill>
              </a:rPr>
              <a:t>· </a:t>
            </a:r>
            <a:r>
              <a:rPr lang="ko-KR" altLang="en-US" sz="1100" b="1" dirty="0">
                <a:solidFill>
                  <a:srgbClr val="0070C0"/>
                </a:solidFill>
              </a:rPr>
              <a:t>국회의사당</a:t>
            </a:r>
            <a:endParaRPr lang="en-US" altLang="ko-KR" sz="1100" b="1" dirty="0">
              <a:solidFill>
                <a:srgbClr val="0070C0"/>
              </a:solidFill>
            </a:endParaRPr>
          </a:p>
          <a:p>
            <a:r>
              <a:rPr lang="en-US" altLang="ko-KR" sz="1100" b="1" dirty="0">
                <a:solidFill>
                  <a:srgbClr val="0070C0"/>
                </a:solidFill>
              </a:rPr>
              <a:t>· </a:t>
            </a:r>
            <a:r>
              <a:rPr lang="ko-KR" altLang="en-US" sz="1100" b="1" dirty="0">
                <a:solidFill>
                  <a:srgbClr val="0070C0"/>
                </a:solidFill>
              </a:rPr>
              <a:t>아산 만질</a:t>
            </a:r>
            <a:r>
              <a:rPr lang="en-US" altLang="ko-KR" sz="1100" b="1" dirty="0">
                <a:solidFill>
                  <a:srgbClr val="0070C0"/>
                </a:solidFill>
              </a:rPr>
              <a:t>(</a:t>
            </a:r>
            <a:r>
              <a:rPr lang="ko-KR" altLang="en-US" sz="1100" b="1" dirty="0" err="1">
                <a:solidFill>
                  <a:srgbClr val="0070C0"/>
                </a:solidFill>
              </a:rPr>
              <a:t>핑크팰리스</a:t>
            </a:r>
            <a:r>
              <a:rPr lang="en-US" altLang="ko-KR" sz="1100" b="1" dirty="0">
                <a:solidFill>
                  <a:srgbClr val="0070C0"/>
                </a:solidFill>
              </a:rPr>
              <a:t>)</a:t>
            </a: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A086ADF3-F7DC-60B5-0E04-C74E8DFF16DF}"/>
              </a:ext>
            </a:extLst>
          </p:cNvPr>
          <p:cNvGrpSpPr/>
          <p:nvPr/>
        </p:nvGrpSpPr>
        <p:grpSpPr>
          <a:xfrm>
            <a:off x="1573603" y="1938710"/>
            <a:ext cx="832234" cy="390144"/>
            <a:chOff x="-4267200" y="1572768"/>
            <a:chExt cx="832234" cy="390144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945322BC-BED0-6F52-414A-FA5F48BE41F4}"/>
                </a:ext>
              </a:extLst>
            </p:cNvPr>
            <p:cNvSpPr/>
            <p:nvPr/>
          </p:nvSpPr>
          <p:spPr>
            <a:xfrm>
              <a:off x="-4267200" y="1572768"/>
              <a:ext cx="832234" cy="39014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001C61A-0379-AA7C-0E6C-8CA0D17F0E7A}"/>
                </a:ext>
              </a:extLst>
            </p:cNvPr>
            <p:cNvSpPr txBox="1"/>
            <p:nvPr/>
          </p:nvSpPr>
          <p:spPr>
            <a:xfrm>
              <a:off x="-4267200" y="1637035"/>
              <a:ext cx="83223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dirty="0">
                  <a:solidFill>
                    <a:schemeClr val="bg1"/>
                  </a:solidFill>
                </a:rPr>
                <a:t>불교 벡터</a:t>
              </a: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4334791D-C78A-5221-8118-492F0CA4D57D}"/>
              </a:ext>
            </a:extLst>
          </p:cNvPr>
          <p:cNvGrpSpPr/>
          <p:nvPr/>
        </p:nvGrpSpPr>
        <p:grpSpPr>
          <a:xfrm>
            <a:off x="3010576" y="2538207"/>
            <a:ext cx="947876" cy="535259"/>
            <a:chOff x="-4267200" y="1572768"/>
            <a:chExt cx="832234" cy="495154"/>
          </a:xfrm>
        </p:grpSpPr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7982EEF9-BAB6-3CB2-74FB-E83886C13196}"/>
                </a:ext>
              </a:extLst>
            </p:cNvPr>
            <p:cNvSpPr/>
            <p:nvPr/>
          </p:nvSpPr>
          <p:spPr>
            <a:xfrm>
              <a:off x="-4267200" y="1572768"/>
              <a:ext cx="832234" cy="39014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AD8E36F-991B-6920-9383-3A624AA2D948}"/>
                </a:ext>
              </a:extLst>
            </p:cNvPr>
            <p:cNvSpPr txBox="1"/>
            <p:nvPr/>
          </p:nvSpPr>
          <p:spPr>
            <a:xfrm>
              <a:off x="-4267200" y="1637035"/>
              <a:ext cx="83223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dirty="0">
                  <a:solidFill>
                    <a:schemeClr val="bg1"/>
                  </a:solidFill>
                </a:rPr>
                <a:t>힌두교 벡터</a:t>
              </a: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C78DD55C-8A31-5B7A-CA68-9F724181F720}"/>
              </a:ext>
            </a:extLst>
          </p:cNvPr>
          <p:cNvGrpSpPr/>
          <p:nvPr/>
        </p:nvGrpSpPr>
        <p:grpSpPr>
          <a:xfrm>
            <a:off x="2405837" y="6888510"/>
            <a:ext cx="947876" cy="421744"/>
            <a:chOff x="-4267200" y="1572768"/>
            <a:chExt cx="832234" cy="390144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D954B083-CD85-B54C-997B-304BD0136B3C}"/>
                </a:ext>
              </a:extLst>
            </p:cNvPr>
            <p:cNvSpPr/>
            <p:nvPr/>
          </p:nvSpPr>
          <p:spPr>
            <a:xfrm>
              <a:off x="-4267200" y="1572768"/>
              <a:ext cx="832234" cy="39014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BC34371-66D7-B822-CDF4-169930AA2C89}"/>
                </a:ext>
              </a:extLst>
            </p:cNvPr>
            <p:cNvSpPr txBox="1"/>
            <p:nvPr/>
          </p:nvSpPr>
          <p:spPr>
            <a:xfrm>
              <a:off x="-4267200" y="1637035"/>
              <a:ext cx="832234" cy="2420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dirty="0">
                  <a:solidFill>
                    <a:schemeClr val="bg1"/>
                  </a:solidFill>
                </a:rPr>
                <a:t>이슬람 벡터</a:t>
              </a: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08751759-0A95-CD2C-0BFE-9B23809BFB13}"/>
              </a:ext>
            </a:extLst>
          </p:cNvPr>
          <p:cNvGrpSpPr/>
          <p:nvPr/>
        </p:nvGrpSpPr>
        <p:grpSpPr>
          <a:xfrm>
            <a:off x="561752" y="5797665"/>
            <a:ext cx="947876" cy="421744"/>
            <a:chOff x="-4267200" y="1572768"/>
            <a:chExt cx="832234" cy="390144"/>
          </a:xfrm>
        </p:grpSpPr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6EE7388B-084F-8E08-DD65-BC6E83632731}"/>
                </a:ext>
              </a:extLst>
            </p:cNvPr>
            <p:cNvSpPr/>
            <p:nvPr/>
          </p:nvSpPr>
          <p:spPr>
            <a:xfrm>
              <a:off x="-4267200" y="1572768"/>
              <a:ext cx="832234" cy="39014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2EBE91E-C6A4-BDCB-B882-5D10944384AE}"/>
                </a:ext>
              </a:extLst>
            </p:cNvPr>
            <p:cNvSpPr txBox="1"/>
            <p:nvPr/>
          </p:nvSpPr>
          <p:spPr>
            <a:xfrm>
              <a:off x="-4267200" y="1637035"/>
              <a:ext cx="832234" cy="2420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dirty="0">
                  <a:solidFill>
                    <a:schemeClr val="bg1"/>
                  </a:solidFill>
                </a:rPr>
                <a:t>크루즈 벡터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801293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9348A7E-0718-0402-1713-8FDC391580AD}"/>
              </a:ext>
            </a:extLst>
          </p:cNvPr>
          <p:cNvSpPr/>
          <p:nvPr/>
        </p:nvSpPr>
        <p:spPr>
          <a:xfrm>
            <a:off x="237650" y="149578"/>
            <a:ext cx="1140619" cy="3137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73" dirty="0"/>
              <a:t>배너제작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5B80422-F5B1-495A-9414-005020601885}"/>
              </a:ext>
            </a:extLst>
          </p:cNvPr>
          <p:cNvSpPr/>
          <p:nvPr/>
        </p:nvSpPr>
        <p:spPr>
          <a:xfrm>
            <a:off x="899209" y="2972543"/>
            <a:ext cx="3639421" cy="2507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29" b="1" dirty="0" err="1"/>
              <a:t>서브메인</a:t>
            </a:r>
            <a:r>
              <a:rPr lang="ko-KR" altLang="en-US" sz="1029" b="1" dirty="0"/>
              <a:t> </a:t>
            </a:r>
            <a:r>
              <a:rPr lang="ko-KR" altLang="en-US" sz="1029" b="1" dirty="0" err="1"/>
              <a:t>띠배너</a:t>
            </a:r>
            <a:r>
              <a:rPr lang="ko-KR" altLang="en-US" sz="1029" b="1" dirty="0"/>
              <a:t> </a:t>
            </a:r>
            <a:r>
              <a:rPr lang="en-US" altLang="ko-KR" sz="1029" b="1" dirty="0"/>
              <a:t>(PC: 1920x200, MO: 750x200) </a:t>
            </a:r>
            <a:endParaRPr lang="ko-KR" altLang="en-US" sz="929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8C68B9D-AB79-7C23-281C-3DE633BF78BE}"/>
              </a:ext>
            </a:extLst>
          </p:cNvPr>
          <p:cNvSpPr/>
          <p:nvPr/>
        </p:nvSpPr>
        <p:spPr>
          <a:xfrm>
            <a:off x="902436" y="3311304"/>
            <a:ext cx="4595255" cy="1356975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9175" tIns="49175" rIns="49175" bIns="49175" rtlCol="0" anchor="ctr"/>
          <a:lstStyle/>
          <a:p>
            <a:pPr algn="ctr"/>
            <a:endParaRPr lang="ko-KR" altLang="en-US" sz="1434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AEAC9A2-B506-A714-BE87-2215E85B701D}"/>
              </a:ext>
            </a:extLst>
          </p:cNvPr>
          <p:cNvSpPr/>
          <p:nvPr/>
        </p:nvSpPr>
        <p:spPr>
          <a:xfrm>
            <a:off x="770928" y="694676"/>
            <a:ext cx="6934416" cy="2507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29" b="1" dirty="0"/>
              <a:t>메인 와이드 배너 </a:t>
            </a:r>
            <a:r>
              <a:rPr lang="en-US" altLang="ko-KR" sz="1029" b="1" dirty="0"/>
              <a:t>(PC: 1920x700, MO: 750x510) </a:t>
            </a:r>
            <a:endParaRPr lang="ko-KR" altLang="en-US" sz="929" b="1" dirty="0">
              <a:highlight>
                <a:srgbClr val="FFFF00"/>
              </a:highlight>
              <a:latin typeface="+mn-ea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28FB7EA-8429-056B-D857-D3B445E3E065}"/>
              </a:ext>
            </a:extLst>
          </p:cNvPr>
          <p:cNvSpPr/>
          <p:nvPr/>
        </p:nvSpPr>
        <p:spPr>
          <a:xfrm>
            <a:off x="882560" y="1039715"/>
            <a:ext cx="4595255" cy="1759297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9175" tIns="49175" rIns="49175" bIns="49175" rtlCol="0" anchor="ctr"/>
          <a:lstStyle/>
          <a:p>
            <a:pPr algn="ctr"/>
            <a:endParaRPr lang="ko-KR" altLang="en-US" sz="1434" dirty="0">
              <a:solidFill>
                <a:schemeClr val="tx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6BC5247-3F88-4CD2-B91D-44713FA086FD}"/>
              </a:ext>
            </a:extLst>
          </p:cNvPr>
          <p:cNvSpPr/>
          <p:nvPr/>
        </p:nvSpPr>
        <p:spPr>
          <a:xfrm>
            <a:off x="963512" y="5151485"/>
            <a:ext cx="1978822" cy="1901747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4004" tIns="24004" rIns="24004" bIns="24004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599" dirty="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30CD438-6122-8C4A-987C-4CAB55C45816}"/>
              </a:ext>
            </a:extLst>
          </p:cNvPr>
          <p:cNvSpPr/>
          <p:nvPr/>
        </p:nvSpPr>
        <p:spPr>
          <a:xfrm>
            <a:off x="963512" y="7239913"/>
            <a:ext cx="3639421" cy="2507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29" b="1" dirty="0"/>
              <a:t>지역 리스트 배너 </a:t>
            </a:r>
            <a:r>
              <a:rPr lang="en-US" altLang="ko-KR" sz="1029" b="1" dirty="0"/>
              <a:t>(PC: 1200x207, MO: 750x207)</a:t>
            </a:r>
            <a:endParaRPr lang="ko-KR" altLang="en-US" sz="929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DAA2591-5A35-48E6-855D-8BC1CE33C34C}"/>
              </a:ext>
            </a:extLst>
          </p:cNvPr>
          <p:cNvSpPr/>
          <p:nvPr/>
        </p:nvSpPr>
        <p:spPr>
          <a:xfrm>
            <a:off x="807959" y="7515431"/>
            <a:ext cx="5723467" cy="683183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029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01183D5-BAA8-B1A8-E47D-02AF7D0D6290}"/>
              </a:ext>
            </a:extLst>
          </p:cNvPr>
          <p:cNvSpPr/>
          <p:nvPr/>
        </p:nvSpPr>
        <p:spPr>
          <a:xfrm>
            <a:off x="882560" y="4910517"/>
            <a:ext cx="3639421" cy="2507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29" b="1" dirty="0" err="1"/>
              <a:t>서브메인</a:t>
            </a:r>
            <a:r>
              <a:rPr lang="ko-KR" altLang="en-US" sz="1029" b="1" dirty="0"/>
              <a:t> </a:t>
            </a:r>
            <a:r>
              <a:rPr lang="en-US" altLang="ko-KR" sz="1029" b="1" dirty="0"/>
              <a:t>2</a:t>
            </a:r>
            <a:r>
              <a:rPr lang="ko-KR" altLang="en-US" sz="1029" b="1" dirty="0" err="1"/>
              <a:t>단배너</a:t>
            </a:r>
            <a:r>
              <a:rPr lang="ko-KR" altLang="en-US" sz="1029" b="1" dirty="0"/>
              <a:t> </a:t>
            </a:r>
            <a:r>
              <a:rPr lang="en-US" altLang="ko-KR" sz="1029" b="1" dirty="0"/>
              <a:t>(PC: 590x370, MO: 585x670) </a:t>
            </a:r>
            <a:endParaRPr lang="ko-KR" altLang="en-US" sz="929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19C253-C0EB-302F-6C09-5B23564AB816}"/>
              </a:ext>
            </a:extLst>
          </p:cNvPr>
          <p:cNvSpPr txBox="1"/>
          <p:nvPr/>
        </p:nvSpPr>
        <p:spPr>
          <a:xfrm>
            <a:off x="963512" y="3501122"/>
            <a:ext cx="647700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벵골 역사부터 세계 최대 </a:t>
            </a:r>
            <a:r>
              <a:rPr lang="ko-KR" altLang="en-US" sz="1200" dirty="0" err="1"/>
              <a:t>맹그로브</a:t>
            </a:r>
            <a:r>
              <a:rPr lang="ko-KR" altLang="en-US" sz="1200" dirty="0"/>
              <a:t> 숲까지</a:t>
            </a:r>
            <a:endParaRPr lang="en-US" altLang="ko-KR" sz="1200" dirty="0"/>
          </a:p>
          <a:p>
            <a:r>
              <a:rPr lang="ko-KR" altLang="en-US" sz="1200" dirty="0"/>
              <a:t>경험의 밀도가 다른 나라</a:t>
            </a:r>
            <a:r>
              <a:rPr lang="en-US" altLang="ko-KR" sz="1200" dirty="0"/>
              <a:t>!</a:t>
            </a:r>
          </a:p>
          <a:p>
            <a:endParaRPr lang="en-US" altLang="ko-KR" sz="1200" b="1" dirty="0"/>
          </a:p>
          <a:p>
            <a:r>
              <a:rPr lang="ko-KR" altLang="en-US" sz="1600" b="1" dirty="0"/>
              <a:t>방글라데시</a:t>
            </a:r>
            <a:endParaRPr lang="en-US" altLang="ko-KR" sz="1600" b="1" dirty="0"/>
          </a:p>
          <a:p>
            <a:r>
              <a:rPr lang="ko-KR" altLang="en-US" sz="1600" b="1" dirty="0"/>
              <a:t>완전일주 </a:t>
            </a:r>
            <a:r>
              <a:rPr lang="en-US" altLang="ko-KR" sz="1600" b="1" dirty="0"/>
              <a:t>9</a:t>
            </a:r>
            <a:r>
              <a:rPr lang="ko-KR" altLang="en-US" sz="1600" b="1" dirty="0"/>
              <a:t>일</a:t>
            </a:r>
            <a:endParaRPr lang="ko-KR" altLang="en-US" sz="12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7C232E-2302-2FB2-A8BF-48A5014434BE}"/>
              </a:ext>
            </a:extLst>
          </p:cNvPr>
          <p:cNvSpPr txBox="1"/>
          <p:nvPr/>
        </p:nvSpPr>
        <p:spPr>
          <a:xfrm>
            <a:off x="963512" y="1316363"/>
            <a:ext cx="647700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벵골 역사부터 세계 최대 </a:t>
            </a:r>
            <a:r>
              <a:rPr lang="ko-KR" altLang="en-US" sz="1200" dirty="0" err="1"/>
              <a:t>맹그로브</a:t>
            </a:r>
            <a:r>
              <a:rPr lang="ko-KR" altLang="en-US" sz="1200" dirty="0"/>
              <a:t> 숲까지</a:t>
            </a:r>
            <a:endParaRPr lang="en-US" altLang="ko-KR" sz="1200" dirty="0"/>
          </a:p>
          <a:p>
            <a:r>
              <a:rPr lang="ko-KR" altLang="en-US" sz="1200" dirty="0"/>
              <a:t>경험의 밀도가 다른 나라</a:t>
            </a:r>
            <a:r>
              <a:rPr lang="en-US" altLang="ko-KR" sz="1200" dirty="0"/>
              <a:t>!</a:t>
            </a:r>
          </a:p>
          <a:p>
            <a:endParaRPr lang="en-US" altLang="ko-KR" sz="1200" b="1" dirty="0"/>
          </a:p>
          <a:p>
            <a:r>
              <a:rPr lang="ko-KR" altLang="en-US" sz="1600" b="1" dirty="0"/>
              <a:t>방글라데시</a:t>
            </a:r>
            <a:endParaRPr lang="en-US" altLang="ko-KR" sz="1600" b="1" dirty="0"/>
          </a:p>
          <a:p>
            <a:r>
              <a:rPr lang="ko-KR" altLang="en-US" sz="1600" b="1" dirty="0"/>
              <a:t>완전일주 </a:t>
            </a:r>
            <a:r>
              <a:rPr lang="en-US" altLang="ko-KR" sz="1600" b="1" dirty="0"/>
              <a:t>9</a:t>
            </a:r>
            <a:r>
              <a:rPr lang="ko-KR" altLang="en-US" sz="1600" b="1" dirty="0"/>
              <a:t>일</a:t>
            </a:r>
            <a:endParaRPr lang="ko-KR" alt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4CA20A-9330-6B3A-0145-BA0639CDB1C7}"/>
              </a:ext>
            </a:extLst>
          </p:cNvPr>
          <p:cNvSpPr txBox="1"/>
          <p:nvPr/>
        </p:nvSpPr>
        <p:spPr>
          <a:xfrm>
            <a:off x="807959" y="7538619"/>
            <a:ext cx="49148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벵골 역사부터 세계 최대 </a:t>
            </a:r>
            <a:r>
              <a:rPr lang="ko-KR" altLang="en-US" sz="800" dirty="0" err="1"/>
              <a:t>맹그로브</a:t>
            </a:r>
            <a:r>
              <a:rPr lang="ko-KR" altLang="en-US" sz="800" dirty="0"/>
              <a:t> 숲까지</a:t>
            </a:r>
            <a:r>
              <a:rPr lang="en-US" altLang="ko-KR" sz="800" dirty="0"/>
              <a:t>, </a:t>
            </a:r>
            <a:r>
              <a:rPr lang="ko-KR" altLang="en-US" sz="800" dirty="0"/>
              <a:t>경험의 밀도가 다른 나라</a:t>
            </a:r>
            <a:r>
              <a:rPr lang="en-US" altLang="ko-KR" sz="800" dirty="0"/>
              <a:t>!</a:t>
            </a:r>
          </a:p>
          <a:p>
            <a:endParaRPr lang="en-US" altLang="ko-KR" sz="800" b="1" dirty="0"/>
          </a:p>
          <a:p>
            <a:r>
              <a:rPr lang="ko-KR" altLang="en-US" sz="1000" b="1" dirty="0"/>
              <a:t>방글라데시</a:t>
            </a:r>
            <a:endParaRPr lang="en-US" altLang="ko-KR" sz="1000" b="1" dirty="0"/>
          </a:p>
          <a:p>
            <a:r>
              <a:rPr lang="ko-KR" altLang="en-US" sz="1000" b="1" dirty="0"/>
              <a:t>완전일주 </a:t>
            </a:r>
            <a:r>
              <a:rPr lang="en-US" altLang="ko-KR" sz="1000" b="1" dirty="0"/>
              <a:t>9</a:t>
            </a:r>
            <a:r>
              <a:rPr lang="ko-KR" altLang="en-US" sz="1000" b="1" dirty="0"/>
              <a:t>일</a:t>
            </a:r>
            <a:endParaRPr lang="ko-KR" altLang="en-US" sz="8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AA8088-8815-2010-5A24-704924773DA6}"/>
              </a:ext>
            </a:extLst>
          </p:cNvPr>
          <p:cNvSpPr txBox="1"/>
          <p:nvPr/>
        </p:nvSpPr>
        <p:spPr>
          <a:xfrm>
            <a:off x="-504504" y="5794887"/>
            <a:ext cx="4914853" cy="9618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/>
              <a:t>벵골 역사부터 세계 최대 </a:t>
            </a:r>
            <a:r>
              <a:rPr lang="ko-KR" altLang="en-US" sz="800" dirty="0" err="1"/>
              <a:t>맹그로브</a:t>
            </a:r>
            <a:r>
              <a:rPr lang="ko-KR" altLang="en-US" sz="800" dirty="0"/>
              <a:t> 숲까지</a:t>
            </a:r>
            <a:endParaRPr lang="en-US" altLang="ko-KR" sz="800" dirty="0"/>
          </a:p>
          <a:p>
            <a:pPr algn="ctr"/>
            <a:r>
              <a:rPr lang="ko-KR" altLang="en-US" sz="800" dirty="0"/>
              <a:t>경험의 밀도가 다른 나라</a:t>
            </a:r>
            <a:r>
              <a:rPr lang="en-US" altLang="ko-KR" sz="800" dirty="0"/>
              <a:t>!</a:t>
            </a:r>
          </a:p>
          <a:p>
            <a:pPr algn="ctr"/>
            <a:endParaRPr lang="en-US" altLang="ko-KR" sz="1000" b="1" dirty="0"/>
          </a:p>
          <a:p>
            <a:pPr algn="ctr"/>
            <a:r>
              <a:rPr lang="ko-KR" altLang="en-US" sz="1000" b="1" dirty="0"/>
              <a:t>방글라데시</a:t>
            </a:r>
            <a:endParaRPr lang="en-US" altLang="ko-KR" sz="1000" b="1" dirty="0"/>
          </a:p>
          <a:p>
            <a:pPr algn="ctr"/>
            <a:r>
              <a:rPr lang="ko-KR" altLang="en-US" sz="1000" b="1" dirty="0"/>
              <a:t>완전일주 </a:t>
            </a:r>
            <a:r>
              <a:rPr lang="en-US" altLang="ko-KR" sz="1000" b="1" dirty="0"/>
              <a:t>9</a:t>
            </a:r>
            <a:r>
              <a:rPr lang="ko-KR" altLang="en-US" sz="1000" b="1" dirty="0"/>
              <a:t>일</a:t>
            </a:r>
            <a:endParaRPr lang="ko-KR" altLang="en-US" sz="800" b="1" dirty="0"/>
          </a:p>
          <a:p>
            <a:pPr algn="ctr"/>
            <a:endParaRPr lang="ko-KR" altLang="en-US" sz="1050" b="1" dirty="0"/>
          </a:p>
        </p:txBody>
      </p:sp>
    </p:spTree>
    <p:extLst>
      <p:ext uri="{BB962C8B-B14F-4D97-AF65-F5344CB8AC3E}">
        <p14:creationId xmlns:p14="http://schemas.microsoft.com/office/powerpoint/2010/main" val="15328111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3246</TotalTime>
  <Words>1472</Words>
  <Application>Microsoft Office PowerPoint</Application>
  <PresentationFormat>화면 슬라이드 쇼(4:3)</PresentationFormat>
  <Paragraphs>343</Paragraphs>
  <Slides>9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5" baseType="lpstr">
      <vt:lpstr>나눔고딕</vt:lpstr>
      <vt:lpstr>맑은 고딕</vt:lpstr>
      <vt:lpstr>Aptos</vt:lpstr>
      <vt:lpstr>Aptos Display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1 혜초여행</dc:creator>
  <cp:lastModifiedBy>1 혜초여행</cp:lastModifiedBy>
  <cp:revision>179</cp:revision>
  <dcterms:created xsi:type="dcterms:W3CDTF">2025-12-26T06:18:40Z</dcterms:created>
  <dcterms:modified xsi:type="dcterms:W3CDTF">2026-04-20T07:32:44Z</dcterms:modified>
</cp:coreProperties>
</file>