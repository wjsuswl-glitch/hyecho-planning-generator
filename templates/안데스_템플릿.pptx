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CEA3A-19AA-47B4-B215-DF969784585D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5262-6FC4-4E29-812F-9AD0388CD3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370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5262-6FC4-4E29-812F-9AD0388CD34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71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11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7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41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727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68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60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49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102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81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515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10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BD653-AE6B-4A44-9AFB-545B53F7A4DF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79E9A-3FD7-4724-AB0F-6984F47E27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40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E3CEA6-67CB-0484-4084-76BBB425D6A5}"/>
              </a:ext>
            </a:extLst>
          </p:cNvPr>
          <p:cNvSpPr/>
          <p:nvPr/>
        </p:nvSpPr>
        <p:spPr>
          <a:xfrm>
            <a:off x="761999" y="7994372"/>
            <a:ext cx="2689535" cy="1747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0A252-8E7E-CBCC-6911-E861CE5BB49A}"/>
              </a:ext>
            </a:extLst>
          </p:cNvPr>
          <p:cNvSpPr/>
          <p:nvPr/>
        </p:nvSpPr>
        <p:spPr>
          <a:xfrm>
            <a:off x="0" y="1"/>
            <a:ext cx="6858000" cy="28090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E77633F-5A5A-8A0D-EF62-58BE407276E0}"/>
              </a:ext>
            </a:extLst>
          </p:cNvPr>
          <p:cNvSpPr/>
          <p:nvPr/>
        </p:nvSpPr>
        <p:spPr>
          <a:xfrm>
            <a:off x="1190380" y="7896098"/>
            <a:ext cx="170417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CB07F-867D-777C-5417-E7BB5320B8D4}"/>
              </a:ext>
            </a:extLst>
          </p:cNvPr>
          <p:cNvSpPr txBox="1"/>
          <p:nvPr/>
        </p:nvSpPr>
        <p:spPr>
          <a:xfrm>
            <a:off x="2041440" y="326572"/>
            <a:ext cx="277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i="1"/>
              <a:t>문명에서 대자연으로</a:t>
            </a:r>
            <a:r>
              <a:rPr lang="en-US" altLang="ko-KR" sz="1200" i="1"/>
              <a:t>,</a:t>
            </a:r>
          </a:p>
          <a:p>
            <a:pPr algn="ctr"/>
            <a:r>
              <a:rPr lang="ko-KR" altLang="en-US" sz="1200" i="1"/>
              <a:t>안데스 고원을 따라 펼쳐지는 대서사시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C93D1-E09C-C597-7816-6CB9E3536E37}"/>
              </a:ext>
            </a:extLst>
          </p:cNvPr>
          <p:cNvSpPr txBox="1"/>
          <p:nvPr/>
        </p:nvSpPr>
        <p:spPr>
          <a:xfrm>
            <a:off x="2195429" y="1026273"/>
            <a:ext cx="25474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/>
              <a:t>안데스 </a:t>
            </a:r>
            <a:endParaRPr lang="en-US" altLang="ko-KR" sz="3200" b="1"/>
          </a:p>
          <a:p>
            <a:pPr algn="ctr"/>
            <a:r>
              <a:rPr lang="ko-KR" altLang="en-US" sz="3200" b="1"/>
              <a:t>고원기행 </a:t>
            </a:r>
            <a:r>
              <a:rPr lang="en-US" altLang="ko-KR" sz="2400" b="1"/>
              <a:t>14</a:t>
            </a:r>
            <a:r>
              <a:rPr lang="ko-KR" altLang="en-US" sz="2400" b="1"/>
              <a:t>일</a:t>
            </a:r>
            <a:endParaRPr lang="ko-KR" altLang="en-US" sz="32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71CF-0D5B-954D-63FC-8A70A7F361E3}"/>
              </a:ext>
            </a:extLst>
          </p:cNvPr>
          <p:cNvSpPr txBox="1"/>
          <p:nvPr/>
        </p:nvSpPr>
        <p:spPr>
          <a:xfrm>
            <a:off x="2456617" y="2047110"/>
            <a:ext cx="1944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/>
              <a:t>페루</a:t>
            </a:r>
            <a:r>
              <a:rPr lang="en-US" altLang="ko-KR" sz="1600"/>
              <a:t>·</a:t>
            </a:r>
            <a:r>
              <a:rPr lang="ko-KR" altLang="en-US" sz="1600"/>
              <a:t>볼리비아</a:t>
            </a:r>
            <a:r>
              <a:rPr lang="en-US" altLang="ko-KR" sz="1600"/>
              <a:t>·</a:t>
            </a:r>
            <a:r>
              <a:rPr lang="ko-KR" altLang="en-US" sz="1600"/>
              <a:t>칠레</a:t>
            </a:r>
            <a:endParaRPr lang="en-US" altLang="ko-KR" sz="16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91049F-1003-2C5E-237D-EED49CB02263}"/>
              </a:ext>
            </a:extLst>
          </p:cNvPr>
          <p:cNvSpPr/>
          <p:nvPr/>
        </p:nvSpPr>
        <p:spPr>
          <a:xfrm>
            <a:off x="0" y="2809099"/>
            <a:ext cx="6858000" cy="4381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D968F-D860-C8FF-8BF7-05B844D6034B}"/>
              </a:ext>
            </a:extLst>
          </p:cNvPr>
          <p:cNvSpPr txBox="1"/>
          <p:nvPr/>
        </p:nvSpPr>
        <p:spPr>
          <a:xfrm>
            <a:off x="251669" y="3120538"/>
            <a:ext cx="27863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안데스의 고도를 따라 펼쳐지는</a:t>
            </a:r>
          </a:p>
          <a:p>
            <a:r>
              <a:rPr lang="ko-KR" altLang="en-US" sz="13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문명과 대자연의 경이로운 파노라마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967BC0-F799-D801-F5CF-51F4E1612AFB}"/>
              </a:ext>
            </a:extLst>
          </p:cNvPr>
          <p:cNvSpPr txBox="1"/>
          <p:nvPr/>
        </p:nvSpPr>
        <p:spPr>
          <a:xfrm>
            <a:off x="259406" y="3793109"/>
            <a:ext cx="460414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남미 서부를 따라 약 </a:t>
            </a:r>
            <a:r>
              <a:rPr lang="en-US" altLang="ko-KR" sz="1200"/>
              <a:t>7,000km</a:t>
            </a:r>
            <a:r>
              <a:rPr lang="ko-KR" altLang="en-US" sz="1200"/>
              <a:t>에 걸쳐 형성된</a:t>
            </a:r>
            <a:endParaRPr lang="en-US" altLang="ko-KR" sz="1200"/>
          </a:p>
          <a:p>
            <a:r>
              <a:rPr lang="ko-KR" altLang="en-US" sz="1200"/>
              <a:t>최장 길이의 안데스 산맥</a:t>
            </a:r>
            <a:r>
              <a:rPr lang="en-US" altLang="ko-KR" sz="1200"/>
              <a:t>!</a:t>
            </a:r>
          </a:p>
          <a:p>
            <a:r>
              <a:rPr lang="ko-KR" altLang="en-US" sz="1200"/>
              <a:t>페루</a:t>
            </a:r>
            <a:r>
              <a:rPr lang="en-US" altLang="ko-KR" sz="1200"/>
              <a:t>-</a:t>
            </a:r>
            <a:r>
              <a:rPr lang="ko-KR" altLang="en-US" sz="1200"/>
              <a:t>볼리비아</a:t>
            </a:r>
            <a:r>
              <a:rPr lang="en-US" altLang="ko-KR" sz="1200"/>
              <a:t>-</a:t>
            </a:r>
            <a:r>
              <a:rPr lang="ko-KR" altLang="en-US" sz="1200"/>
              <a:t>칠레로 이어지는 중앙 안데스는</a:t>
            </a:r>
            <a:endParaRPr lang="en-US" altLang="ko-KR" sz="1200"/>
          </a:p>
          <a:p>
            <a:r>
              <a:rPr lang="ko-KR" altLang="en-US" sz="1200"/>
              <a:t>지리적</a:t>
            </a:r>
            <a:r>
              <a:rPr lang="en-US" altLang="ko-KR" sz="1200"/>
              <a:t>·</a:t>
            </a:r>
            <a:r>
              <a:rPr lang="ko-KR" altLang="en-US" sz="1200"/>
              <a:t>문명적 특징이 집약되어</a:t>
            </a:r>
            <a:endParaRPr lang="en-US" altLang="ko-KR" sz="1200"/>
          </a:p>
          <a:p>
            <a:r>
              <a:rPr lang="ko-KR" altLang="en-US" sz="1200"/>
              <a:t>고산 도시</a:t>
            </a:r>
            <a:r>
              <a:rPr lang="en-US" altLang="ko-KR" sz="1200"/>
              <a:t>, </a:t>
            </a:r>
            <a:r>
              <a:rPr lang="ko-KR" altLang="en-US" sz="1200"/>
              <a:t>고원</a:t>
            </a:r>
            <a:r>
              <a:rPr lang="en-US" altLang="ko-KR" sz="1200"/>
              <a:t> </a:t>
            </a:r>
            <a:r>
              <a:rPr lang="ko-KR" altLang="en-US" sz="1200"/>
              <a:t>지대</a:t>
            </a:r>
            <a:r>
              <a:rPr lang="en-US" altLang="ko-KR" sz="1200"/>
              <a:t>, </a:t>
            </a:r>
            <a:r>
              <a:rPr lang="ko-KR" altLang="en-US" sz="1200"/>
              <a:t>사막이 하나의 흐름으로 </a:t>
            </a:r>
            <a:r>
              <a:rPr lang="en-US" altLang="ko-KR" sz="1200"/>
              <a:t> </a:t>
            </a:r>
            <a:r>
              <a:rPr lang="ko-KR" altLang="en-US" sz="1200"/>
              <a:t>이어지는 곳입니다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혜초는 중앙 안데스를 따라 이동하며</a:t>
            </a:r>
            <a:endParaRPr lang="en-US" altLang="ko-KR" sz="1200"/>
          </a:p>
          <a:p>
            <a:r>
              <a:rPr lang="ko-KR" altLang="en-US" sz="1200"/>
              <a:t>아레피카의 식민지 문화</a:t>
            </a:r>
            <a:r>
              <a:rPr lang="en-US" altLang="ko-KR" sz="1200"/>
              <a:t>, </a:t>
            </a:r>
            <a:r>
              <a:rPr lang="ko-KR" altLang="en-US" sz="1200"/>
              <a:t>쿠스코의 잉카 문명</a:t>
            </a:r>
            <a:r>
              <a:rPr lang="en-US" altLang="ko-KR" sz="1200"/>
              <a:t>, </a:t>
            </a:r>
          </a:p>
          <a:p>
            <a:r>
              <a:rPr lang="ko-KR" altLang="en-US" sz="1200"/>
              <a:t>티티카카 호수로 이어지는 </a:t>
            </a:r>
            <a:r>
              <a:rPr lang="en-US" altLang="ko-KR" sz="1200"/>
              <a:t>‘</a:t>
            </a:r>
            <a:r>
              <a:rPr lang="ko-KR" altLang="en-US" sz="1200"/>
              <a:t>태양의 길</a:t>
            </a:r>
            <a:r>
              <a:rPr lang="en-US" altLang="ko-KR" sz="1200"/>
              <a:t>‘</a:t>
            </a:r>
            <a:r>
              <a:rPr lang="ko-KR" altLang="en-US" sz="1200"/>
              <a:t>과</a:t>
            </a:r>
            <a:endParaRPr lang="en-US" altLang="ko-KR" sz="1200"/>
          </a:p>
          <a:p>
            <a:r>
              <a:rPr lang="ko-KR" altLang="en-US" sz="1200"/>
              <a:t>라키 유적을 통해 문명의 확장 과정을 경험하고</a:t>
            </a:r>
            <a:endParaRPr lang="en-US" altLang="ko-KR" sz="1200"/>
          </a:p>
          <a:p>
            <a:r>
              <a:rPr lang="ko-KR" altLang="en-US" sz="1200"/>
              <a:t>우유니</a:t>
            </a:r>
            <a:r>
              <a:rPr lang="en-US" altLang="ko-KR" sz="1200"/>
              <a:t>, </a:t>
            </a:r>
            <a:r>
              <a:rPr lang="ko-KR" altLang="en-US" sz="1200"/>
              <a:t>아타카마 사막까지 이어지는</a:t>
            </a:r>
            <a:endParaRPr lang="en-US" altLang="ko-KR" sz="1200"/>
          </a:p>
          <a:p>
            <a:r>
              <a:rPr lang="ko-KR" altLang="en-US" sz="1200"/>
              <a:t>안데스 고원의 자연과 문화를 단계적으로 경험합니다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안데스 산맥이 품은 대자연</a:t>
            </a:r>
            <a:r>
              <a:rPr lang="en-US" altLang="ko-KR" sz="1200"/>
              <a:t>,</a:t>
            </a:r>
          </a:p>
          <a:p>
            <a:r>
              <a:rPr lang="ko-KR" altLang="en-US" sz="1200"/>
              <a:t>그리고 그 속에서 찬란하게 피어난 문명과 문화까지</a:t>
            </a:r>
            <a:endParaRPr lang="en-US" altLang="ko-KR" sz="1200"/>
          </a:p>
          <a:p>
            <a:r>
              <a:rPr lang="ko-KR" altLang="en-US" sz="1200"/>
              <a:t>혜초와 함께 깊이 있게 경험해 보세요</a:t>
            </a:r>
            <a:r>
              <a:rPr lang="en-US" altLang="ko-KR" sz="1200"/>
              <a:t>!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28268B-FAA6-46DB-2B69-DB7326D873FE}"/>
              </a:ext>
            </a:extLst>
          </p:cNvPr>
          <p:cNvSpPr/>
          <p:nvPr/>
        </p:nvSpPr>
        <p:spPr>
          <a:xfrm>
            <a:off x="5518572" y="4877766"/>
            <a:ext cx="1136468" cy="337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지도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D9C1EE2-15AD-FB42-3110-0EBE3B1E6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23" y="2385664"/>
            <a:ext cx="5889928" cy="535750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E884E1-E6BA-043D-31A2-128E9DDAEC22}"/>
              </a:ext>
            </a:extLst>
          </p:cNvPr>
          <p:cNvSpPr txBox="1"/>
          <p:nvPr/>
        </p:nvSpPr>
        <p:spPr>
          <a:xfrm>
            <a:off x="9441624" y="3644400"/>
            <a:ext cx="55656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/>
              <a:t>리마 </a:t>
            </a:r>
            <a:r>
              <a:rPr lang="en-US" altLang="ko-KR" sz="900" b="1"/>
              <a:t>IN</a:t>
            </a:r>
            <a:endParaRPr lang="ko-KR" altLang="en-US" sz="9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4ED05-D5D9-9D8B-0854-456247DF1532}"/>
              </a:ext>
            </a:extLst>
          </p:cNvPr>
          <p:cNvSpPr txBox="1"/>
          <p:nvPr/>
        </p:nvSpPr>
        <p:spPr>
          <a:xfrm>
            <a:off x="10180347" y="3319044"/>
            <a:ext cx="415498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/>
              <a:t>페루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089C93-67FB-61D7-323D-609A9D971D61}"/>
              </a:ext>
            </a:extLst>
          </p:cNvPr>
          <p:cNvSpPr txBox="1"/>
          <p:nvPr/>
        </p:nvSpPr>
        <p:spPr>
          <a:xfrm>
            <a:off x="10517295" y="4529423"/>
            <a:ext cx="59503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아레키파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38F0FD-8440-8E70-AA9A-FD82C9893D29}"/>
              </a:ext>
            </a:extLst>
          </p:cNvPr>
          <p:cNvSpPr txBox="1"/>
          <p:nvPr/>
        </p:nvSpPr>
        <p:spPr>
          <a:xfrm>
            <a:off x="10581415" y="3742405"/>
            <a:ext cx="530915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/>
              <a:t>쿠스코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35763-A362-7E1A-77DD-7547DE8CCC5A}"/>
              </a:ext>
            </a:extLst>
          </p:cNvPr>
          <p:cNvSpPr txBox="1"/>
          <p:nvPr/>
        </p:nvSpPr>
        <p:spPr>
          <a:xfrm>
            <a:off x="11208949" y="3988115"/>
            <a:ext cx="646331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/>
              <a:t>마추픽추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131DB9-F665-09DB-2381-315B70A3DD43}"/>
              </a:ext>
            </a:extLst>
          </p:cNvPr>
          <p:cNvSpPr txBox="1"/>
          <p:nvPr/>
        </p:nvSpPr>
        <p:spPr>
          <a:xfrm>
            <a:off x="11465430" y="4171366"/>
            <a:ext cx="389850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푸노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41C64C-AA1A-663A-29F7-A181B9946569}"/>
              </a:ext>
            </a:extLst>
          </p:cNvPr>
          <p:cNvSpPr txBox="1"/>
          <p:nvPr/>
        </p:nvSpPr>
        <p:spPr>
          <a:xfrm>
            <a:off x="11660355" y="4434542"/>
            <a:ext cx="492443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라파즈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8E4D9-36F0-1A56-11B5-6F3AC2D5023D}"/>
              </a:ext>
            </a:extLst>
          </p:cNvPr>
          <p:cNvSpPr txBox="1"/>
          <p:nvPr/>
        </p:nvSpPr>
        <p:spPr>
          <a:xfrm>
            <a:off x="11888122" y="4990483"/>
            <a:ext cx="492443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우유니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7B690-EEE8-B28F-C0B5-4BC01103DB29}"/>
              </a:ext>
            </a:extLst>
          </p:cNvPr>
          <p:cNvSpPr txBox="1"/>
          <p:nvPr/>
        </p:nvSpPr>
        <p:spPr>
          <a:xfrm>
            <a:off x="11609058" y="5573960"/>
            <a:ext cx="59503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/>
              <a:t>아타카마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C25F2-E9F6-585F-9A27-3E2CE3DBE10E}"/>
              </a:ext>
            </a:extLst>
          </p:cNvPr>
          <p:cNvSpPr txBox="1"/>
          <p:nvPr/>
        </p:nvSpPr>
        <p:spPr>
          <a:xfrm>
            <a:off x="10190472" y="7020646"/>
            <a:ext cx="893193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900" b="1"/>
              <a:t>산티아고 </a:t>
            </a:r>
            <a:r>
              <a:rPr lang="en-US" altLang="ko-KR" sz="900" b="1"/>
              <a:t>OUT</a:t>
            </a:r>
            <a:endParaRPr lang="ko-KR" altLang="en-US" sz="900" b="1"/>
          </a:p>
        </p:txBody>
      </p:sp>
      <p:pic>
        <p:nvPicPr>
          <p:cNvPr id="1026" name="Picture 2" descr="1000년 전 안데스인 두개골에 구멍 낸 주범은 바로…'기후변화' - 경향신문">
            <a:extLst>
              <a:ext uri="{FF2B5EF4-FFF2-40B4-BE49-F238E27FC236}">
                <a16:creationId xmlns:a16="http://schemas.microsoft.com/office/drawing/2014/main" id="{32FC7A98-A2CD-1588-8953-CEB30D1EA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699" y="2556698"/>
            <a:ext cx="1827778" cy="200643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22313E4-B5CD-524C-44C7-A04AB269583F}"/>
              </a:ext>
            </a:extLst>
          </p:cNvPr>
          <p:cNvSpPr txBox="1"/>
          <p:nvPr/>
        </p:nvSpPr>
        <p:spPr>
          <a:xfrm>
            <a:off x="7678615" y="1852246"/>
            <a:ext cx="3049233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100"/>
              <a:t>남미 전체지도와</a:t>
            </a:r>
            <a:endParaRPr lang="en-US" altLang="ko-KR" sz="1100"/>
          </a:p>
          <a:p>
            <a:r>
              <a:rPr lang="ko-KR" altLang="en-US" sz="1100"/>
              <a:t>안데스산맥 표시 지도를 옆에 작게 넣어주세요</a:t>
            </a:r>
            <a:r>
              <a:rPr lang="en-US" altLang="ko-KR" sz="1100"/>
              <a:t>.</a:t>
            </a:r>
            <a:endParaRPr lang="ko-KR" altLang="en-US" sz="110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04686B7-B464-3204-A812-0D2424B56A90}"/>
              </a:ext>
            </a:extLst>
          </p:cNvPr>
          <p:cNvCxnSpPr/>
          <p:nvPr/>
        </p:nvCxnSpPr>
        <p:spPr>
          <a:xfrm>
            <a:off x="8874369" y="2848708"/>
            <a:ext cx="1019908" cy="70116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6EA51C3-9654-A819-C7FC-9F28CE3E3DA0}"/>
              </a:ext>
            </a:extLst>
          </p:cNvPr>
          <p:cNvCxnSpPr>
            <a:cxnSpLocks/>
          </p:cNvCxnSpPr>
          <p:nvPr/>
        </p:nvCxnSpPr>
        <p:spPr>
          <a:xfrm flipV="1">
            <a:off x="8699997" y="4012920"/>
            <a:ext cx="1298190" cy="37066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D3FDAF-3D69-F9C2-DD6E-E783D94E9611}"/>
              </a:ext>
            </a:extLst>
          </p:cNvPr>
          <p:cNvSpPr/>
          <p:nvPr/>
        </p:nvSpPr>
        <p:spPr>
          <a:xfrm>
            <a:off x="5563606" y="219947"/>
            <a:ext cx="1136468" cy="3374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메인이미지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1AFEC3-E8F6-5A8C-FFC2-B17A8ABF3901}"/>
              </a:ext>
            </a:extLst>
          </p:cNvPr>
          <p:cNvSpPr/>
          <p:nvPr/>
        </p:nvSpPr>
        <p:spPr>
          <a:xfrm>
            <a:off x="-2" y="7190490"/>
            <a:ext cx="6858000" cy="2699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598DE5-9055-F05C-1347-BBE8B832407F}"/>
              </a:ext>
            </a:extLst>
          </p:cNvPr>
          <p:cNvSpPr txBox="1"/>
          <p:nvPr/>
        </p:nvSpPr>
        <p:spPr>
          <a:xfrm>
            <a:off x="2706787" y="7251478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남미 여행도 혜초와</a:t>
            </a:r>
            <a:r>
              <a:rPr lang="en-US" altLang="ko-KR" sz="1200"/>
              <a:t>!</a:t>
            </a:r>
          </a:p>
          <a:p>
            <a:pPr algn="ctr"/>
            <a:r>
              <a:rPr lang="ko-KR" altLang="en-US" sz="1600" b="1"/>
              <a:t>이유 있는 선택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7826714-A7B2-252A-8C2D-63101B5C09E3}"/>
              </a:ext>
            </a:extLst>
          </p:cNvPr>
          <p:cNvSpPr/>
          <p:nvPr/>
        </p:nvSpPr>
        <p:spPr>
          <a:xfrm>
            <a:off x="3629890" y="7994372"/>
            <a:ext cx="2689535" cy="1728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FD9882-CE77-2140-B04B-B3BFC9A97734}"/>
              </a:ext>
            </a:extLst>
          </p:cNvPr>
          <p:cNvSpPr txBox="1"/>
          <p:nvPr/>
        </p:nvSpPr>
        <p:spPr>
          <a:xfrm>
            <a:off x="2101408" y="732842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552FB5-D5E6-6FF0-214E-4EDA864283FA}"/>
              </a:ext>
            </a:extLst>
          </p:cNvPr>
          <p:cNvSpPr txBox="1"/>
          <p:nvPr/>
        </p:nvSpPr>
        <p:spPr>
          <a:xfrm>
            <a:off x="4160610" y="7317442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C0089B-F757-6A63-EE2B-E5C51A733882}"/>
              </a:ext>
            </a:extLst>
          </p:cNvPr>
          <p:cNvSpPr/>
          <p:nvPr/>
        </p:nvSpPr>
        <p:spPr>
          <a:xfrm>
            <a:off x="4289485" y="8393927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벡터 이미지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6DB32D-7483-E4EF-F762-215106A84920}"/>
              </a:ext>
            </a:extLst>
          </p:cNvPr>
          <p:cNvSpPr txBox="1"/>
          <p:nvPr/>
        </p:nvSpPr>
        <p:spPr>
          <a:xfrm>
            <a:off x="1254433" y="7924022"/>
            <a:ext cx="1556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고산 환경 완벽 대비</a:t>
            </a:r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0EEFC6-224D-1350-25BF-FE10E6F0D3B9}"/>
              </a:ext>
            </a:extLst>
          </p:cNvPr>
          <p:cNvSpPr txBox="1"/>
          <p:nvPr/>
        </p:nvSpPr>
        <p:spPr>
          <a:xfrm>
            <a:off x="845355" y="8746062"/>
            <a:ext cx="244490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저지대부터 시작하여</a:t>
            </a:r>
            <a:endParaRPr lang="en-US" altLang="ko-KR" sz="1100"/>
          </a:p>
          <a:p>
            <a:pPr algn="ctr"/>
            <a:r>
              <a:rPr lang="ko-KR" altLang="en-US" sz="1100"/>
              <a:t>고도를 올리는 동선으로</a:t>
            </a:r>
            <a:endParaRPr lang="en-US" altLang="ko-KR" sz="1100"/>
          </a:p>
          <a:p>
            <a:pPr algn="ctr"/>
            <a:r>
              <a:rPr lang="ko-KR" altLang="en-US" sz="1100"/>
              <a:t>신체 적응 시간 확보</a:t>
            </a:r>
            <a:r>
              <a:rPr lang="en-US" altLang="ko-KR" sz="1100"/>
              <a:t>!</a:t>
            </a:r>
          </a:p>
          <a:p>
            <a:pPr algn="ctr"/>
            <a:r>
              <a:rPr lang="ko-KR" altLang="en-US" sz="1100"/>
              <a:t>산소통 및 고산증 대비</a:t>
            </a:r>
            <a:r>
              <a:rPr lang="en-US" altLang="ko-KR" sz="1100"/>
              <a:t> </a:t>
            </a:r>
            <a:r>
              <a:rPr lang="ko-KR" altLang="en-US" sz="1100"/>
              <a:t>체계까지 갖춘</a:t>
            </a:r>
            <a:endParaRPr lang="en-US" altLang="ko-KR" sz="1100"/>
          </a:p>
          <a:p>
            <a:pPr algn="ctr"/>
            <a:r>
              <a:rPr lang="ko-KR" altLang="en-US" sz="1100"/>
              <a:t>안정적 운영 시스템</a:t>
            </a:r>
            <a:endParaRPr lang="en-US" altLang="ko-KR" sz="11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2E9B1D-AC4C-93FC-702B-BF36868473D3}"/>
              </a:ext>
            </a:extLst>
          </p:cNvPr>
          <p:cNvSpPr txBox="1"/>
          <p:nvPr/>
        </p:nvSpPr>
        <p:spPr>
          <a:xfrm>
            <a:off x="3647589" y="8911270"/>
            <a:ext cx="247375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항공 중심이 아닌 육로 중심 일정으로</a:t>
            </a:r>
            <a:endParaRPr lang="en-US" altLang="ko-KR" sz="1100"/>
          </a:p>
          <a:p>
            <a:pPr algn="ctr"/>
            <a:r>
              <a:rPr lang="ko-KR" altLang="en-US" sz="1100"/>
              <a:t>안데스 고원의 변화를 연속적으로</a:t>
            </a:r>
            <a:endParaRPr lang="en-US" altLang="ko-KR" sz="1100"/>
          </a:p>
          <a:p>
            <a:pPr algn="ctr"/>
            <a:r>
              <a:rPr lang="ko-KR" altLang="en-US" sz="1100"/>
              <a:t>경험할 수 있는 국내 유일 여정</a:t>
            </a:r>
            <a:endParaRPr lang="en-US" altLang="ko-KR" sz="11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A121446-4181-4DC8-ECE6-0EDC10445678}"/>
              </a:ext>
            </a:extLst>
          </p:cNvPr>
          <p:cNvSpPr/>
          <p:nvPr/>
        </p:nvSpPr>
        <p:spPr>
          <a:xfrm>
            <a:off x="1432047" y="8393926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벡터 이미지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6FD9084-B13D-9E5D-E5AE-F8DA3056B6FA}"/>
              </a:ext>
            </a:extLst>
          </p:cNvPr>
          <p:cNvSpPr/>
          <p:nvPr/>
        </p:nvSpPr>
        <p:spPr>
          <a:xfrm>
            <a:off x="3964473" y="7893385"/>
            <a:ext cx="1704171" cy="369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301D81-F1AF-17B2-4042-F159FF2C500C}"/>
              </a:ext>
            </a:extLst>
          </p:cNvPr>
          <p:cNvSpPr txBox="1"/>
          <p:nvPr/>
        </p:nvSpPr>
        <p:spPr>
          <a:xfrm>
            <a:off x="4044558" y="7921309"/>
            <a:ext cx="1524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육로 중심 로드트립</a:t>
            </a:r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82E8464-0386-D342-B148-955945A9BAFC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655040" y="5046495"/>
            <a:ext cx="398183" cy="179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106410E-5E88-3365-60BA-6E7983220ACB}"/>
              </a:ext>
            </a:extLst>
          </p:cNvPr>
          <p:cNvSpPr txBox="1"/>
          <p:nvPr/>
        </p:nvSpPr>
        <p:spPr>
          <a:xfrm rot="2410693">
            <a:off x="7626362" y="3313723"/>
            <a:ext cx="62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FFFF00"/>
                </a:solidFill>
              </a:rPr>
              <a:t>Andes</a:t>
            </a:r>
            <a:endParaRPr lang="ko-KR" altLang="en-US" sz="1200" b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9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024E9EE-8DB4-0446-0E15-E1C84213EF91}"/>
              </a:ext>
            </a:extLst>
          </p:cNvPr>
          <p:cNvSpPr/>
          <p:nvPr/>
        </p:nvSpPr>
        <p:spPr>
          <a:xfrm>
            <a:off x="761999" y="287286"/>
            <a:ext cx="2689535" cy="1747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1EF712-8DB5-92AA-6CDB-D86F1210BF52}"/>
              </a:ext>
            </a:extLst>
          </p:cNvPr>
          <p:cNvSpPr/>
          <p:nvPr/>
        </p:nvSpPr>
        <p:spPr>
          <a:xfrm>
            <a:off x="845356" y="96679"/>
            <a:ext cx="2468336" cy="461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A7EF48-BDC8-CB94-8419-E576430BA5C2}"/>
              </a:ext>
            </a:extLst>
          </p:cNvPr>
          <p:cNvSpPr/>
          <p:nvPr/>
        </p:nvSpPr>
        <p:spPr>
          <a:xfrm>
            <a:off x="3629890" y="287286"/>
            <a:ext cx="2689535" cy="1728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FF23FC-37FE-55DB-8423-A6350773941D}"/>
              </a:ext>
            </a:extLst>
          </p:cNvPr>
          <p:cNvSpPr/>
          <p:nvPr/>
        </p:nvSpPr>
        <p:spPr>
          <a:xfrm>
            <a:off x="4289485" y="686841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벡터 이미지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D491F7-C93E-A5B9-F9E0-581077C78148}"/>
              </a:ext>
            </a:extLst>
          </p:cNvPr>
          <p:cNvSpPr txBox="1"/>
          <p:nvPr/>
        </p:nvSpPr>
        <p:spPr>
          <a:xfrm>
            <a:off x="1262632" y="81532"/>
            <a:ext cx="1633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피로도는 낮추고</a:t>
            </a:r>
            <a:endParaRPr lang="en-US" altLang="ko-KR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낭만은 극대화한 숙박</a:t>
            </a:r>
            <a:endParaRPr lang="en-US" altLang="ko-KR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E0862-0843-32E0-8CBA-6593B4DE59BD}"/>
              </a:ext>
            </a:extLst>
          </p:cNvPr>
          <p:cNvSpPr txBox="1"/>
          <p:nvPr/>
        </p:nvSpPr>
        <p:spPr>
          <a:xfrm>
            <a:off x="910279" y="1206221"/>
            <a:ext cx="231505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비행의 피로</a:t>
            </a:r>
            <a:r>
              <a:rPr lang="en-US" altLang="ko-KR" sz="1100"/>
              <a:t>, </a:t>
            </a:r>
            <a:r>
              <a:rPr lang="ko-KR" altLang="en-US" sz="1100"/>
              <a:t>고산의 위험은 낮추고</a:t>
            </a:r>
            <a:endParaRPr lang="en-US" altLang="ko-KR" sz="1100"/>
          </a:p>
          <a:p>
            <a:pPr algn="ctr"/>
            <a:r>
              <a:rPr lang="ko-KR" altLang="en-US" sz="1100"/>
              <a:t>안데스의 낭만과 </a:t>
            </a:r>
            <a:endParaRPr lang="en-US" altLang="ko-KR" sz="1100"/>
          </a:p>
          <a:p>
            <a:pPr algn="ctr"/>
            <a:r>
              <a:rPr lang="ko-KR" altLang="en-US" sz="1100"/>
              <a:t>여유가 담긴</a:t>
            </a:r>
            <a:r>
              <a:rPr lang="en-US" altLang="ko-KR" sz="1100"/>
              <a:t> </a:t>
            </a:r>
            <a:r>
              <a:rPr lang="ko-KR" altLang="en-US" sz="1100"/>
              <a:t>숙박 시설 이용</a:t>
            </a:r>
            <a:endParaRPr lang="en-US" altLang="ko-KR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D9A62-F7A6-13FE-3B4C-734D81AD0DA9}"/>
              </a:ext>
            </a:extLst>
          </p:cNvPr>
          <p:cNvSpPr txBox="1"/>
          <p:nvPr/>
        </p:nvSpPr>
        <p:spPr>
          <a:xfrm>
            <a:off x="3655613" y="1204184"/>
            <a:ext cx="245772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노옵션</a:t>
            </a:r>
            <a:r>
              <a:rPr lang="en-US" altLang="ko-KR" sz="1100"/>
              <a:t>, </a:t>
            </a:r>
            <a:r>
              <a:rPr lang="ko-KR" altLang="en-US" sz="1100"/>
              <a:t>노쇼핑으로 </a:t>
            </a:r>
            <a:endParaRPr lang="en-US" altLang="ko-KR" sz="1100"/>
          </a:p>
          <a:p>
            <a:pPr algn="ctr"/>
            <a:r>
              <a:rPr lang="ko-KR" altLang="en-US" sz="1100"/>
              <a:t>오로지 여행에만 집중하고</a:t>
            </a:r>
            <a:endParaRPr lang="en-US" altLang="ko-KR" sz="1100"/>
          </a:p>
          <a:p>
            <a:pPr algn="ctr"/>
            <a:r>
              <a:rPr lang="ko-KR" altLang="en-US" sz="1100"/>
              <a:t>혜초 전문 인솔자 동행으로 안전하게</a:t>
            </a:r>
            <a:r>
              <a:rPr lang="en-US" altLang="ko-KR" sz="1100"/>
              <a:t>!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FE3BC1-0CB4-82D8-FF43-0D0B53B2984E}"/>
              </a:ext>
            </a:extLst>
          </p:cNvPr>
          <p:cNvSpPr/>
          <p:nvPr/>
        </p:nvSpPr>
        <p:spPr>
          <a:xfrm>
            <a:off x="1538532" y="686840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벡터 이미지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FCB94C-515E-3FF1-4D6F-345FD57C17D6}"/>
              </a:ext>
            </a:extLst>
          </p:cNvPr>
          <p:cNvSpPr/>
          <p:nvPr/>
        </p:nvSpPr>
        <p:spPr>
          <a:xfrm>
            <a:off x="-2" y="1"/>
            <a:ext cx="6858000" cy="228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C97C2D-9378-E147-EB33-BE4BA5F7F917}"/>
              </a:ext>
            </a:extLst>
          </p:cNvPr>
          <p:cNvSpPr/>
          <p:nvPr/>
        </p:nvSpPr>
        <p:spPr>
          <a:xfrm>
            <a:off x="3740489" y="106394"/>
            <a:ext cx="2468336" cy="461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C3E11-BDEF-409D-29CB-6CC7B98CD8ED}"/>
              </a:ext>
            </a:extLst>
          </p:cNvPr>
          <p:cNvSpPr txBox="1"/>
          <p:nvPr/>
        </p:nvSpPr>
        <p:spPr>
          <a:xfrm>
            <a:off x="4000963" y="113965"/>
            <a:ext cx="1941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옵션</a:t>
            </a:r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/NO</a:t>
            </a:r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쇼핑</a:t>
            </a:r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r>
              <a:rPr lang="ko-KR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인솔자 동행으로 안전하게</a:t>
            </a:r>
            <a:endParaRPr lang="en-US" altLang="ko-KR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1DA1F4-1C54-3687-6DBD-BEDA37690EBD}"/>
              </a:ext>
            </a:extLst>
          </p:cNvPr>
          <p:cNvSpPr/>
          <p:nvPr/>
        </p:nvSpPr>
        <p:spPr>
          <a:xfrm>
            <a:off x="0" y="2286000"/>
            <a:ext cx="6858000" cy="54729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44A39D-A123-E48C-844F-1DCF781488C8}"/>
              </a:ext>
            </a:extLst>
          </p:cNvPr>
          <p:cNvSpPr txBox="1"/>
          <p:nvPr/>
        </p:nvSpPr>
        <p:spPr>
          <a:xfrm>
            <a:off x="2706787" y="2421270"/>
            <a:ext cx="152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안데스 고원기행</a:t>
            </a:r>
            <a:endParaRPr lang="en-US" altLang="ko-KR" sz="1200"/>
          </a:p>
          <a:p>
            <a:pPr algn="ctr"/>
            <a:r>
              <a:rPr lang="ko-KR" altLang="en-US" sz="1600" b="1"/>
              <a:t>하이라이트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7696E-3FC4-E5CF-1441-18CCC75A8AA0}"/>
              </a:ext>
            </a:extLst>
          </p:cNvPr>
          <p:cNvSpPr txBox="1"/>
          <p:nvPr/>
        </p:nvSpPr>
        <p:spPr>
          <a:xfrm>
            <a:off x="2101408" y="2498214"/>
            <a:ext cx="65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5BB258-02EA-2EDE-C631-07DC25B3AA3A}"/>
              </a:ext>
            </a:extLst>
          </p:cNvPr>
          <p:cNvSpPr txBox="1"/>
          <p:nvPr/>
        </p:nvSpPr>
        <p:spPr>
          <a:xfrm>
            <a:off x="4160610" y="2487234"/>
            <a:ext cx="65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4D629-0A66-8C45-A143-F55E026E7F1B}"/>
              </a:ext>
            </a:extLst>
          </p:cNvPr>
          <p:cNvSpPr txBox="1"/>
          <p:nvPr/>
        </p:nvSpPr>
        <p:spPr>
          <a:xfrm>
            <a:off x="280930" y="2962259"/>
            <a:ext cx="465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📌</a:t>
            </a:r>
            <a:r>
              <a:rPr lang="en-US" altLang="ko-KR"/>
              <a:t> </a:t>
            </a:r>
            <a:r>
              <a:rPr lang="ko-KR" altLang="en-US" sz="1200" b="1"/>
              <a:t>안데스 산맥을 따라 페루</a:t>
            </a:r>
            <a:r>
              <a:rPr lang="en-US" altLang="ko-KR" sz="1200" b="1"/>
              <a:t>-</a:t>
            </a:r>
            <a:r>
              <a:rPr lang="ko-KR" altLang="en-US" sz="1200" b="1"/>
              <a:t>볼리비아</a:t>
            </a:r>
            <a:r>
              <a:rPr lang="en-US" altLang="ko-KR" sz="1200" b="1"/>
              <a:t>-</a:t>
            </a:r>
            <a:r>
              <a:rPr lang="ko-KR" altLang="en-US" sz="1200" b="1"/>
              <a:t>칠레를 종단하는 테마여행</a:t>
            </a:r>
            <a:endParaRPr lang="ko-KR" altLang="en-US" b="1"/>
          </a:p>
        </p:txBody>
      </p:sp>
      <p:sp>
        <p:nvSpPr>
          <p:cNvPr id="23" name="순서도: 지연 22">
            <a:extLst>
              <a:ext uri="{FF2B5EF4-FFF2-40B4-BE49-F238E27FC236}">
                <a16:creationId xmlns:a16="http://schemas.microsoft.com/office/drawing/2014/main" id="{5A672F00-2B54-DB5C-6C82-7AF17923BA72}"/>
              </a:ext>
            </a:extLst>
          </p:cNvPr>
          <p:cNvSpPr/>
          <p:nvPr/>
        </p:nvSpPr>
        <p:spPr>
          <a:xfrm rot="16200000">
            <a:off x="429410" y="3933215"/>
            <a:ext cx="1692154" cy="1989110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지연 23">
            <a:extLst>
              <a:ext uri="{FF2B5EF4-FFF2-40B4-BE49-F238E27FC236}">
                <a16:creationId xmlns:a16="http://schemas.microsoft.com/office/drawing/2014/main" id="{BAE5BE6E-5DE3-FE17-150A-3F48F96F91B9}"/>
              </a:ext>
            </a:extLst>
          </p:cNvPr>
          <p:cNvSpPr/>
          <p:nvPr/>
        </p:nvSpPr>
        <p:spPr>
          <a:xfrm rot="16200000">
            <a:off x="2574408" y="3933210"/>
            <a:ext cx="1692152" cy="1989111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순서도: 지연 25">
            <a:extLst>
              <a:ext uri="{FF2B5EF4-FFF2-40B4-BE49-F238E27FC236}">
                <a16:creationId xmlns:a16="http://schemas.microsoft.com/office/drawing/2014/main" id="{681DB262-7857-C56E-C133-EC7F8962C0A5}"/>
              </a:ext>
            </a:extLst>
          </p:cNvPr>
          <p:cNvSpPr/>
          <p:nvPr/>
        </p:nvSpPr>
        <p:spPr>
          <a:xfrm rot="16200000">
            <a:off x="4708599" y="3933209"/>
            <a:ext cx="1692152" cy="1989111"/>
          </a:xfrm>
          <a:prstGeom prst="flowChartDela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83CD374-E924-305D-953B-3D1FA25A04CD}"/>
              </a:ext>
            </a:extLst>
          </p:cNvPr>
          <p:cNvSpPr/>
          <p:nvPr/>
        </p:nvSpPr>
        <p:spPr>
          <a:xfrm>
            <a:off x="751020" y="4033908"/>
            <a:ext cx="918521" cy="288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/>
              <a:t>잉카 문명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3A033A-07F0-B4CB-0EC9-F0A5D35188DC}"/>
              </a:ext>
            </a:extLst>
          </p:cNvPr>
          <p:cNvSpPr/>
          <p:nvPr/>
        </p:nvSpPr>
        <p:spPr>
          <a:xfrm>
            <a:off x="2926029" y="4033908"/>
            <a:ext cx="918521" cy="288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/>
              <a:t>문화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ECA018C-CDBE-835E-B757-CAC4DD38D452}"/>
              </a:ext>
            </a:extLst>
          </p:cNvPr>
          <p:cNvSpPr/>
          <p:nvPr/>
        </p:nvSpPr>
        <p:spPr>
          <a:xfrm>
            <a:off x="5071026" y="4033908"/>
            <a:ext cx="918521" cy="2882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/>
              <a:t>자연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350287-1D69-695B-FBFE-D97F3EDC5724}"/>
              </a:ext>
            </a:extLst>
          </p:cNvPr>
          <p:cNvSpPr txBox="1"/>
          <p:nvPr/>
        </p:nvSpPr>
        <p:spPr>
          <a:xfrm>
            <a:off x="1855584" y="3304023"/>
            <a:ext cx="31918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시간을 거슬러 잉카의 위대한 유산을 마주하고</a:t>
            </a:r>
            <a:r>
              <a:rPr lang="en-US" altLang="ko-KR" sz="1100"/>
              <a:t>, </a:t>
            </a:r>
          </a:p>
          <a:p>
            <a:pPr algn="ctr"/>
            <a:r>
              <a:rPr lang="ko-KR" altLang="en-US" sz="1100"/>
              <a:t>과거와 현재가 공존하는 안데스인들의 문화와</a:t>
            </a:r>
            <a:endParaRPr lang="en-US" altLang="ko-KR" sz="1100"/>
          </a:p>
          <a:p>
            <a:pPr algn="ctr"/>
            <a:r>
              <a:rPr lang="ko-KR" altLang="en-US" sz="1100"/>
              <a:t>고도가 빚어낸 대자연의 경이로운 파노라마까지</a:t>
            </a:r>
            <a:r>
              <a:rPr lang="en-US" altLang="ko-KR" sz="1100"/>
              <a:t>!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5A3AAE-4676-AFFC-C594-D46D82FBF44D}"/>
              </a:ext>
            </a:extLst>
          </p:cNvPr>
          <p:cNvSpPr txBox="1"/>
          <p:nvPr/>
        </p:nvSpPr>
        <p:spPr>
          <a:xfrm>
            <a:off x="436260" y="5109812"/>
            <a:ext cx="139493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▪️마추픽추</a:t>
            </a:r>
            <a:endParaRPr lang="en-US" altLang="ko-KR" sz="1100"/>
          </a:p>
          <a:p>
            <a:r>
              <a:rPr lang="ko-KR" altLang="en-US" sz="1100"/>
              <a:t>▪️라키신전</a:t>
            </a:r>
            <a:endParaRPr lang="en-US" altLang="ko-KR" sz="1100"/>
          </a:p>
          <a:p>
            <a:r>
              <a:rPr lang="ko-KR" altLang="en-US" sz="1100"/>
              <a:t>▪️코리칸차 모라이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AB802B-E9DB-ED65-7985-987F3AEE25AC}"/>
              </a:ext>
            </a:extLst>
          </p:cNvPr>
          <p:cNvSpPr txBox="1"/>
          <p:nvPr/>
        </p:nvSpPr>
        <p:spPr>
          <a:xfrm>
            <a:off x="2546763" y="4992787"/>
            <a:ext cx="1685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▪️아레키파</a:t>
            </a:r>
            <a:endParaRPr lang="en-US" altLang="ko-KR" sz="1100"/>
          </a:p>
          <a:p>
            <a:r>
              <a:rPr lang="ko-KR" altLang="en-US" sz="1100"/>
              <a:t>▪️ 케추아 전통가옥</a:t>
            </a:r>
            <a:endParaRPr lang="en-US" altLang="ko-KR" sz="1100"/>
          </a:p>
          <a:p>
            <a:r>
              <a:rPr lang="ko-KR" altLang="en-US" sz="1100"/>
              <a:t>▪️ 티티카카 호수</a:t>
            </a:r>
            <a:endParaRPr lang="en-US" altLang="ko-KR" sz="1100"/>
          </a:p>
          <a:p>
            <a:r>
              <a:rPr lang="ko-KR" altLang="en-US" sz="1100"/>
              <a:t>▪️ 우로스 섬</a:t>
            </a:r>
            <a:r>
              <a:rPr lang="en-US" altLang="ko-KR" sz="1100"/>
              <a:t>&amp;</a:t>
            </a:r>
            <a:r>
              <a:rPr lang="ko-KR" altLang="en-US" sz="1100"/>
              <a:t>민속 공연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1F0EF7-9332-EA93-8BF1-CFF04AD4E1FB}"/>
              </a:ext>
            </a:extLst>
          </p:cNvPr>
          <p:cNvSpPr txBox="1"/>
          <p:nvPr/>
        </p:nvSpPr>
        <p:spPr>
          <a:xfrm>
            <a:off x="4577941" y="5279089"/>
            <a:ext cx="19046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▪️페루 태양의 길</a:t>
            </a:r>
            <a:endParaRPr lang="en-US" altLang="ko-KR" sz="1100"/>
          </a:p>
          <a:p>
            <a:r>
              <a:rPr lang="ko-KR" altLang="en-US" sz="1100"/>
              <a:t>▪️ 우유니 알티 플라노 고원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A564D3-8A4E-CDD0-9464-C65E28087DFE}"/>
              </a:ext>
            </a:extLst>
          </p:cNvPr>
          <p:cNvSpPr txBox="1"/>
          <p:nvPr/>
        </p:nvSpPr>
        <p:spPr>
          <a:xfrm>
            <a:off x="280930" y="5991575"/>
            <a:ext cx="362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📌</a:t>
            </a:r>
            <a:r>
              <a:rPr lang="en-US" altLang="ko-KR"/>
              <a:t> </a:t>
            </a:r>
            <a:r>
              <a:rPr lang="ko-KR" altLang="en-US" sz="1200" b="1"/>
              <a:t>안데스의 고도와 풍토가 빚어낸 미식 파노라마</a:t>
            </a:r>
            <a:endParaRPr lang="ko-KR" altLang="en-US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81D87A-C012-582C-AF73-EA936C475803}"/>
              </a:ext>
            </a:extLst>
          </p:cNvPr>
          <p:cNvSpPr txBox="1"/>
          <p:nvPr/>
        </p:nvSpPr>
        <p:spPr>
          <a:xfrm>
            <a:off x="534723" y="6884566"/>
            <a:ext cx="583364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페루와 칠레에서는 신선한 해산물을 활용한 세비체와 해산물 특식을 맛보고</a:t>
            </a:r>
            <a:endParaRPr lang="en-US" altLang="ko-KR" sz="1100"/>
          </a:p>
          <a:p>
            <a:pPr algn="ctr"/>
            <a:r>
              <a:rPr lang="ko-KR" altLang="en-US" sz="1100"/>
              <a:t>로모 살타도와 따뜻하고 육즙이 가득한 살테냐로 든든하게 체력을 보충하고</a:t>
            </a:r>
            <a:endParaRPr lang="en-US" altLang="ko-KR" sz="1100"/>
          </a:p>
          <a:p>
            <a:pPr algn="ctr"/>
            <a:r>
              <a:rPr lang="ko-KR" altLang="en-US" sz="1100"/>
              <a:t>발길이 닿는 자연환경에 따라 가장 알맞은 식재료와 요리로 다채로운 즐거움을 선사합니다</a:t>
            </a:r>
            <a:r>
              <a:rPr lang="en-US" altLang="ko-KR" sz="1100"/>
              <a:t>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D68B80-5C21-2C3E-B829-FDDE8AF620BF}"/>
              </a:ext>
            </a:extLst>
          </p:cNvPr>
          <p:cNvSpPr/>
          <p:nvPr/>
        </p:nvSpPr>
        <p:spPr>
          <a:xfrm>
            <a:off x="721225" y="4624674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80A1079-869D-8DBC-F48E-9ABCBE436290}"/>
              </a:ext>
            </a:extLst>
          </p:cNvPr>
          <p:cNvSpPr/>
          <p:nvPr/>
        </p:nvSpPr>
        <p:spPr>
          <a:xfrm>
            <a:off x="2883300" y="4620738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2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3064BE-19B4-3908-DB0B-CD521257EE50}"/>
              </a:ext>
            </a:extLst>
          </p:cNvPr>
          <p:cNvSpPr/>
          <p:nvPr/>
        </p:nvSpPr>
        <p:spPr>
          <a:xfrm>
            <a:off x="4991003" y="4620737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3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53B155-0A0B-8C3E-0A68-8A2E6CD302D8}"/>
              </a:ext>
            </a:extLst>
          </p:cNvPr>
          <p:cNvSpPr/>
          <p:nvPr/>
        </p:nvSpPr>
        <p:spPr>
          <a:xfrm>
            <a:off x="1289460" y="6474402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4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241DA2C-8E68-FD80-216A-233D24DBAC0B}"/>
              </a:ext>
            </a:extLst>
          </p:cNvPr>
          <p:cNvSpPr/>
          <p:nvPr/>
        </p:nvSpPr>
        <p:spPr>
          <a:xfrm>
            <a:off x="2883300" y="6474401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5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00D2B9-9EEC-D44F-98E3-3E7D52C86829}"/>
              </a:ext>
            </a:extLst>
          </p:cNvPr>
          <p:cNvSpPr/>
          <p:nvPr/>
        </p:nvSpPr>
        <p:spPr>
          <a:xfrm>
            <a:off x="4443638" y="6474400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6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158F32A-AA2B-7D32-C45B-947CBF39EA3E}"/>
              </a:ext>
            </a:extLst>
          </p:cNvPr>
          <p:cNvSpPr/>
          <p:nvPr/>
        </p:nvSpPr>
        <p:spPr>
          <a:xfrm>
            <a:off x="-2" y="7758953"/>
            <a:ext cx="6858000" cy="21470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DFAC40-364C-16A8-DD6A-28CDE0FDA6A4}"/>
              </a:ext>
            </a:extLst>
          </p:cNvPr>
          <p:cNvSpPr txBox="1"/>
          <p:nvPr/>
        </p:nvSpPr>
        <p:spPr>
          <a:xfrm>
            <a:off x="2083222" y="7944272"/>
            <a:ext cx="2771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안데스 중심축 완주</a:t>
            </a:r>
            <a:endParaRPr lang="en-US" altLang="ko-KR" sz="1200"/>
          </a:p>
          <a:p>
            <a:pPr algn="ctr"/>
            <a:r>
              <a:rPr lang="ko-KR" altLang="en-US" sz="1600" b="1"/>
              <a:t>문명과 자연을 넘나드는 여정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65BB54-5F2A-EB99-5B80-6B84C14740DC}"/>
              </a:ext>
            </a:extLst>
          </p:cNvPr>
          <p:cNvSpPr txBox="1"/>
          <p:nvPr/>
        </p:nvSpPr>
        <p:spPr>
          <a:xfrm>
            <a:off x="1464682" y="802121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521FBA-CD7D-5B4B-1980-EA12359CA6B6}"/>
              </a:ext>
            </a:extLst>
          </p:cNvPr>
          <p:cNvSpPr txBox="1"/>
          <p:nvPr/>
        </p:nvSpPr>
        <p:spPr>
          <a:xfrm>
            <a:off x="4850879" y="801023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49" name="순서도: 카드 48">
            <a:extLst>
              <a:ext uri="{FF2B5EF4-FFF2-40B4-BE49-F238E27FC236}">
                <a16:creationId xmlns:a16="http://schemas.microsoft.com/office/drawing/2014/main" id="{AEF735E3-EFE0-342E-77E5-50C7F31971A8}"/>
              </a:ext>
            </a:extLst>
          </p:cNvPr>
          <p:cNvSpPr/>
          <p:nvPr/>
        </p:nvSpPr>
        <p:spPr>
          <a:xfrm flipH="1">
            <a:off x="-1091" y="8640953"/>
            <a:ext cx="1134818" cy="379938"/>
          </a:xfrm>
          <a:prstGeom prst="flowChartPunchedCar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페루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578667-4BEB-4C4F-1A5B-95A89EE0AFB8}"/>
              </a:ext>
            </a:extLst>
          </p:cNvPr>
          <p:cNvSpPr txBox="1"/>
          <p:nvPr/>
        </p:nvSpPr>
        <p:spPr>
          <a:xfrm>
            <a:off x="2382450" y="8726716"/>
            <a:ext cx="200567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화산 아래 피어난 백색 도시</a:t>
            </a:r>
            <a:endParaRPr lang="en-US" altLang="ko-KR" sz="1200"/>
          </a:p>
          <a:p>
            <a:pPr algn="ctr"/>
            <a:r>
              <a:rPr lang="ko-KR" altLang="en-US" sz="1400" b="1"/>
              <a:t>아레키파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EA12E3-4407-7E81-EF5B-8466A7FF6492}"/>
              </a:ext>
            </a:extLst>
          </p:cNvPr>
          <p:cNvSpPr/>
          <p:nvPr/>
        </p:nvSpPr>
        <p:spPr>
          <a:xfrm>
            <a:off x="2883325" y="9351087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7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20290E-86D0-8F12-A9F4-0E2DAFC2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721" y="4367616"/>
            <a:ext cx="4048690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2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DD6B7F-0CE2-6D76-E0AD-B14DFCED8337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8531E2-DDAA-5795-75BE-71464F3EAAD1}"/>
              </a:ext>
            </a:extLst>
          </p:cNvPr>
          <p:cNvSpPr/>
          <p:nvPr/>
        </p:nvSpPr>
        <p:spPr>
          <a:xfrm>
            <a:off x="2860766" y="1774953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8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34916-8344-B114-58D2-82B26B5FAF7F}"/>
              </a:ext>
            </a:extLst>
          </p:cNvPr>
          <p:cNvSpPr txBox="1"/>
          <p:nvPr/>
        </p:nvSpPr>
        <p:spPr>
          <a:xfrm>
            <a:off x="935368" y="116433"/>
            <a:ext cx="4987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페루 남부 해발 약 </a:t>
            </a:r>
            <a:r>
              <a:rPr lang="en-US" altLang="ko-KR" sz="1100"/>
              <a:t>2,300m</a:t>
            </a:r>
            <a:r>
              <a:rPr lang="ko-KR" altLang="en-US" sz="1100"/>
              <a:t>에 위치한 곳으로 </a:t>
            </a:r>
            <a:r>
              <a:rPr lang="en-US" altLang="ko-KR" sz="1100"/>
              <a:t>‘</a:t>
            </a:r>
            <a:r>
              <a:rPr lang="ko-KR" altLang="en-US" sz="1100"/>
              <a:t>백색의 도시</a:t>
            </a:r>
            <a:r>
              <a:rPr lang="en-US" altLang="ko-KR" sz="1100"/>
              <a:t>‘</a:t>
            </a:r>
            <a:r>
              <a:rPr lang="ko-KR" altLang="en-US" sz="1100"/>
              <a:t>라는 이름처럼</a:t>
            </a:r>
            <a:endParaRPr lang="en-US" altLang="ko-KR" sz="1100"/>
          </a:p>
          <a:p>
            <a:pPr algn="ctr"/>
            <a:r>
              <a:rPr lang="ko-KR" altLang="en-US" sz="1100"/>
              <a:t>화산석인 시야르로 지어진 건물들이 도시 전체를 밝게 빛내는 곳입니다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식민도시이지만</a:t>
            </a:r>
            <a:r>
              <a:rPr lang="en-US" altLang="ko-KR" sz="1100"/>
              <a:t>, </a:t>
            </a:r>
            <a:r>
              <a:rPr lang="ko-KR" altLang="en-US" sz="1100"/>
              <a:t>안데스의 자연과 스페인 문화가 처음으로 만나는 지점으로</a:t>
            </a:r>
            <a:endParaRPr lang="en-US" altLang="ko-KR" sz="1100"/>
          </a:p>
          <a:p>
            <a:pPr algn="ctr"/>
            <a:r>
              <a:rPr lang="ko-KR" altLang="en-US" sz="1100"/>
              <a:t>웅장한 안데스 산맥으로 발걸음을 내딛기 전 마주하는 인간의 흔적입니다</a:t>
            </a:r>
            <a:r>
              <a:rPr lang="en-US" altLang="ko-KR" sz="11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88758-6649-F345-3E03-8E0453E8ADFA}"/>
              </a:ext>
            </a:extLst>
          </p:cNvPr>
          <p:cNvSpPr txBox="1"/>
          <p:nvPr/>
        </p:nvSpPr>
        <p:spPr>
          <a:xfrm>
            <a:off x="2765998" y="1219045"/>
            <a:ext cx="13260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잉카 문명의 심장</a:t>
            </a:r>
            <a:endParaRPr lang="en-US" altLang="ko-KR" sz="1200"/>
          </a:p>
          <a:p>
            <a:pPr algn="ctr"/>
            <a:r>
              <a:rPr lang="ko-KR" altLang="en-US" sz="1400" b="1"/>
              <a:t>쿠스코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FAAD66C-0D15-4A01-65C2-7BF110C30DBF}"/>
              </a:ext>
            </a:extLst>
          </p:cNvPr>
          <p:cNvCxnSpPr>
            <a:cxnSpLocks/>
          </p:cNvCxnSpPr>
          <p:nvPr/>
        </p:nvCxnSpPr>
        <p:spPr>
          <a:xfrm>
            <a:off x="2079959" y="1046537"/>
            <a:ext cx="27432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7DB0A9-52C1-A48A-64AE-FE7659C365A6}"/>
              </a:ext>
            </a:extLst>
          </p:cNvPr>
          <p:cNvSpPr txBox="1"/>
          <p:nvPr/>
        </p:nvSpPr>
        <p:spPr>
          <a:xfrm>
            <a:off x="1146968" y="2267646"/>
            <a:ext cx="4564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잉카 제국의 수도였던 곳으로 하나의 문명을 이루었던 고산 도시입니다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도시의 중심에는 태양신을 모시던 신전인 코리칸차를 볼 수 있으며</a:t>
            </a:r>
            <a:r>
              <a:rPr lang="en-US" altLang="ko-KR" sz="1100"/>
              <a:t>,</a:t>
            </a:r>
          </a:p>
          <a:p>
            <a:pPr algn="ctr"/>
            <a:r>
              <a:rPr lang="ko-KR" altLang="en-US" sz="1100"/>
              <a:t>계단식 농업</a:t>
            </a:r>
            <a:r>
              <a:rPr lang="en-US" altLang="ko-KR" sz="1100"/>
              <a:t>, </a:t>
            </a:r>
            <a:r>
              <a:rPr lang="ko-KR" altLang="en-US" sz="1100"/>
              <a:t>수로 시스템</a:t>
            </a:r>
            <a:r>
              <a:rPr lang="en-US" altLang="ko-KR" sz="1100"/>
              <a:t>, </a:t>
            </a:r>
            <a:r>
              <a:rPr lang="ko-KR" altLang="en-US" sz="1100"/>
              <a:t>태양 중심의 신앙까지</a:t>
            </a:r>
            <a:endParaRPr lang="en-US" altLang="ko-KR" sz="1100"/>
          </a:p>
          <a:p>
            <a:pPr algn="ctr"/>
            <a:r>
              <a:rPr lang="ko-KR" altLang="en-US" sz="1100"/>
              <a:t>극한 환경 속에서 살아남기 위한 인간의 지혜를 엿볼 수 있는 곳입니다</a:t>
            </a:r>
            <a:r>
              <a:rPr lang="en-US" altLang="ko-KR" sz="1100"/>
              <a:t>.</a:t>
            </a:r>
          </a:p>
        </p:txBody>
      </p:sp>
      <p:sp>
        <p:nvSpPr>
          <p:cNvPr id="11" name="순서도: 카드 10">
            <a:extLst>
              <a:ext uri="{FF2B5EF4-FFF2-40B4-BE49-F238E27FC236}">
                <a16:creationId xmlns:a16="http://schemas.microsoft.com/office/drawing/2014/main" id="{3F5AE36A-4742-A4A3-B10C-CEEDDFF06CB6}"/>
              </a:ext>
            </a:extLst>
          </p:cNvPr>
          <p:cNvSpPr/>
          <p:nvPr/>
        </p:nvSpPr>
        <p:spPr>
          <a:xfrm flipH="1">
            <a:off x="-1091" y="7647589"/>
            <a:ext cx="1134818" cy="379938"/>
          </a:xfrm>
          <a:prstGeom prst="flowChartPunchedCar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볼리비아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2DE3A95-6BFC-BCEE-CC42-D3044A765534}"/>
              </a:ext>
            </a:extLst>
          </p:cNvPr>
          <p:cNvSpPr/>
          <p:nvPr/>
        </p:nvSpPr>
        <p:spPr>
          <a:xfrm>
            <a:off x="475535" y="3254709"/>
            <a:ext cx="5952048" cy="14891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래픽 13" descr="표식 단색으로 채워진">
            <a:extLst>
              <a:ext uri="{FF2B5EF4-FFF2-40B4-BE49-F238E27FC236}">
                <a16:creationId xmlns:a16="http://schemas.microsoft.com/office/drawing/2014/main" id="{1A84378E-F310-47F8-292A-F1A3C632D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274" y="3347524"/>
            <a:ext cx="320040" cy="320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C5E916-AE54-E795-AC3A-561573D0E0C9}"/>
              </a:ext>
            </a:extLst>
          </p:cNvPr>
          <p:cNvSpPr txBox="1"/>
          <p:nvPr/>
        </p:nvSpPr>
        <p:spPr>
          <a:xfrm>
            <a:off x="935368" y="3336009"/>
            <a:ext cx="2089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잃어버린 공중도시 </a:t>
            </a:r>
            <a:r>
              <a:rPr lang="ko-KR" altLang="en-US" sz="1400" b="1"/>
              <a:t>마추픽추</a:t>
            </a:r>
            <a:endParaRPr lang="en-US" altLang="ko-KR" sz="11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5AEF17-29E5-C574-761C-20BBC6BEDAB3}"/>
              </a:ext>
            </a:extLst>
          </p:cNvPr>
          <p:cNvSpPr txBox="1"/>
          <p:nvPr/>
        </p:nvSpPr>
        <p:spPr>
          <a:xfrm>
            <a:off x="2721515" y="3680126"/>
            <a:ext cx="363112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죽기 전 꼭 가봐야 할 유적지로 유네스코세계문화유산 중</a:t>
            </a:r>
            <a:endParaRPr lang="en-US" altLang="ko-KR" sz="1100"/>
          </a:p>
          <a:p>
            <a:r>
              <a:rPr lang="ko-KR" altLang="en-US" sz="1100"/>
              <a:t>가장 신비롭고 독특한 곳으로 꼽힙니다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세계 </a:t>
            </a:r>
            <a:r>
              <a:rPr lang="en-US" altLang="ko-KR" sz="1100"/>
              <a:t>7</a:t>
            </a:r>
            <a:r>
              <a:rPr lang="ko-KR" altLang="en-US" sz="1100"/>
              <a:t>대 불가사의로 끝없이 펼쳐진 계단식 밭과 </a:t>
            </a:r>
            <a:endParaRPr lang="en-US" altLang="ko-KR" sz="1100"/>
          </a:p>
          <a:p>
            <a:r>
              <a:rPr lang="ko-KR" altLang="en-US" sz="1100"/>
              <a:t>아래로 물이 흐르도록 한 수로 등 고도로 발달한 </a:t>
            </a:r>
            <a:endParaRPr lang="en-US" altLang="ko-KR" sz="1100"/>
          </a:p>
          <a:p>
            <a:r>
              <a:rPr lang="ko-KR" altLang="en-US" sz="1100"/>
              <a:t>잉카의 건축기술을 확인할 수 있습니다</a:t>
            </a:r>
            <a:r>
              <a:rPr lang="en-US" altLang="ko-KR" sz="1100"/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16F27D-4C23-5989-E26F-A92AE310288C}"/>
              </a:ext>
            </a:extLst>
          </p:cNvPr>
          <p:cNvSpPr/>
          <p:nvPr/>
        </p:nvSpPr>
        <p:spPr>
          <a:xfrm>
            <a:off x="1184458" y="4015294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9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792807E-B9AC-1C14-0A37-5079B837EEF4}"/>
              </a:ext>
            </a:extLst>
          </p:cNvPr>
          <p:cNvSpPr/>
          <p:nvPr/>
        </p:nvSpPr>
        <p:spPr>
          <a:xfrm>
            <a:off x="2860759" y="5600170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10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EC8F0-7ABA-1DEC-5729-8618B3F33AEC}"/>
              </a:ext>
            </a:extLst>
          </p:cNvPr>
          <p:cNvSpPr txBox="1"/>
          <p:nvPr/>
        </p:nvSpPr>
        <p:spPr>
          <a:xfrm>
            <a:off x="2365246" y="5044262"/>
            <a:ext cx="212750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세상에서 가장 아름다운 도로</a:t>
            </a:r>
            <a:endParaRPr lang="en-US" altLang="ko-KR" sz="1200"/>
          </a:p>
          <a:p>
            <a:pPr algn="ctr"/>
            <a:r>
              <a:rPr lang="ko-KR" altLang="en-US" sz="1400" b="1"/>
              <a:t>태양의 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C4721B-3F8C-FE8A-9BD5-443D46035C86}"/>
              </a:ext>
            </a:extLst>
          </p:cNvPr>
          <p:cNvSpPr txBox="1"/>
          <p:nvPr/>
        </p:nvSpPr>
        <p:spPr>
          <a:xfrm>
            <a:off x="844807" y="6092863"/>
            <a:ext cx="5168402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볼리비아의 티티카카 호수의 태양의 섬을  중심으로</a:t>
            </a:r>
            <a:endParaRPr lang="en-US" altLang="ko-KR" sz="1100"/>
          </a:p>
          <a:p>
            <a:pPr algn="ctr"/>
            <a:r>
              <a:rPr lang="ko-KR" altLang="en-US" sz="1100"/>
              <a:t>쿠스코에서 푸노로 잇는 태양의 길은 잉카인들의 세계관이 담긴 문명의 축입니다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endParaRPr lang="en-US" altLang="ko-KR" sz="1100"/>
          </a:p>
          <a:p>
            <a:pPr algn="ctr"/>
            <a:r>
              <a:rPr lang="ko-KR" altLang="en-US" sz="1100"/>
              <a:t>잉카 창조신 비라코차를 모시던 거대한 신전인 라키유적과</a:t>
            </a:r>
            <a:endParaRPr lang="en-US" altLang="ko-KR" sz="1100"/>
          </a:p>
          <a:p>
            <a:pPr algn="ctr"/>
            <a:r>
              <a:rPr lang="ko-KR" altLang="en-US" sz="1100"/>
              <a:t>해발 </a:t>
            </a:r>
            <a:r>
              <a:rPr lang="en-US" altLang="ko-KR" sz="1100"/>
              <a:t>4,300m </a:t>
            </a:r>
            <a:r>
              <a:rPr lang="ko-KR" altLang="en-US" sz="1100"/>
              <a:t>라라야 패스를 지나며 고도에 따라 변화하는</a:t>
            </a:r>
            <a:endParaRPr lang="en-US" altLang="ko-KR" sz="1100"/>
          </a:p>
          <a:p>
            <a:pPr algn="ctr"/>
            <a:r>
              <a:rPr lang="ko-KR" altLang="en-US" sz="1100"/>
              <a:t>안데스의 웅장한 자연과 고산 생태계를 마주합니다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단순한 이동을 넘어 거대한 자연 속에서</a:t>
            </a:r>
            <a:r>
              <a:rPr lang="en-US" altLang="ko-KR" sz="1100"/>
              <a:t> </a:t>
            </a:r>
            <a:r>
              <a:rPr lang="ko-KR" altLang="en-US" sz="1100"/>
              <a:t>문명이 어떻게</a:t>
            </a:r>
            <a:endParaRPr lang="en-US" altLang="ko-KR" sz="1100"/>
          </a:p>
          <a:p>
            <a:pPr algn="ctr"/>
            <a:r>
              <a:rPr lang="ko-KR" altLang="en-US" sz="1100"/>
              <a:t>확장하고 자라 잡았는지 직접 마주할 수 있는 여정입니다</a:t>
            </a:r>
            <a:r>
              <a:rPr lang="en-US" altLang="ko-KR" sz="1100"/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886DB8-4EC9-84D6-0E0C-47B66A420E46}"/>
              </a:ext>
            </a:extLst>
          </p:cNvPr>
          <p:cNvSpPr/>
          <p:nvPr/>
        </p:nvSpPr>
        <p:spPr>
          <a:xfrm rot="839168">
            <a:off x="5273568" y="6952430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이미지</a:t>
            </a:r>
            <a:r>
              <a:rPr lang="en-US" altLang="ko-KR" sz="1100" b="1">
                <a:solidFill>
                  <a:schemeClr val="tx1"/>
                </a:solidFill>
              </a:rPr>
              <a:t>11</a:t>
            </a:r>
            <a:endParaRPr lang="ko-KR" altLang="en-US" sz="1100" b="1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5169D6-218F-23BA-9330-838D9D181535}"/>
              </a:ext>
            </a:extLst>
          </p:cNvPr>
          <p:cNvSpPr/>
          <p:nvPr/>
        </p:nvSpPr>
        <p:spPr>
          <a:xfrm>
            <a:off x="2860759" y="8337213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12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BD1F6E-03B2-933E-5121-C01F3CF0B914}"/>
              </a:ext>
            </a:extLst>
          </p:cNvPr>
          <p:cNvSpPr txBox="1"/>
          <p:nvPr/>
        </p:nvSpPr>
        <p:spPr>
          <a:xfrm>
            <a:off x="2519135" y="7781305"/>
            <a:ext cx="18197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세계에서 가장 높은 도시</a:t>
            </a:r>
            <a:endParaRPr lang="en-US" altLang="ko-KR" sz="1200"/>
          </a:p>
          <a:p>
            <a:pPr algn="ctr"/>
            <a:r>
              <a:rPr lang="ko-KR" altLang="en-US" sz="1400" b="1"/>
              <a:t>라파즈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9495861-9E0D-2F7F-551B-835C56D542DA}"/>
              </a:ext>
            </a:extLst>
          </p:cNvPr>
          <p:cNvCxnSpPr>
            <a:cxnSpLocks/>
          </p:cNvCxnSpPr>
          <p:nvPr/>
        </p:nvCxnSpPr>
        <p:spPr>
          <a:xfrm>
            <a:off x="2079959" y="4906601"/>
            <a:ext cx="27432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5832C4-138F-E7D7-545A-E9D9FD351251}"/>
              </a:ext>
            </a:extLst>
          </p:cNvPr>
          <p:cNvSpPr txBox="1"/>
          <p:nvPr/>
        </p:nvSpPr>
        <p:spPr>
          <a:xfrm>
            <a:off x="1296860" y="8859463"/>
            <a:ext cx="426430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해발 약 </a:t>
            </a:r>
            <a:r>
              <a:rPr lang="en-US" altLang="ko-KR" sz="1100"/>
              <a:t>3,600m, </a:t>
            </a:r>
            <a:r>
              <a:rPr lang="ko-KR" altLang="en-US" sz="1100"/>
              <a:t>세계에서 가장 높은 곳에 위치한 도시입니다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도시의 상징인 케이블카에서는 극한의 고도 속에서도</a:t>
            </a:r>
            <a:endParaRPr lang="en-US" altLang="ko-KR" sz="1100"/>
          </a:p>
          <a:p>
            <a:pPr algn="ctr"/>
            <a:r>
              <a:rPr lang="ko-KR" altLang="en-US" sz="1100"/>
              <a:t>자연스레 삶을 이어가는 독특한 풍광을 한눈에 조망할 수 있습니다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케추아와 아이마라 등 원주민 문화가 거리 곳곳에 깃들어 있어</a:t>
            </a:r>
            <a:r>
              <a:rPr lang="en-US" altLang="ko-KR" sz="1100"/>
              <a:t>,</a:t>
            </a:r>
          </a:p>
          <a:p>
            <a:pPr algn="ctr"/>
            <a:r>
              <a:rPr lang="ko-KR" altLang="en-US" sz="1100"/>
              <a:t>현재도 진행 중인 고산의 삶을 엿볼 수 있습니다</a:t>
            </a:r>
            <a:r>
              <a:rPr lang="en-US" altLang="ko-KR" sz="11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410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5B2F050-B103-04AD-57BC-1615A87F32FF}"/>
              </a:ext>
            </a:extLst>
          </p:cNvPr>
          <p:cNvSpPr/>
          <p:nvPr/>
        </p:nvSpPr>
        <p:spPr>
          <a:xfrm>
            <a:off x="0" y="0"/>
            <a:ext cx="6858000" cy="67273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D9BFD4-5E2D-8FA5-966C-25D3F399EA88}"/>
              </a:ext>
            </a:extLst>
          </p:cNvPr>
          <p:cNvSpPr/>
          <p:nvPr/>
        </p:nvSpPr>
        <p:spPr>
          <a:xfrm>
            <a:off x="2860766" y="771315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13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710EC-84E7-CB6C-3E5D-93E35222CF24}"/>
              </a:ext>
            </a:extLst>
          </p:cNvPr>
          <p:cNvSpPr txBox="1"/>
          <p:nvPr/>
        </p:nvSpPr>
        <p:spPr>
          <a:xfrm>
            <a:off x="2143235" y="215407"/>
            <a:ext cx="25715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지구에서 가장 독특한 자연 경관</a:t>
            </a:r>
            <a:endParaRPr lang="en-US" altLang="ko-KR" sz="1200"/>
          </a:p>
          <a:p>
            <a:pPr algn="ctr"/>
            <a:r>
              <a:rPr lang="ko-KR" altLang="en-US" sz="1400" b="1"/>
              <a:t>우유니 사막</a:t>
            </a:r>
            <a:r>
              <a:rPr lang="en-US" altLang="ko-KR" sz="1400" b="1"/>
              <a:t>&amp;</a:t>
            </a:r>
            <a:r>
              <a:rPr lang="ko-KR" altLang="en-US" sz="1400" b="1"/>
              <a:t>알티 플라노 고원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50D02-4256-E98E-0B25-6E1964AB8FEE}"/>
              </a:ext>
            </a:extLst>
          </p:cNvPr>
          <p:cNvSpPr txBox="1"/>
          <p:nvPr/>
        </p:nvSpPr>
        <p:spPr>
          <a:xfrm>
            <a:off x="723786" y="1264008"/>
            <a:ext cx="541045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안데스 산맥 중심부에 펼쳐진 알티플라노 고원은</a:t>
            </a:r>
            <a:endParaRPr lang="en-US" altLang="ko-KR" sz="1100"/>
          </a:p>
          <a:p>
            <a:pPr algn="ctr"/>
            <a:r>
              <a:rPr lang="ko-KR" altLang="en-US" sz="1100"/>
              <a:t>평균 해발 </a:t>
            </a:r>
            <a:r>
              <a:rPr lang="en-US" altLang="ko-KR" sz="1100"/>
              <a:t>3,500m~4,000m</a:t>
            </a:r>
            <a:r>
              <a:rPr lang="ko-KR" altLang="en-US" sz="1100"/>
              <a:t>에</a:t>
            </a:r>
            <a:r>
              <a:rPr lang="en-US" altLang="ko-KR" sz="1100"/>
              <a:t> </a:t>
            </a:r>
            <a:r>
              <a:rPr lang="ko-KR" altLang="en-US" sz="1100"/>
              <a:t>이르는 고선 평원으로</a:t>
            </a:r>
            <a:endParaRPr lang="en-US" altLang="ko-KR" sz="1100"/>
          </a:p>
          <a:p>
            <a:pPr algn="ctr"/>
            <a:r>
              <a:rPr lang="ko-KR" altLang="en-US" sz="1100"/>
              <a:t>지구에서 가장 독특한 자연 경관이 펼쳐지는 곳입니다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또한 그 중심에 위치한 우유니 사막은 세계 최대 소금 평원으로</a:t>
            </a:r>
            <a:endParaRPr lang="en-US" altLang="ko-KR" sz="1100"/>
          </a:p>
          <a:p>
            <a:pPr algn="ctr"/>
            <a:r>
              <a:rPr lang="ko-KR" altLang="en-US" sz="1100"/>
              <a:t>우기에는 하늘이 그대로 반사되어 하늘과 땅의 경계가 사라지는 장관을 만들어 냅니다</a:t>
            </a:r>
            <a:r>
              <a:rPr lang="en-US" altLang="ko-KR" sz="1100"/>
              <a:t>.</a:t>
            </a:r>
          </a:p>
        </p:txBody>
      </p:sp>
      <p:sp>
        <p:nvSpPr>
          <p:cNvPr id="13" name="순서도: 카드 12">
            <a:extLst>
              <a:ext uri="{FF2B5EF4-FFF2-40B4-BE49-F238E27FC236}">
                <a16:creationId xmlns:a16="http://schemas.microsoft.com/office/drawing/2014/main" id="{24AEC72F-E2DF-8129-7337-8E13F5398C72}"/>
              </a:ext>
            </a:extLst>
          </p:cNvPr>
          <p:cNvSpPr/>
          <p:nvPr/>
        </p:nvSpPr>
        <p:spPr>
          <a:xfrm flipH="1">
            <a:off x="0" y="2650160"/>
            <a:ext cx="1134818" cy="379938"/>
          </a:xfrm>
          <a:prstGeom prst="flowChartPunchedCar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페루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757AFF-D6A5-F4A2-7FC8-D719CDFF3F26}"/>
              </a:ext>
            </a:extLst>
          </p:cNvPr>
          <p:cNvSpPr/>
          <p:nvPr/>
        </p:nvSpPr>
        <p:spPr>
          <a:xfrm>
            <a:off x="2883311" y="3322543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14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9E5C0-0BF7-F78C-FA31-E089AAB4163F}"/>
              </a:ext>
            </a:extLst>
          </p:cNvPr>
          <p:cNvSpPr txBox="1"/>
          <p:nvPr/>
        </p:nvSpPr>
        <p:spPr>
          <a:xfrm>
            <a:off x="2294823" y="2766635"/>
            <a:ext cx="231345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지구에서 가장 건조한 신비의 땅</a:t>
            </a:r>
            <a:endParaRPr lang="en-US" altLang="ko-KR" sz="1200"/>
          </a:p>
          <a:p>
            <a:pPr algn="ctr"/>
            <a:r>
              <a:rPr lang="ko-KR" altLang="en-US" sz="1400" b="1"/>
              <a:t>아타카마 사막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2276C-58EE-E83E-A83B-1DA6E48F1C9B}"/>
              </a:ext>
            </a:extLst>
          </p:cNvPr>
          <p:cNvSpPr txBox="1"/>
          <p:nvPr/>
        </p:nvSpPr>
        <p:spPr>
          <a:xfrm>
            <a:off x="1418798" y="3683649"/>
            <a:ext cx="40655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칠레 북부에 자리한 아타카마 사막은 극도의 건조함이 만들어낸</a:t>
            </a:r>
            <a:endParaRPr lang="en-US" altLang="ko-KR" sz="1100"/>
          </a:p>
          <a:p>
            <a:pPr algn="ctr"/>
            <a:r>
              <a:rPr lang="ko-KR" altLang="en-US" sz="1100"/>
              <a:t>광활한 소금 사막과 간헐천이 어우러진 경이로운 대자연입니다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오랜 세월 침식으로 빚어진 기암괴석과 달의 계곡은</a:t>
            </a:r>
            <a:endParaRPr lang="en-US" altLang="ko-KR" sz="1100"/>
          </a:p>
          <a:p>
            <a:pPr algn="ctr"/>
            <a:r>
              <a:rPr lang="ko-KR" altLang="en-US" sz="1100"/>
              <a:t>외계 행성을 걷는 듯한 비현실적인 풍경을 선사합니다</a:t>
            </a:r>
            <a:r>
              <a:rPr lang="en-US" altLang="ko-KR" sz="1100"/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20CD3E-5706-1830-9DA5-4810BD5DF637}"/>
              </a:ext>
            </a:extLst>
          </p:cNvPr>
          <p:cNvSpPr/>
          <p:nvPr/>
        </p:nvSpPr>
        <p:spPr>
          <a:xfrm>
            <a:off x="2906525" y="5338668"/>
            <a:ext cx="1136468" cy="2845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이미지</a:t>
            </a:r>
            <a:r>
              <a:rPr lang="en-US" altLang="ko-KR" sz="1100">
                <a:solidFill>
                  <a:schemeClr val="tx1"/>
                </a:solidFill>
              </a:rPr>
              <a:t>15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339578-CC3D-1F92-8595-6A86F4E34819}"/>
              </a:ext>
            </a:extLst>
          </p:cNvPr>
          <p:cNvSpPr txBox="1"/>
          <p:nvPr/>
        </p:nvSpPr>
        <p:spPr>
          <a:xfrm>
            <a:off x="2411012" y="4782760"/>
            <a:ext cx="212750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과거와 현재가 교차하는 풍광</a:t>
            </a:r>
            <a:endParaRPr lang="en-US" altLang="ko-KR" sz="1200"/>
          </a:p>
          <a:p>
            <a:pPr algn="ctr"/>
            <a:r>
              <a:rPr lang="ko-KR" altLang="en-US" sz="1400" b="1"/>
              <a:t>산티아고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AB701D-5611-4168-8C4E-0AA0A081AF2E}"/>
              </a:ext>
            </a:extLst>
          </p:cNvPr>
          <p:cNvSpPr txBox="1"/>
          <p:nvPr/>
        </p:nvSpPr>
        <p:spPr>
          <a:xfrm>
            <a:off x="1709722" y="5709795"/>
            <a:ext cx="35301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안데스산맥의 만년설이 병풍처럼 감싸고 있는 곳으로</a:t>
            </a:r>
            <a:endParaRPr lang="en-US" altLang="ko-KR" sz="1100"/>
          </a:p>
          <a:p>
            <a:pPr algn="ctr"/>
            <a:r>
              <a:rPr lang="ko-KR" altLang="en-US" sz="1100"/>
              <a:t>대자연의 압도적인 풍광과 스페인 식민 시대의</a:t>
            </a:r>
            <a:endParaRPr lang="en-US" altLang="ko-KR" sz="1100"/>
          </a:p>
          <a:p>
            <a:pPr algn="ctr"/>
            <a:r>
              <a:rPr lang="ko-KR" altLang="en-US" sz="1100"/>
              <a:t>고풍스러운 건축물</a:t>
            </a:r>
            <a:r>
              <a:rPr lang="en-US" altLang="ko-KR" sz="1100"/>
              <a:t>, </a:t>
            </a:r>
            <a:r>
              <a:rPr lang="ko-KR" altLang="en-US" sz="1100"/>
              <a:t>세련된 고층 빌딩들이 어우러져</a:t>
            </a:r>
            <a:endParaRPr lang="en-US" altLang="ko-KR" sz="1100"/>
          </a:p>
          <a:p>
            <a:pPr algn="ctr"/>
            <a:r>
              <a:rPr lang="ko-KR" altLang="en-US" sz="1100"/>
              <a:t>과거와 현대가 교차하는 독특한 풍광을 볼 수 있습니다</a:t>
            </a:r>
            <a:r>
              <a:rPr lang="en-US" altLang="ko-KR" sz="1100"/>
              <a:t>.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DBD114D-3181-E2D5-8B64-3C46C2BA2E88}"/>
              </a:ext>
            </a:extLst>
          </p:cNvPr>
          <p:cNvCxnSpPr>
            <a:cxnSpLocks/>
          </p:cNvCxnSpPr>
          <p:nvPr/>
        </p:nvCxnSpPr>
        <p:spPr>
          <a:xfrm>
            <a:off x="2031274" y="4539627"/>
            <a:ext cx="27432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00A0E5-FFDD-5669-9B83-9494872916ED}"/>
              </a:ext>
            </a:extLst>
          </p:cNvPr>
          <p:cNvSpPr/>
          <p:nvPr/>
        </p:nvSpPr>
        <p:spPr>
          <a:xfrm>
            <a:off x="0" y="6727371"/>
            <a:ext cx="6858000" cy="31786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8B4DB6-66E0-C9C4-269D-6D244B30A295}"/>
              </a:ext>
            </a:extLst>
          </p:cNvPr>
          <p:cNvSpPr txBox="1"/>
          <p:nvPr/>
        </p:nvSpPr>
        <p:spPr>
          <a:xfrm>
            <a:off x="2564124" y="7071814"/>
            <a:ext cx="1810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/>
              <a:t>안데스 고원기행</a:t>
            </a:r>
            <a:endParaRPr lang="en-US" altLang="ko-KR" sz="1200"/>
          </a:p>
          <a:p>
            <a:pPr algn="ctr"/>
            <a:r>
              <a:rPr lang="ko-KR" altLang="en-US" sz="1600" b="1"/>
              <a:t>언제 가야 좋을까</a:t>
            </a:r>
            <a:r>
              <a:rPr lang="en-US" altLang="ko-KR" sz="1600" b="1"/>
              <a:t>?</a:t>
            </a:r>
            <a:endParaRPr lang="ko-KR" altLang="en-US" sz="16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5BEC72-D886-B865-B514-A34461368241}"/>
              </a:ext>
            </a:extLst>
          </p:cNvPr>
          <p:cNvSpPr txBox="1"/>
          <p:nvPr/>
        </p:nvSpPr>
        <p:spPr>
          <a:xfrm>
            <a:off x="1464682" y="714875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0FAE64-AB25-606D-9F69-5D8C95DD4907}"/>
              </a:ext>
            </a:extLst>
          </p:cNvPr>
          <p:cNvSpPr txBox="1"/>
          <p:nvPr/>
        </p:nvSpPr>
        <p:spPr>
          <a:xfrm>
            <a:off x="4850879" y="7137778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//////</a:t>
            </a:r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176C724-A135-C531-C9E9-EC3531EAC3C9}"/>
              </a:ext>
            </a:extLst>
          </p:cNvPr>
          <p:cNvSpPr/>
          <p:nvPr/>
        </p:nvSpPr>
        <p:spPr>
          <a:xfrm>
            <a:off x="1164243" y="7716878"/>
            <a:ext cx="4609874" cy="3872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/>
              <a:t>남미 여행하기 가장 좋은 기간</a:t>
            </a:r>
            <a:r>
              <a:rPr lang="en-US" altLang="ko-KR" sz="1400" b="1"/>
              <a:t>: 10</a:t>
            </a:r>
            <a:r>
              <a:rPr lang="ko-KR" altLang="en-US" sz="1400" b="1"/>
              <a:t>월</a:t>
            </a:r>
            <a:r>
              <a:rPr lang="en-US" altLang="ko-KR" sz="1400" b="1"/>
              <a:t>~4</a:t>
            </a:r>
            <a:r>
              <a:rPr lang="ko-KR" altLang="en-US" sz="1400" b="1"/>
              <a:t>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D62F7C-8BA9-803A-5840-94FB65C369FB}"/>
              </a:ext>
            </a:extLst>
          </p:cNvPr>
          <p:cNvSpPr txBox="1"/>
          <p:nvPr/>
        </p:nvSpPr>
        <p:spPr>
          <a:xfrm>
            <a:off x="764187" y="8257271"/>
            <a:ext cx="52774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/>
              <a:t>우리나라와 계절이 정반대인 남미의 </a:t>
            </a:r>
            <a:r>
              <a:rPr lang="en-US" altLang="ko-KR" sz="1100"/>
              <a:t>10</a:t>
            </a:r>
            <a:r>
              <a:rPr lang="ko-KR" altLang="en-US" sz="1100"/>
              <a:t>월</a:t>
            </a:r>
            <a:r>
              <a:rPr lang="en-US" altLang="ko-KR" sz="1100"/>
              <a:t>~4</a:t>
            </a:r>
            <a:r>
              <a:rPr lang="ko-KR" altLang="en-US" sz="1100"/>
              <a:t>월까지는 봄</a:t>
            </a:r>
            <a:r>
              <a:rPr lang="en-US" altLang="ko-KR" sz="1100"/>
              <a:t>~</a:t>
            </a:r>
            <a:r>
              <a:rPr lang="ko-KR" altLang="en-US" sz="1100"/>
              <a:t>여름에 해당ㅎ아는 시기로</a:t>
            </a:r>
            <a:endParaRPr lang="en-US" altLang="ko-KR" sz="1100"/>
          </a:p>
          <a:p>
            <a:pPr algn="ctr"/>
            <a:r>
              <a:rPr lang="ko-KR" altLang="en-US" sz="1100"/>
              <a:t>온화한 기후로 이어져 남미 여행하기 가장 좋은 시기입니다</a:t>
            </a:r>
            <a:r>
              <a:rPr lang="en-US" altLang="ko-KR" sz="1100"/>
              <a:t>.</a:t>
            </a:r>
          </a:p>
          <a:p>
            <a:pPr algn="ctr"/>
            <a:r>
              <a:rPr lang="ko-KR" altLang="en-US" sz="1100"/>
              <a:t>우유니 소금 사막은 우기로 건조했던 사막에 빗물이 고여 온 세상이 거울처럼</a:t>
            </a:r>
            <a:endParaRPr lang="en-US" altLang="ko-KR" sz="1100"/>
          </a:p>
          <a:p>
            <a:pPr algn="ctr"/>
            <a:r>
              <a:rPr lang="ko-KR" altLang="en-US" sz="1100"/>
              <a:t>반사되는 초현실적인 풍광을 볼 수 있습니다</a:t>
            </a:r>
            <a:r>
              <a:rPr lang="en-US" altLang="ko-KR" sz="1100"/>
              <a:t>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FEF61E9-D81E-E0F8-2135-54DA7A2E5800}"/>
              </a:ext>
            </a:extLst>
          </p:cNvPr>
          <p:cNvSpPr/>
          <p:nvPr/>
        </p:nvSpPr>
        <p:spPr>
          <a:xfrm>
            <a:off x="89893" y="7105229"/>
            <a:ext cx="1136468" cy="3427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배경이미지</a:t>
            </a:r>
          </a:p>
        </p:txBody>
      </p:sp>
    </p:spTree>
    <p:extLst>
      <p:ext uri="{BB962C8B-B14F-4D97-AF65-F5344CB8AC3E}">
        <p14:creationId xmlns:p14="http://schemas.microsoft.com/office/powerpoint/2010/main" val="71856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746</TotalTime>
  <Words>828</Words>
  <Application>Microsoft Office PowerPoint</Application>
  <PresentationFormat>A4 용지(210x297mm)</PresentationFormat>
  <Paragraphs>176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 혜초여행</dc:creator>
  <cp:lastModifiedBy>1 혜초여행</cp:lastModifiedBy>
  <cp:revision>36</cp:revision>
  <dcterms:created xsi:type="dcterms:W3CDTF">2026-04-28T02:16:46Z</dcterms:created>
  <dcterms:modified xsi:type="dcterms:W3CDTF">2026-04-30T00:56:33Z</dcterms:modified>
</cp:coreProperties>
</file>